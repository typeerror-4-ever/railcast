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792" y="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6/2/2026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83576877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6/2/2026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6/2/2026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6/2/2026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</a:t>
            </a:r>
            <a:r>
              <a:rPr lang="en-US" sz="4000" b="1" dirty="0" smtClean="0">
                <a:solidFill>
                  <a:schemeClr val="tx2"/>
                </a:solidFill>
                <a:latin typeface="Garamond" panose="02020404030301010803" pitchFamily="18" charset="0"/>
              </a:rPr>
              <a:t>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2076450"/>
            <a:ext cx="5924550" cy="47030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900"/>
              </a:spcAft>
            </a:pPr>
            <a:r>
              <a:rPr sz="1300" b="1">
                <a:latin typeface="Segoe UI"/>
              </a:rPr>
              <a:t>Problem Statement ID – </a:t>
            </a:r>
            <a:r>
              <a:rPr sz="1300">
                <a:latin typeface="Segoe UI"/>
              </a:rPr>
              <a:t>SIH26028</a:t>
            </a:r>
            <a:endParaRPr lang="en-US" dirty="0"/>
          </a:p>
          <a:p>
            <a:pPr>
              <a:spcAft>
                <a:spcPts val="900"/>
              </a:spcAft>
            </a:pPr>
            <a:r>
              <a:rPr sz="1300" b="1">
                <a:latin typeface="Segoe UI"/>
              </a:rPr>
              <a:t>Problem Statement Title – </a:t>
            </a:r>
            <a:r>
              <a:rPr sz="1300">
                <a:latin typeface="Segoe UI"/>
              </a:rPr>
              <a:t>Dynamic Forecast of Expected Time of Arrival (ETA) for Coaching Trains</a:t>
            </a:r>
          </a:p>
          <a:p>
            <a:pPr>
              <a:spcAft>
                <a:spcPts val="900"/>
              </a:spcAft>
            </a:pPr>
            <a:r>
              <a:rPr sz="1300" b="1">
                <a:latin typeface="Segoe UI"/>
              </a:rPr>
              <a:t>Theme – </a:t>
            </a:r>
            <a:r>
              <a:rPr sz="1300">
                <a:latin typeface="Segoe UI"/>
              </a:rPr>
              <a:t>Smart Automation</a:t>
            </a:r>
          </a:p>
          <a:p>
            <a:pPr>
              <a:spcAft>
                <a:spcPts val="900"/>
              </a:spcAft>
            </a:pPr>
            <a:r>
              <a:rPr sz="1300" b="1">
                <a:latin typeface="Segoe UI"/>
              </a:rPr>
              <a:t>PS Category – </a:t>
            </a:r>
            <a:r>
              <a:rPr sz="1300">
                <a:latin typeface="Segoe UI"/>
              </a:rPr>
              <a:t>Software</a:t>
            </a:r>
          </a:p>
          <a:p>
            <a:pPr>
              <a:spcAft>
                <a:spcPts val="900"/>
              </a:spcAft>
            </a:pPr>
            <a:r>
              <a:rPr sz="1300" b="1">
                <a:latin typeface="Segoe UI"/>
              </a:rPr>
              <a:t>Team ID – </a:t>
            </a:r>
            <a:r>
              <a:rPr sz="1300">
                <a:latin typeface="Segoe UI"/>
              </a:rPr>
              <a:t>[TEAM ID]</a:t>
            </a:r>
          </a:p>
          <a:p>
            <a:pPr>
              <a:spcAft>
                <a:spcPts val="900"/>
              </a:spcAft>
            </a:pPr>
            <a:r>
              <a:rPr sz="1300" b="1">
                <a:latin typeface="Segoe UI"/>
              </a:rPr>
              <a:t>Team Name (Registered on portal) – </a:t>
            </a:r>
            <a:r>
              <a:rPr sz="1300">
                <a:latin typeface="Segoe UI"/>
              </a:rPr>
              <a:t>[TEAM NAME]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r>
              <a:rPr sz="2600" b="1"/>
              <a:t>RAILCAST — an arrival window, not a single number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sz="1000" b="1"/>
              <a:t>[TEAM NAME]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5362" name="TextBox 15361"/>
          <p:cNvSpPr txBox="1"/>
          <p:nvPr/>
        </p:nvSpPr>
        <p:spPr>
          <a:xfrm>
            <a:off x="411480" y="1207008"/>
            <a:ext cx="3657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1">
                <a:solidFill>
                  <a:srgbClr val="B91C1C"/>
                </a:solidFill>
                <a:latin typeface="Consolas"/>
              </a:rPr>
              <a:t>THE PROBLEM</a:t>
            </a:r>
          </a:p>
        </p:txBody>
      </p:sp>
      <p:sp>
        <p:nvSpPr>
          <p:cNvPr id="15363" name="Rectangle 15362"/>
          <p:cNvSpPr/>
          <p:nvPr/>
        </p:nvSpPr>
        <p:spPr>
          <a:xfrm>
            <a:off x="411480" y="1481328"/>
            <a:ext cx="3246120" cy="585216"/>
          </a:xfrm>
          <a:prstGeom prst="rect">
            <a:avLst/>
          </a:prstGeom>
          <a:solidFill>
            <a:srgbClr val="FBF7F6"/>
          </a:solidFill>
          <a:ln w="10160">
            <a:solidFill>
              <a:srgbClr val="DD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364" name="Rectangle 15363"/>
          <p:cNvSpPr/>
          <p:nvPr/>
        </p:nvSpPr>
        <p:spPr>
          <a:xfrm>
            <a:off x="411480" y="1481328"/>
            <a:ext cx="27432" cy="585216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365" name="TextBox 15364"/>
          <p:cNvSpPr txBox="1"/>
          <p:nvPr/>
        </p:nvSpPr>
        <p:spPr>
          <a:xfrm>
            <a:off x="539496" y="1572768"/>
            <a:ext cx="299923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12161F"/>
                </a:solidFill>
                <a:latin typeface="Segoe UI"/>
              </a:rPr>
              <a:t>Today's ETA repeats the delay a train already has and trusts timetable padding.</a:t>
            </a:r>
          </a:p>
        </p:txBody>
      </p:sp>
      <p:sp>
        <p:nvSpPr>
          <p:cNvPr id="15366" name="Rectangle 15365"/>
          <p:cNvSpPr/>
          <p:nvPr/>
        </p:nvSpPr>
        <p:spPr>
          <a:xfrm>
            <a:off x="411480" y="2139696"/>
            <a:ext cx="3246120" cy="585216"/>
          </a:xfrm>
          <a:prstGeom prst="rect">
            <a:avLst/>
          </a:prstGeom>
          <a:solidFill>
            <a:srgbClr val="FBF7F6"/>
          </a:solidFill>
          <a:ln w="10160">
            <a:solidFill>
              <a:srgbClr val="DD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367" name="Rectangle 15366"/>
          <p:cNvSpPr/>
          <p:nvPr/>
        </p:nvSpPr>
        <p:spPr>
          <a:xfrm>
            <a:off x="411480" y="2139696"/>
            <a:ext cx="27432" cy="585216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368" name="TextBox 15367"/>
          <p:cNvSpPr txBox="1"/>
          <p:nvPr/>
        </p:nvSpPr>
        <p:spPr>
          <a:xfrm>
            <a:off x="539496" y="2231136"/>
            <a:ext cx="299923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12161F"/>
                </a:solidFill>
                <a:latin typeface="Segoe UI"/>
              </a:rPr>
              <a:t>It cannot see a conflict building ahead, so a held train surprises everyone behind it.</a:t>
            </a:r>
          </a:p>
        </p:txBody>
      </p:sp>
      <p:sp>
        <p:nvSpPr>
          <p:cNvPr id="15369" name="Rectangle 15368"/>
          <p:cNvSpPr/>
          <p:nvPr/>
        </p:nvSpPr>
        <p:spPr>
          <a:xfrm>
            <a:off x="411480" y="2798064"/>
            <a:ext cx="3246120" cy="585216"/>
          </a:xfrm>
          <a:prstGeom prst="rect">
            <a:avLst/>
          </a:prstGeom>
          <a:solidFill>
            <a:srgbClr val="FBF7F6"/>
          </a:solidFill>
          <a:ln w="10160">
            <a:solidFill>
              <a:srgbClr val="DD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370" name="Rectangle 15369"/>
          <p:cNvSpPr/>
          <p:nvPr/>
        </p:nvSpPr>
        <p:spPr>
          <a:xfrm>
            <a:off x="411480" y="2798064"/>
            <a:ext cx="27432" cy="585216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371" name="TextBox 15370"/>
          <p:cNvSpPr txBox="1"/>
          <p:nvPr/>
        </p:nvSpPr>
        <p:spPr>
          <a:xfrm>
            <a:off x="539496" y="2889504"/>
            <a:ext cx="299923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12161F"/>
                </a:solidFill>
                <a:latin typeface="Segoe UI"/>
              </a:rPr>
              <a:t>One number, no confidence — nobody knows when it is safe to act.</a:t>
            </a:r>
          </a:p>
        </p:txBody>
      </p:sp>
      <p:sp>
        <p:nvSpPr>
          <p:cNvPr id="15372" name="TextBox 15371"/>
          <p:cNvSpPr txBox="1"/>
          <p:nvPr/>
        </p:nvSpPr>
        <p:spPr>
          <a:xfrm>
            <a:off x="411480" y="3566160"/>
            <a:ext cx="3657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1">
                <a:solidFill>
                  <a:srgbClr val="B45309"/>
                </a:solidFill>
                <a:latin typeface="Consolas"/>
              </a:rPr>
              <a:t>HOW IT WORKS — ONE FORECAST</a:t>
            </a:r>
          </a:p>
        </p:txBody>
      </p:sp>
      <p:sp>
        <p:nvSpPr>
          <p:cNvPr id="15373" name="Rectangle 15372"/>
          <p:cNvSpPr/>
          <p:nvPr/>
        </p:nvSpPr>
        <p:spPr>
          <a:xfrm>
            <a:off x="411480" y="3858768"/>
            <a:ext cx="3246120" cy="530352"/>
          </a:xfrm>
          <a:prstGeom prst="rect">
            <a:avLst/>
          </a:prstGeom>
          <a:solidFill>
            <a:srgbClr val="FFFFFF"/>
          </a:solidFill>
          <a:ln w="10160">
            <a:solidFill>
              <a:srgbClr val="DD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374" name="Rectangle 15373"/>
          <p:cNvSpPr/>
          <p:nvPr/>
        </p:nvSpPr>
        <p:spPr>
          <a:xfrm>
            <a:off x="411480" y="3858768"/>
            <a:ext cx="274320" cy="530352"/>
          </a:xfrm>
          <a:prstGeom prst="rect">
            <a:avLst/>
          </a:prstGeom>
          <a:solidFill>
            <a:srgbClr val="FDF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375" name="TextBox 15374"/>
          <p:cNvSpPr txBox="1"/>
          <p:nvPr/>
        </p:nvSpPr>
        <p:spPr>
          <a:xfrm>
            <a:off x="493776" y="4014215"/>
            <a:ext cx="228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B45309"/>
                </a:solidFill>
                <a:latin typeface="Segoe UI"/>
              </a:rPr>
              <a:t>A</a:t>
            </a:r>
          </a:p>
        </p:txBody>
      </p:sp>
      <p:sp>
        <p:nvSpPr>
          <p:cNvPr id="15376" name="TextBox 15375"/>
          <p:cNvSpPr txBox="1"/>
          <p:nvPr/>
        </p:nvSpPr>
        <p:spPr>
          <a:xfrm>
            <a:off x="777240" y="3941063"/>
            <a:ext cx="2743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12161F"/>
                </a:solidFill>
                <a:latin typeface="Segoe UI"/>
              </a:rPr>
              <a:t>Free-run time</a:t>
            </a:r>
          </a:p>
        </p:txBody>
      </p:sp>
      <p:sp>
        <p:nvSpPr>
          <p:cNvPr id="15377" name="TextBox 15376"/>
          <p:cNvSpPr txBox="1"/>
          <p:nvPr/>
        </p:nvSpPr>
        <p:spPr>
          <a:xfrm>
            <a:off x="777240" y="4133087"/>
            <a:ext cx="2743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5B6472"/>
                </a:solidFill>
                <a:latin typeface="Segoe UI"/>
              </a:rPr>
              <a:t>physics of each section</a:t>
            </a:r>
          </a:p>
        </p:txBody>
      </p:sp>
      <p:sp>
        <p:nvSpPr>
          <p:cNvPr id="15378" name="Rectangle 15377"/>
          <p:cNvSpPr/>
          <p:nvPr/>
        </p:nvSpPr>
        <p:spPr>
          <a:xfrm>
            <a:off x="411480" y="4462272"/>
            <a:ext cx="3246120" cy="530352"/>
          </a:xfrm>
          <a:prstGeom prst="rect">
            <a:avLst/>
          </a:prstGeom>
          <a:solidFill>
            <a:srgbClr val="FFFFFF"/>
          </a:solidFill>
          <a:ln w="10160">
            <a:solidFill>
              <a:srgbClr val="DD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379" name="Rectangle 15378"/>
          <p:cNvSpPr/>
          <p:nvPr/>
        </p:nvSpPr>
        <p:spPr>
          <a:xfrm>
            <a:off x="411480" y="4462272"/>
            <a:ext cx="274320" cy="530352"/>
          </a:xfrm>
          <a:prstGeom prst="rect">
            <a:avLst/>
          </a:prstGeom>
          <a:solidFill>
            <a:srgbClr val="FDF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380" name="TextBox 15379"/>
          <p:cNvSpPr txBox="1"/>
          <p:nvPr/>
        </p:nvSpPr>
        <p:spPr>
          <a:xfrm>
            <a:off x="493776" y="4617720"/>
            <a:ext cx="228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B45309"/>
                </a:solidFill>
                <a:latin typeface="Segoe UI"/>
              </a:rPr>
              <a:t>B</a:t>
            </a:r>
          </a:p>
        </p:txBody>
      </p:sp>
      <p:sp>
        <p:nvSpPr>
          <p:cNvPr id="15381" name="TextBox 15380"/>
          <p:cNvSpPr txBox="1"/>
          <p:nvPr/>
        </p:nvSpPr>
        <p:spPr>
          <a:xfrm>
            <a:off x="777240" y="4544568"/>
            <a:ext cx="2743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12161F"/>
                </a:solidFill>
                <a:latin typeface="Segoe UI"/>
              </a:rPr>
              <a:t>Conflict simulation</a:t>
            </a:r>
          </a:p>
        </p:txBody>
      </p:sp>
      <p:sp>
        <p:nvSpPr>
          <p:cNvPr id="15382" name="TextBox 15381"/>
          <p:cNvSpPr txBox="1"/>
          <p:nvPr/>
        </p:nvSpPr>
        <p:spPr>
          <a:xfrm>
            <a:off x="777240" y="4736592"/>
            <a:ext cx="2743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5B6472"/>
                </a:solidFill>
                <a:latin typeface="Segoe UI"/>
              </a:rPr>
              <a:t>advance every train on the block graph</a:t>
            </a:r>
          </a:p>
        </p:txBody>
      </p:sp>
      <p:sp>
        <p:nvSpPr>
          <p:cNvPr id="15383" name="Rectangle 15382"/>
          <p:cNvSpPr/>
          <p:nvPr/>
        </p:nvSpPr>
        <p:spPr>
          <a:xfrm>
            <a:off x="411480" y="5065776"/>
            <a:ext cx="3246120" cy="530352"/>
          </a:xfrm>
          <a:prstGeom prst="rect">
            <a:avLst/>
          </a:prstGeom>
          <a:solidFill>
            <a:srgbClr val="FFFFFF"/>
          </a:solidFill>
          <a:ln w="10160">
            <a:solidFill>
              <a:srgbClr val="DD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384" name="Rectangle 15383"/>
          <p:cNvSpPr/>
          <p:nvPr/>
        </p:nvSpPr>
        <p:spPr>
          <a:xfrm>
            <a:off x="411480" y="5065776"/>
            <a:ext cx="274320" cy="530352"/>
          </a:xfrm>
          <a:prstGeom prst="rect">
            <a:avLst/>
          </a:prstGeom>
          <a:solidFill>
            <a:srgbClr val="FDF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385" name="TextBox 15384"/>
          <p:cNvSpPr txBox="1"/>
          <p:nvPr/>
        </p:nvSpPr>
        <p:spPr>
          <a:xfrm>
            <a:off x="493776" y="5221224"/>
            <a:ext cx="228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B45309"/>
                </a:solidFill>
                <a:latin typeface="Segoe UI"/>
              </a:rPr>
              <a:t>C</a:t>
            </a:r>
          </a:p>
        </p:txBody>
      </p:sp>
      <p:sp>
        <p:nvSpPr>
          <p:cNvPr id="15386" name="TextBox 15385"/>
          <p:cNvSpPr txBox="1"/>
          <p:nvPr/>
        </p:nvSpPr>
        <p:spPr>
          <a:xfrm>
            <a:off x="777240" y="5148072"/>
            <a:ext cx="2743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12161F"/>
                </a:solidFill>
                <a:latin typeface="Segoe UI"/>
              </a:rPr>
              <a:t>Learned residual</a:t>
            </a:r>
          </a:p>
        </p:txBody>
      </p:sp>
      <p:sp>
        <p:nvSpPr>
          <p:cNvPr id="15387" name="TextBox 15386"/>
          <p:cNvSpPr txBox="1"/>
          <p:nvPr/>
        </p:nvSpPr>
        <p:spPr>
          <a:xfrm>
            <a:off x="777240" y="5340096"/>
            <a:ext cx="2743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5B6472"/>
                </a:solidFill>
                <a:latin typeface="Segoe UI"/>
              </a:rPr>
              <a:t>corrects what the rules cannot</a:t>
            </a:r>
          </a:p>
        </p:txBody>
      </p:sp>
      <p:sp>
        <p:nvSpPr>
          <p:cNvPr id="15388" name="Rectangle 15387"/>
          <p:cNvSpPr/>
          <p:nvPr/>
        </p:nvSpPr>
        <p:spPr>
          <a:xfrm>
            <a:off x="411480" y="5669279"/>
            <a:ext cx="3246120" cy="530352"/>
          </a:xfrm>
          <a:prstGeom prst="rect">
            <a:avLst/>
          </a:prstGeom>
          <a:solidFill>
            <a:srgbClr val="FFFFFF"/>
          </a:solidFill>
          <a:ln w="10160">
            <a:solidFill>
              <a:srgbClr val="DD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389" name="Rectangle 15388"/>
          <p:cNvSpPr/>
          <p:nvPr/>
        </p:nvSpPr>
        <p:spPr>
          <a:xfrm>
            <a:off x="411480" y="5669279"/>
            <a:ext cx="274320" cy="530352"/>
          </a:xfrm>
          <a:prstGeom prst="rect">
            <a:avLst/>
          </a:prstGeom>
          <a:solidFill>
            <a:srgbClr val="FDF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390" name="TextBox 15389"/>
          <p:cNvSpPr txBox="1"/>
          <p:nvPr/>
        </p:nvSpPr>
        <p:spPr>
          <a:xfrm>
            <a:off x="493776" y="5824727"/>
            <a:ext cx="228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B45309"/>
                </a:solidFill>
                <a:latin typeface="Segoe UI"/>
              </a:rPr>
              <a:t>D</a:t>
            </a:r>
          </a:p>
        </p:txBody>
      </p:sp>
      <p:sp>
        <p:nvSpPr>
          <p:cNvPr id="15391" name="TextBox 15390"/>
          <p:cNvSpPr txBox="1"/>
          <p:nvPr/>
        </p:nvSpPr>
        <p:spPr>
          <a:xfrm>
            <a:off x="777240" y="5751575"/>
            <a:ext cx="2743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12161F"/>
                </a:solidFill>
                <a:latin typeface="Segoe UI"/>
              </a:rPr>
              <a:t>Calibrated window</a:t>
            </a:r>
          </a:p>
        </p:txBody>
      </p:sp>
      <p:sp>
        <p:nvSpPr>
          <p:cNvPr id="15392" name="TextBox 15391"/>
          <p:cNvSpPr txBox="1"/>
          <p:nvPr/>
        </p:nvSpPr>
        <p:spPr>
          <a:xfrm>
            <a:off x="777240" y="5943599"/>
            <a:ext cx="2743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5B6472"/>
                </a:solidFill>
                <a:latin typeface="Segoe UI"/>
              </a:rPr>
              <a:t>audited 80% coverage</a:t>
            </a:r>
          </a:p>
        </p:txBody>
      </p:sp>
      <p:sp>
        <p:nvSpPr>
          <p:cNvPr id="15393" name="TextBox 15392"/>
          <p:cNvSpPr txBox="1"/>
          <p:nvPr/>
        </p:nvSpPr>
        <p:spPr>
          <a:xfrm>
            <a:off x="3950208" y="1207008"/>
            <a:ext cx="3657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1">
                <a:solidFill>
                  <a:srgbClr val="B45309"/>
                </a:solidFill>
                <a:latin typeface="Consolas"/>
              </a:rPr>
              <a:t>THE DECISION THE SIMULATOR RESOLVES</a:t>
            </a:r>
          </a:p>
        </p:txBody>
      </p:sp>
      <p:sp>
        <p:nvSpPr>
          <p:cNvPr id="15394" name="Parallelogram 15393"/>
          <p:cNvSpPr/>
          <p:nvPr/>
        </p:nvSpPr>
        <p:spPr>
          <a:xfrm>
            <a:off x="3950208" y="1481328"/>
            <a:ext cx="3474720" cy="420624"/>
          </a:xfrm>
          <a:prstGeom prst="parallelogram">
            <a:avLst/>
          </a:prstGeom>
          <a:solidFill>
            <a:srgbClr val="EFF5F4"/>
          </a:solidFill>
          <a:ln w="15875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>
              <a:lnSpc>
                <a:spcPct val="95000"/>
              </a:lnSpc>
            </a:pPr>
            <a:r>
              <a:rPr sz="1150" b="1">
                <a:solidFill>
                  <a:srgbClr val="12161F"/>
                </a:solidFill>
                <a:latin typeface="Segoe UI"/>
              </a:rPr>
              <a:t>LIVE STATE</a:t>
            </a:r>
          </a:p>
          <a:p>
            <a:pPr algn="ctr">
              <a:lnSpc>
                <a:spcPct val="95000"/>
              </a:lnSpc>
            </a:pPr>
            <a:r>
              <a:rPr sz="900">
                <a:solidFill>
                  <a:srgbClr val="5B6472"/>
                </a:solidFill>
                <a:latin typeface="Segoe UI"/>
              </a:rPr>
              <a:t>position, delay, block occupancy</a:t>
            </a:r>
          </a:p>
        </p:txBody>
      </p:sp>
      <p:cxnSp>
        <p:nvCxnSpPr>
          <p:cNvPr id="15395" name="Connector 15394"/>
          <p:cNvCxnSpPr/>
          <p:nvPr/>
        </p:nvCxnSpPr>
        <p:spPr>
          <a:xfrm>
            <a:off x="5687568" y="1901952"/>
            <a:ext cx="0" cy="182880"/>
          </a:xfrm>
          <a:prstGeom prst="line">
            <a:avLst/>
          </a:prstGeom>
          <a:ln w="13970">
            <a:solidFill>
              <a:srgbClr val="8A94A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396" name="Diamond 15395"/>
          <p:cNvSpPr/>
          <p:nvPr/>
        </p:nvSpPr>
        <p:spPr>
          <a:xfrm>
            <a:off x="4315968" y="2084832"/>
            <a:ext cx="2743200" cy="822960"/>
          </a:xfrm>
          <a:prstGeom prst="diamond">
            <a:avLst/>
          </a:prstGeom>
          <a:solidFill>
            <a:srgbClr val="FDF6EC"/>
          </a:solidFill>
          <a:ln w="15875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>
              <a:lnSpc>
                <a:spcPct val="95000"/>
              </a:lnSpc>
            </a:pPr>
            <a:r>
              <a:rPr sz="1050" b="1">
                <a:solidFill>
                  <a:srgbClr val="12161F"/>
                </a:solidFill>
                <a:latin typeface="Segoe UI"/>
              </a:rPr>
              <a:t>Block section ahead occupied?</a:t>
            </a:r>
          </a:p>
        </p:txBody>
      </p:sp>
      <p:sp>
        <p:nvSpPr>
          <p:cNvPr id="15397" name="TextBox 15396"/>
          <p:cNvSpPr txBox="1"/>
          <p:nvPr/>
        </p:nvSpPr>
        <p:spPr>
          <a:xfrm>
            <a:off x="5724144" y="2926080"/>
            <a:ext cx="3657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1">
                <a:solidFill>
                  <a:srgbClr val="B45309"/>
                </a:solidFill>
                <a:latin typeface="Segoe UI"/>
              </a:rPr>
              <a:t>yes</a:t>
            </a:r>
          </a:p>
        </p:txBody>
      </p:sp>
      <p:cxnSp>
        <p:nvCxnSpPr>
          <p:cNvPr id="15398" name="Connector 15397"/>
          <p:cNvCxnSpPr/>
          <p:nvPr/>
        </p:nvCxnSpPr>
        <p:spPr>
          <a:xfrm>
            <a:off x="5687568" y="2907792"/>
            <a:ext cx="0" cy="182880"/>
          </a:xfrm>
          <a:prstGeom prst="line">
            <a:avLst/>
          </a:prstGeom>
          <a:ln w="13970">
            <a:solidFill>
              <a:srgbClr val="8A94A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399" name="Diamond 15398"/>
          <p:cNvSpPr/>
          <p:nvPr/>
        </p:nvSpPr>
        <p:spPr>
          <a:xfrm>
            <a:off x="4315968" y="3090672"/>
            <a:ext cx="2743200" cy="822960"/>
          </a:xfrm>
          <a:prstGeom prst="diamond">
            <a:avLst/>
          </a:prstGeom>
          <a:solidFill>
            <a:srgbClr val="FDF6EC"/>
          </a:solidFill>
          <a:ln w="15875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>
              <a:lnSpc>
                <a:spcPct val="95000"/>
              </a:lnSpc>
            </a:pPr>
            <a:r>
              <a:rPr sz="1050" b="1">
                <a:solidFill>
                  <a:srgbClr val="12161F"/>
                </a:solidFill>
                <a:latin typeface="Segoe UI"/>
              </a:rPr>
              <a:t>Higher-priority train behind?</a:t>
            </a:r>
          </a:p>
        </p:txBody>
      </p:sp>
      <p:sp>
        <p:nvSpPr>
          <p:cNvPr id="15400" name="Rectangle 15399"/>
          <p:cNvSpPr/>
          <p:nvPr/>
        </p:nvSpPr>
        <p:spPr>
          <a:xfrm>
            <a:off x="3950208" y="4096512"/>
            <a:ext cx="1627632" cy="457200"/>
          </a:xfrm>
          <a:prstGeom prst="rect">
            <a:avLst/>
          </a:prstGeom>
          <a:solidFill>
            <a:srgbClr val="FFFFFF"/>
          </a:solidFill>
          <a:ln w="15875">
            <a:solidFill>
              <a:srgbClr val="1216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>
              <a:lnSpc>
                <a:spcPct val="95000"/>
              </a:lnSpc>
            </a:pPr>
            <a:r>
              <a:rPr sz="950" b="1">
                <a:solidFill>
                  <a:srgbClr val="12161F"/>
                </a:solidFill>
                <a:latin typeface="Segoe UI"/>
              </a:rPr>
              <a:t>Loop the slower train</a:t>
            </a:r>
          </a:p>
        </p:txBody>
      </p:sp>
      <p:sp>
        <p:nvSpPr>
          <p:cNvPr id="15401" name="Rectangle 15400"/>
          <p:cNvSpPr/>
          <p:nvPr/>
        </p:nvSpPr>
        <p:spPr>
          <a:xfrm>
            <a:off x="5797296" y="4096512"/>
            <a:ext cx="1627632" cy="457200"/>
          </a:xfrm>
          <a:prstGeom prst="rect">
            <a:avLst/>
          </a:prstGeom>
          <a:solidFill>
            <a:srgbClr val="FFFFFF"/>
          </a:solidFill>
          <a:ln w="15875">
            <a:solidFill>
              <a:srgbClr val="1216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>
              <a:lnSpc>
                <a:spcPct val="95000"/>
              </a:lnSpc>
            </a:pPr>
            <a:r>
              <a:rPr sz="950" b="1">
                <a:solidFill>
                  <a:srgbClr val="12161F"/>
                </a:solidFill>
                <a:latin typeface="Segoe UI"/>
              </a:rPr>
              <a:t>Queue behind block</a:t>
            </a:r>
          </a:p>
        </p:txBody>
      </p:sp>
      <p:cxnSp>
        <p:nvCxnSpPr>
          <p:cNvPr id="15402" name="Connector 15401"/>
          <p:cNvCxnSpPr/>
          <p:nvPr/>
        </p:nvCxnSpPr>
        <p:spPr>
          <a:xfrm flipH="1">
            <a:off x="4114800" y="3502152"/>
            <a:ext cx="201168" cy="0"/>
          </a:xfrm>
          <a:prstGeom prst="line">
            <a:avLst/>
          </a:prstGeom>
          <a:ln w="13970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403" name="Connector 15402"/>
          <p:cNvCxnSpPr/>
          <p:nvPr/>
        </p:nvCxnSpPr>
        <p:spPr>
          <a:xfrm>
            <a:off x="4114800" y="3502152"/>
            <a:ext cx="0" cy="576072"/>
          </a:xfrm>
          <a:prstGeom prst="line">
            <a:avLst/>
          </a:prstGeom>
          <a:ln w="13970">
            <a:solidFill>
              <a:srgbClr val="8A94A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404" name="Connector 15403"/>
          <p:cNvCxnSpPr/>
          <p:nvPr/>
        </p:nvCxnSpPr>
        <p:spPr>
          <a:xfrm>
            <a:off x="7059168" y="3502152"/>
            <a:ext cx="201168" cy="0"/>
          </a:xfrm>
          <a:prstGeom prst="line">
            <a:avLst/>
          </a:prstGeom>
          <a:ln w="13970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405" name="Connector 15404"/>
          <p:cNvCxnSpPr/>
          <p:nvPr/>
        </p:nvCxnSpPr>
        <p:spPr>
          <a:xfrm>
            <a:off x="7260336" y="3502152"/>
            <a:ext cx="0" cy="576072"/>
          </a:xfrm>
          <a:prstGeom prst="line">
            <a:avLst/>
          </a:prstGeom>
          <a:ln w="13970">
            <a:solidFill>
              <a:srgbClr val="8A94A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406" name="TextBox 15405"/>
          <p:cNvSpPr txBox="1"/>
          <p:nvPr/>
        </p:nvSpPr>
        <p:spPr>
          <a:xfrm>
            <a:off x="4169663" y="3319272"/>
            <a:ext cx="3657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1">
                <a:solidFill>
                  <a:srgbClr val="B45309"/>
                </a:solidFill>
                <a:latin typeface="Segoe UI"/>
              </a:rPr>
              <a:t>yes</a:t>
            </a:r>
          </a:p>
        </p:txBody>
      </p:sp>
      <p:sp>
        <p:nvSpPr>
          <p:cNvPr id="15407" name="TextBox 15406"/>
          <p:cNvSpPr txBox="1"/>
          <p:nvPr/>
        </p:nvSpPr>
        <p:spPr>
          <a:xfrm>
            <a:off x="6949440" y="3319272"/>
            <a:ext cx="3657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1">
                <a:solidFill>
                  <a:srgbClr val="5B6472"/>
                </a:solidFill>
                <a:latin typeface="Segoe UI"/>
              </a:rPr>
              <a:t>no</a:t>
            </a:r>
          </a:p>
        </p:txBody>
      </p:sp>
      <p:cxnSp>
        <p:nvCxnSpPr>
          <p:cNvPr id="15408" name="Connector 15407"/>
          <p:cNvCxnSpPr/>
          <p:nvPr/>
        </p:nvCxnSpPr>
        <p:spPr>
          <a:xfrm>
            <a:off x="4764024" y="4553712"/>
            <a:ext cx="0" cy="146304"/>
          </a:xfrm>
          <a:prstGeom prst="line">
            <a:avLst/>
          </a:prstGeom>
          <a:ln w="13970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409" name="Connector 15408"/>
          <p:cNvCxnSpPr/>
          <p:nvPr/>
        </p:nvCxnSpPr>
        <p:spPr>
          <a:xfrm>
            <a:off x="4764024" y="4700016"/>
            <a:ext cx="923544" cy="0"/>
          </a:xfrm>
          <a:prstGeom prst="line">
            <a:avLst/>
          </a:prstGeom>
          <a:ln w="13970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410" name="Connector 15409"/>
          <p:cNvCxnSpPr/>
          <p:nvPr/>
        </p:nvCxnSpPr>
        <p:spPr>
          <a:xfrm>
            <a:off x="6611112" y="4553712"/>
            <a:ext cx="0" cy="146304"/>
          </a:xfrm>
          <a:prstGeom prst="line">
            <a:avLst/>
          </a:prstGeom>
          <a:ln w="13970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411" name="Connector 15410"/>
          <p:cNvCxnSpPr/>
          <p:nvPr/>
        </p:nvCxnSpPr>
        <p:spPr>
          <a:xfrm flipH="1">
            <a:off x="5687568" y="4700016"/>
            <a:ext cx="923544" cy="0"/>
          </a:xfrm>
          <a:prstGeom prst="line">
            <a:avLst/>
          </a:prstGeom>
          <a:ln w="13970">
            <a:solidFill>
              <a:srgbClr val="8A94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412" name="Connector 15411"/>
          <p:cNvCxnSpPr/>
          <p:nvPr/>
        </p:nvCxnSpPr>
        <p:spPr>
          <a:xfrm>
            <a:off x="5687568" y="4700016"/>
            <a:ext cx="0" cy="146304"/>
          </a:xfrm>
          <a:prstGeom prst="line">
            <a:avLst/>
          </a:prstGeom>
          <a:ln w="13970">
            <a:solidFill>
              <a:srgbClr val="8A94A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413" name="Rounded Rectangle 15412"/>
          <p:cNvSpPr/>
          <p:nvPr/>
        </p:nvSpPr>
        <p:spPr>
          <a:xfrm>
            <a:off x="4133088" y="4846320"/>
            <a:ext cx="3108960" cy="475488"/>
          </a:xfrm>
          <a:prstGeom prst="roundRect">
            <a:avLst>
              <a:gd name="adj" fmla="val 50000"/>
            </a:avLst>
          </a:prstGeom>
          <a:solidFill>
            <a:srgbClr val="EFF5F4"/>
          </a:solidFill>
          <a:ln w="15875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>
              <a:lnSpc>
                <a:spcPct val="95000"/>
              </a:lnSpc>
            </a:pPr>
            <a:r>
              <a:rPr sz="1050" b="1">
                <a:solidFill>
                  <a:srgbClr val="0F766E"/>
                </a:solidFill>
                <a:latin typeface="Segoe UI"/>
              </a:rPr>
              <a:t>ARRIVAL WINDOW</a:t>
            </a:r>
          </a:p>
          <a:p>
            <a:pPr algn="ctr">
              <a:lnSpc>
                <a:spcPct val="95000"/>
              </a:lnSpc>
            </a:pPr>
            <a:r>
              <a:rPr sz="800">
                <a:solidFill>
                  <a:srgbClr val="5B6472"/>
                </a:solidFill>
                <a:latin typeface="Segoe UI"/>
              </a:rPr>
              <a:t>+ the train that caused the hold</a:t>
            </a:r>
          </a:p>
        </p:txBody>
      </p:sp>
      <p:cxnSp>
        <p:nvCxnSpPr>
          <p:cNvPr id="15414" name="Connector 15413"/>
          <p:cNvCxnSpPr/>
          <p:nvPr/>
        </p:nvCxnSpPr>
        <p:spPr>
          <a:xfrm>
            <a:off x="7242048" y="5084064"/>
            <a:ext cx="292608" cy="0"/>
          </a:xfrm>
          <a:prstGeom prst="line">
            <a:avLst/>
          </a:prstGeom>
          <a:ln w="13970">
            <a:solidFill>
              <a:srgbClr val="B45309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415" name="Connector 15414"/>
          <p:cNvCxnSpPr/>
          <p:nvPr/>
        </p:nvCxnSpPr>
        <p:spPr>
          <a:xfrm flipV="1">
            <a:off x="7534656" y="1691640"/>
            <a:ext cx="0" cy="3392424"/>
          </a:xfrm>
          <a:prstGeom prst="line">
            <a:avLst/>
          </a:prstGeom>
          <a:ln w="13970">
            <a:solidFill>
              <a:srgbClr val="B45309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416" name="Connector 15415"/>
          <p:cNvCxnSpPr/>
          <p:nvPr/>
        </p:nvCxnSpPr>
        <p:spPr>
          <a:xfrm flipH="1">
            <a:off x="7424928" y="1691640"/>
            <a:ext cx="109728" cy="0"/>
          </a:xfrm>
          <a:prstGeom prst="line">
            <a:avLst/>
          </a:prstGeom>
          <a:ln w="13970">
            <a:solidFill>
              <a:srgbClr val="B45309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417" name="TextBox 15416"/>
          <p:cNvSpPr txBox="1"/>
          <p:nvPr/>
        </p:nvSpPr>
        <p:spPr>
          <a:xfrm>
            <a:off x="4133088" y="5413248"/>
            <a:ext cx="34747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50" b="0">
                <a:solidFill>
                  <a:srgbClr val="B45309"/>
                </a:solidFill>
                <a:latin typeface="Segoe UI"/>
              </a:rPr>
              <a:t>every actual arrival re-forecasts the rest of the run</a:t>
            </a:r>
          </a:p>
        </p:txBody>
      </p:sp>
      <p:sp>
        <p:nvSpPr>
          <p:cNvPr id="15418" name="TextBox 15417"/>
          <p:cNvSpPr txBox="1"/>
          <p:nvPr/>
        </p:nvSpPr>
        <p:spPr>
          <a:xfrm>
            <a:off x="7735824" y="1207008"/>
            <a:ext cx="3657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1">
                <a:solidFill>
                  <a:srgbClr val="0F766E"/>
                </a:solidFill>
                <a:latin typeface="Consolas"/>
              </a:rPr>
              <a:t>WHAT MAKES IT DIFFERENT</a:t>
            </a:r>
          </a:p>
        </p:txBody>
      </p:sp>
      <p:sp>
        <p:nvSpPr>
          <p:cNvPr id="15419" name="Rectangle 15418"/>
          <p:cNvSpPr/>
          <p:nvPr/>
        </p:nvSpPr>
        <p:spPr>
          <a:xfrm>
            <a:off x="7735824" y="1481328"/>
            <a:ext cx="4041648" cy="1024128"/>
          </a:xfrm>
          <a:prstGeom prst="rect">
            <a:avLst/>
          </a:prstGeom>
          <a:solidFill>
            <a:srgbClr val="EFF5F4"/>
          </a:solidFill>
          <a:ln w="11430">
            <a:solidFill>
              <a:srgbClr val="DD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420" name="Rectangle 15419"/>
          <p:cNvSpPr/>
          <p:nvPr/>
        </p:nvSpPr>
        <p:spPr>
          <a:xfrm>
            <a:off x="7735824" y="1481328"/>
            <a:ext cx="32004" cy="1024128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421" name="TextBox 15420"/>
          <p:cNvSpPr txBox="1"/>
          <p:nvPr/>
        </p:nvSpPr>
        <p:spPr>
          <a:xfrm>
            <a:off x="7863840" y="1591056"/>
            <a:ext cx="378561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12161F"/>
                </a:solidFill>
                <a:latin typeface="Segoe UI"/>
              </a:rPr>
              <a:t>Forecasts the cause, not the clock</a:t>
            </a:r>
          </a:p>
        </p:txBody>
      </p:sp>
      <p:sp>
        <p:nvSpPr>
          <p:cNvPr id="15422" name="TextBox 15421"/>
          <p:cNvSpPr txBox="1"/>
          <p:nvPr/>
        </p:nvSpPr>
        <p:spPr>
          <a:xfrm>
            <a:off x="7863840" y="1847088"/>
            <a:ext cx="378561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19" b="0">
                <a:solidFill>
                  <a:srgbClr val="5B6472"/>
                </a:solidFill>
                <a:latin typeface="Segoe UI"/>
              </a:rPr>
              <a:t>Trains advanced over the real block-section graph until they conflict — so the ETA moves for a reason we can name.</a:t>
            </a:r>
          </a:p>
        </p:txBody>
      </p:sp>
      <p:sp>
        <p:nvSpPr>
          <p:cNvPr id="15423" name="Rectangle 15422"/>
          <p:cNvSpPr/>
          <p:nvPr/>
        </p:nvSpPr>
        <p:spPr>
          <a:xfrm>
            <a:off x="7735824" y="2633472"/>
            <a:ext cx="4041648" cy="1024128"/>
          </a:xfrm>
          <a:prstGeom prst="rect">
            <a:avLst/>
          </a:prstGeom>
          <a:solidFill>
            <a:srgbClr val="EFF5F4"/>
          </a:solidFill>
          <a:ln w="11430">
            <a:solidFill>
              <a:srgbClr val="DD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424" name="Rectangle 15423"/>
          <p:cNvSpPr/>
          <p:nvPr/>
        </p:nvSpPr>
        <p:spPr>
          <a:xfrm>
            <a:off x="7735824" y="2633472"/>
            <a:ext cx="32004" cy="1024128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425" name="TextBox 15424"/>
          <p:cNvSpPr txBox="1"/>
          <p:nvPr/>
        </p:nvSpPr>
        <p:spPr>
          <a:xfrm>
            <a:off x="7863840" y="2743200"/>
            <a:ext cx="378561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12161F"/>
                </a:solidFill>
                <a:latin typeface="Segoe UI"/>
              </a:rPr>
              <a:t>States how sure it is, and audits it</a:t>
            </a:r>
          </a:p>
        </p:txBody>
      </p:sp>
      <p:sp>
        <p:nvSpPr>
          <p:cNvPr id="15426" name="TextBox 15425"/>
          <p:cNvSpPr txBox="1"/>
          <p:nvPr/>
        </p:nvSpPr>
        <p:spPr>
          <a:xfrm>
            <a:off x="7863840" y="2999232"/>
            <a:ext cx="378561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19" b="0">
                <a:solidFill>
                  <a:srgbClr val="5B6472"/>
                </a:solidFill>
                <a:latin typeface="Segoe UI"/>
              </a:rPr>
              <a:t>80% window, coverage checked per segment, horizon and time of day — not pooled once and asserted.</a:t>
            </a:r>
          </a:p>
        </p:txBody>
      </p:sp>
      <p:sp>
        <p:nvSpPr>
          <p:cNvPr id="15427" name="Rectangle 15426"/>
          <p:cNvSpPr/>
          <p:nvPr/>
        </p:nvSpPr>
        <p:spPr>
          <a:xfrm>
            <a:off x="7735824" y="3785616"/>
            <a:ext cx="4041648" cy="1024128"/>
          </a:xfrm>
          <a:prstGeom prst="rect">
            <a:avLst/>
          </a:prstGeom>
          <a:solidFill>
            <a:srgbClr val="EFF5F4"/>
          </a:solidFill>
          <a:ln w="11430">
            <a:solidFill>
              <a:srgbClr val="DD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428" name="Rectangle 15427"/>
          <p:cNvSpPr/>
          <p:nvPr/>
        </p:nvSpPr>
        <p:spPr>
          <a:xfrm>
            <a:off x="7735824" y="3785616"/>
            <a:ext cx="32004" cy="1024128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429" name="TextBox 15428"/>
          <p:cNvSpPr txBox="1"/>
          <p:nvPr/>
        </p:nvSpPr>
        <p:spPr>
          <a:xfrm>
            <a:off x="7863840" y="3895344"/>
            <a:ext cx="378561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12161F"/>
                </a:solidFill>
                <a:latin typeface="Segoe UI"/>
              </a:rPr>
              <a:t>Names the blocking train</a:t>
            </a:r>
          </a:p>
        </p:txBody>
      </p:sp>
      <p:sp>
        <p:nvSpPr>
          <p:cNvPr id="15430" name="TextBox 15429"/>
          <p:cNvSpPr txBox="1"/>
          <p:nvPr/>
        </p:nvSpPr>
        <p:spPr>
          <a:xfrm>
            <a:off x="7863840" y="4151376"/>
            <a:ext cx="378561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19" b="0">
                <a:solidFill>
                  <a:srgbClr val="5B6472"/>
                </a:solidFill>
                <a:latin typeface="Segoe UI"/>
              </a:rPr>
              <a:t>Attribution separates a controller's loop from a physical queue behind an occupied block.</a:t>
            </a:r>
          </a:p>
        </p:txBody>
      </p:sp>
      <p:sp>
        <p:nvSpPr>
          <p:cNvPr id="15431" name="Rectangle 15430"/>
          <p:cNvSpPr/>
          <p:nvPr/>
        </p:nvSpPr>
        <p:spPr>
          <a:xfrm>
            <a:off x="7735824" y="4937760"/>
            <a:ext cx="4041648" cy="1024128"/>
          </a:xfrm>
          <a:prstGeom prst="rect">
            <a:avLst/>
          </a:prstGeom>
          <a:solidFill>
            <a:srgbClr val="EFF5F4"/>
          </a:solidFill>
          <a:ln w="11430">
            <a:solidFill>
              <a:srgbClr val="DD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432" name="Rectangle 15431"/>
          <p:cNvSpPr/>
          <p:nvPr/>
        </p:nvSpPr>
        <p:spPr>
          <a:xfrm>
            <a:off x="7735824" y="4937760"/>
            <a:ext cx="32004" cy="1024128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433" name="TextBox 15432"/>
          <p:cNvSpPr txBox="1"/>
          <p:nvPr/>
        </p:nvSpPr>
        <p:spPr>
          <a:xfrm>
            <a:off x="7863840" y="5047488"/>
            <a:ext cx="378561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12161F"/>
                </a:solidFill>
                <a:latin typeface="Segoe UI"/>
              </a:rPr>
              <a:t>Checks itself against reality</a:t>
            </a:r>
          </a:p>
        </p:txBody>
      </p:sp>
      <p:sp>
        <p:nvSpPr>
          <p:cNvPr id="15434" name="TextBox 15433"/>
          <p:cNvSpPr txBox="1"/>
          <p:nvPr/>
        </p:nvSpPr>
        <p:spPr>
          <a:xfrm>
            <a:off x="7863840" y="5303520"/>
            <a:ext cx="378561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19" b="0">
                <a:solidFill>
                  <a:srgbClr val="5B6472"/>
                </a:solidFill>
                <a:latin typeface="Segoe UI"/>
              </a:rPr>
              <a:t>A live feed collects real arrivals; the model is re-fitted to them and reports where it still misses.</a:t>
            </a:r>
          </a:p>
        </p:txBody>
      </p:sp>
      <p:sp>
        <p:nvSpPr>
          <p:cNvPr id="15435" name="TextBox 15434"/>
          <p:cNvSpPr txBox="1"/>
          <p:nvPr/>
        </p:nvSpPr>
        <p:spPr>
          <a:xfrm>
            <a:off x="7735824" y="6108192"/>
            <a:ext cx="404164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1">
                <a:solidFill>
                  <a:srgbClr val="0F766E"/>
                </a:solidFill>
                <a:latin typeface="Segoe UI"/>
              </a:rPr>
              <a:t>Working prototype — every stage above runs today.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 b="1"/>
              <a:t>TECHNICAL APPROACH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sz="1000" b="1"/>
              <a:t>[TEAM NAME]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TextBox 17409"/>
          <p:cNvSpPr txBox="1"/>
          <p:nvPr/>
        </p:nvSpPr>
        <p:spPr>
          <a:xfrm>
            <a:off x="411480" y="1207008"/>
            <a:ext cx="5486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1">
                <a:solidFill>
                  <a:srgbClr val="B45309"/>
                </a:solidFill>
                <a:latin typeface="Consolas"/>
              </a:rPr>
              <a:t>PIPELINE — BUILT AND RUNNING TODAY</a:t>
            </a:r>
          </a:p>
        </p:txBody>
      </p:sp>
      <p:sp>
        <p:nvSpPr>
          <p:cNvPr id="17411" name="Parallelogram 17410"/>
          <p:cNvSpPr/>
          <p:nvPr/>
        </p:nvSpPr>
        <p:spPr>
          <a:xfrm>
            <a:off x="411480" y="1463040"/>
            <a:ext cx="1874519" cy="786384"/>
          </a:xfrm>
          <a:prstGeom prst="parallelogram">
            <a:avLst/>
          </a:prstGeom>
          <a:solidFill>
            <a:srgbClr val="EFF5F4"/>
          </a:solidFill>
          <a:ln w="15875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>
              <a:lnSpc>
                <a:spcPct val="95000"/>
              </a:lnSpc>
            </a:pPr>
            <a:r>
              <a:rPr sz="1050" b="1">
                <a:solidFill>
                  <a:srgbClr val="12161F"/>
                </a:solidFill>
                <a:latin typeface="Segoe UI"/>
              </a:rPr>
              <a:t>1 · DATA IN</a:t>
            </a:r>
          </a:p>
          <a:p>
            <a:pPr algn="ctr">
              <a:lnSpc>
                <a:spcPct val="95000"/>
              </a:lnSpc>
            </a:pPr>
            <a:r>
              <a:rPr sz="800">
                <a:solidFill>
                  <a:srgbClr val="5B6472"/>
                </a:solidFill>
                <a:latin typeface="Segoe UI"/>
              </a:rPr>
              <a:t>real timetable, stations,
observed weather</a:t>
            </a:r>
          </a:p>
        </p:txBody>
      </p:sp>
      <p:cxnSp>
        <p:nvCxnSpPr>
          <p:cNvPr id="17412" name="Connector 17411"/>
          <p:cNvCxnSpPr/>
          <p:nvPr/>
        </p:nvCxnSpPr>
        <p:spPr>
          <a:xfrm>
            <a:off x="2295144" y="1856232"/>
            <a:ext cx="219456" cy="0"/>
          </a:xfrm>
          <a:prstGeom prst="line">
            <a:avLst/>
          </a:prstGeom>
          <a:ln w="13970">
            <a:solidFill>
              <a:srgbClr val="8A94A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13" name="Rectangle 17412"/>
          <p:cNvSpPr/>
          <p:nvPr/>
        </p:nvSpPr>
        <p:spPr>
          <a:xfrm>
            <a:off x="2569464" y="1463040"/>
            <a:ext cx="1874519" cy="786384"/>
          </a:xfrm>
          <a:prstGeom prst="rect">
            <a:avLst/>
          </a:prstGeom>
          <a:solidFill>
            <a:srgbClr val="FFFFFF"/>
          </a:solidFill>
          <a:ln w="15875">
            <a:solidFill>
              <a:srgbClr val="1216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>
              <a:lnSpc>
                <a:spcPct val="95000"/>
              </a:lnSpc>
            </a:pPr>
            <a:r>
              <a:rPr sz="1050" b="1">
                <a:solidFill>
                  <a:srgbClr val="12161F"/>
                </a:solidFill>
                <a:latin typeface="Segoe UI"/>
              </a:rPr>
              <a:t>2 · BLOCK GRAPH</a:t>
            </a:r>
          </a:p>
          <a:p>
            <a:pPr algn="ctr">
              <a:lnSpc>
                <a:spcPct val="95000"/>
              </a:lnSpc>
            </a:pPr>
            <a:r>
              <a:rPr sz="800">
                <a:solidFill>
                  <a:srgbClr val="5B6472"/>
                </a:solidFill>
                <a:latin typeface="Segoe UI"/>
              </a:rPr>
              <a:t>202 stations, 1384 km,
sectional speeds</a:t>
            </a:r>
          </a:p>
        </p:txBody>
      </p:sp>
      <p:cxnSp>
        <p:nvCxnSpPr>
          <p:cNvPr id="17414" name="Connector 17413"/>
          <p:cNvCxnSpPr/>
          <p:nvPr/>
        </p:nvCxnSpPr>
        <p:spPr>
          <a:xfrm>
            <a:off x="4453128" y="1856232"/>
            <a:ext cx="219456" cy="0"/>
          </a:xfrm>
          <a:prstGeom prst="line">
            <a:avLst/>
          </a:prstGeom>
          <a:ln w="13970">
            <a:solidFill>
              <a:srgbClr val="8A94A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15" name="Rectangle 17414"/>
          <p:cNvSpPr/>
          <p:nvPr/>
        </p:nvSpPr>
        <p:spPr>
          <a:xfrm>
            <a:off x="4727448" y="1389888"/>
            <a:ext cx="2377440" cy="932688"/>
          </a:xfrm>
          <a:prstGeom prst="rect">
            <a:avLst/>
          </a:prstGeom>
          <a:solidFill>
            <a:srgbClr val="FDF6EC"/>
          </a:solidFill>
          <a:ln w="15875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>
              <a:lnSpc>
                <a:spcPct val="95000"/>
              </a:lnSpc>
            </a:pPr>
            <a:r>
              <a:rPr sz="1050" b="1">
                <a:solidFill>
                  <a:srgbClr val="12161F"/>
                </a:solidFill>
                <a:latin typeface="Segoe UI"/>
              </a:rPr>
              <a:t>3 · FORECAST CORE</a:t>
            </a:r>
          </a:p>
          <a:p>
            <a:pPr algn="ctr">
              <a:lnSpc>
                <a:spcPct val="95000"/>
              </a:lnSpc>
            </a:pPr>
            <a:r>
              <a:rPr sz="800">
                <a:solidFill>
                  <a:srgbClr val="5B6472"/>
                </a:solidFill>
                <a:latin typeface="Segoe UI"/>
              </a:rPr>
              <a:t>A free-run · B conflict sim
C residual · D conformal</a:t>
            </a:r>
          </a:p>
        </p:txBody>
      </p:sp>
      <p:cxnSp>
        <p:nvCxnSpPr>
          <p:cNvPr id="17416" name="Connector 17415"/>
          <p:cNvCxnSpPr/>
          <p:nvPr/>
        </p:nvCxnSpPr>
        <p:spPr>
          <a:xfrm>
            <a:off x="7114032" y="1856232"/>
            <a:ext cx="219456" cy="0"/>
          </a:xfrm>
          <a:prstGeom prst="line">
            <a:avLst/>
          </a:prstGeom>
          <a:ln w="13970">
            <a:solidFill>
              <a:srgbClr val="8A94A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17" name="Diamond 17416"/>
          <p:cNvSpPr/>
          <p:nvPr/>
        </p:nvSpPr>
        <p:spPr>
          <a:xfrm>
            <a:off x="7388352" y="1280160"/>
            <a:ext cx="1920240" cy="1152144"/>
          </a:xfrm>
          <a:prstGeom prst="diamond">
            <a:avLst/>
          </a:prstGeom>
          <a:solidFill>
            <a:srgbClr val="FDF6EC"/>
          </a:solidFill>
          <a:ln w="15875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>
              <a:lnSpc>
                <a:spcPct val="95000"/>
              </a:lnSpc>
            </a:pPr>
            <a:r>
              <a:rPr sz="1050" b="1">
                <a:solidFill>
                  <a:srgbClr val="12161F"/>
                </a:solidFill>
                <a:latin typeface="Segoe UI"/>
              </a:rPr>
              <a:t>Coverage on target?</a:t>
            </a:r>
          </a:p>
        </p:txBody>
      </p:sp>
      <p:cxnSp>
        <p:nvCxnSpPr>
          <p:cNvPr id="17418" name="Connector 17417"/>
          <p:cNvCxnSpPr/>
          <p:nvPr/>
        </p:nvCxnSpPr>
        <p:spPr>
          <a:xfrm>
            <a:off x="9317736" y="1856232"/>
            <a:ext cx="219456" cy="0"/>
          </a:xfrm>
          <a:prstGeom prst="line">
            <a:avLst/>
          </a:prstGeom>
          <a:ln w="13970">
            <a:solidFill>
              <a:srgbClr val="8A94A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19" name="TextBox 17418"/>
          <p:cNvSpPr txBox="1"/>
          <p:nvPr/>
        </p:nvSpPr>
        <p:spPr>
          <a:xfrm>
            <a:off x="9336024" y="1655064"/>
            <a:ext cx="3657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1">
                <a:solidFill>
                  <a:srgbClr val="0F766E"/>
                </a:solidFill>
                <a:latin typeface="Segoe UI"/>
              </a:rPr>
              <a:t>yes</a:t>
            </a:r>
          </a:p>
        </p:txBody>
      </p:sp>
      <p:sp>
        <p:nvSpPr>
          <p:cNvPr id="17420" name="Rounded Rectangle 17419"/>
          <p:cNvSpPr/>
          <p:nvPr/>
        </p:nvSpPr>
        <p:spPr>
          <a:xfrm>
            <a:off x="9592055" y="1463040"/>
            <a:ext cx="2185416" cy="786384"/>
          </a:xfrm>
          <a:prstGeom prst="roundRect">
            <a:avLst>
              <a:gd name="adj" fmla="val 50000"/>
            </a:avLst>
          </a:prstGeom>
          <a:solidFill>
            <a:srgbClr val="EFF5F4"/>
          </a:solidFill>
          <a:ln w="15875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>
              <a:lnSpc>
                <a:spcPct val="95000"/>
              </a:lnSpc>
            </a:pPr>
            <a:r>
              <a:rPr sz="1050" b="1">
                <a:solidFill>
                  <a:srgbClr val="0F766E"/>
                </a:solidFill>
                <a:latin typeface="Segoe UI"/>
              </a:rPr>
              <a:t>4 · ARRIVAL WINDOW</a:t>
            </a:r>
          </a:p>
          <a:p>
            <a:pPr algn="ctr">
              <a:lnSpc>
                <a:spcPct val="95000"/>
              </a:lnSpc>
            </a:pPr>
            <a:r>
              <a:rPr sz="800">
                <a:solidFill>
                  <a:srgbClr val="5B6472"/>
                </a:solidFill>
                <a:latin typeface="Segoe UI"/>
              </a:rPr>
              <a:t>+ attribution, connection risk,
costed precedence</a:t>
            </a:r>
          </a:p>
        </p:txBody>
      </p:sp>
      <p:cxnSp>
        <p:nvCxnSpPr>
          <p:cNvPr id="17421" name="Connector 17420"/>
          <p:cNvCxnSpPr/>
          <p:nvPr/>
        </p:nvCxnSpPr>
        <p:spPr>
          <a:xfrm>
            <a:off x="8348471" y="2432304"/>
            <a:ext cx="0" cy="274320"/>
          </a:xfrm>
          <a:prstGeom prst="line">
            <a:avLst/>
          </a:prstGeom>
          <a:ln w="13970">
            <a:solidFill>
              <a:srgbClr val="B45309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22" name="Connector 17421"/>
          <p:cNvCxnSpPr/>
          <p:nvPr/>
        </p:nvCxnSpPr>
        <p:spPr>
          <a:xfrm flipH="1">
            <a:off x="5916168" y="2706624"/>
            <a:ext cx="2432303" cy="0"/>
          </a:xfrm>
          <a:prstGeom prst="line">
            <a:avLst/>
          </a:prstGeom>
          <a:ln w="13970">
            <a:solidFill>
              <a:srgbClr val="B45309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23" name="Connector 17422"/>
          <p:cNvCxnSpPr/>
          <p:nvPr/>
        </p:nvCxnSpPr>
        <p:spPr>
          <a:xfrm flipV="1">
            <a:off x="5916168" y="2322576"/>
            <a:ext cx="0" cy="384048"/>
          </a:xfrm>
          <a:prstGeom prst="line">
            <a:avLst/>
          </a:prstGeom>
          <a:ln w="13970">
            <a:solidFill>
              <a:srgbClr val="B45309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24" name="TextBox 17423"/>
          <p:cNvSpPr txBox="1"/>
          <p:nvPr/>
        </p:nvSpPr>
        <p:spPr>
          <a:xfrm>
            <a:off x="8403336" y="2468880"/>
            <a:ext cx="3657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1">
                <a:solidFill>
                  <a:srgbClr val="B45309"/>
                </a:solidFill>
                <a:latin typeface="Segoe UI"/>
              </a:rPr>
              <a:t>no</a:t>
            </a:r>
          </a:p>
        </p:txBody>
      </p:sp>
      <p:sp>
        <p:nvSpPr>
          <p:cNvPr id="17425" name="TextBox 17424"/>
          <p:cNvSpPr txBox="1"/>
          <p:nvPr/>
        </p:nvSpPr>
        <p:spPr>
          <a:xfrm>
            <a:off x="6080760" y="2743200"/>
            <a:ext cx="2743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>
                <a:solidFill>
                  <a:srgbClr val="B45309"/>
                </a:solidFill>
                <a:latin typeface="Segoe UI"/>
              </a:rPr>
              <a:t>re-fit the conformal quantiles for the group that missed</a:t>
            </a:r>
          </a:p>
        </p:txBody>
      </p:sp>
      <p:sp>
        <p:nvSpPr>
          <p:cNvPr id="17426" name="TextBox 17425"/>
          <p:cNvSpPr txBox="1"/>
          <p:nvPr/>
        </p:nvSpPr>
        <p:spPr>
          <a:xfrm>
            <a:off x="411480" y="3182112"/>
            <a:ext cx="5486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1">
                <a:solidFill>
                  <a:srgbClr val="0F766E"/>
                </a:solidFill>
                <a:latin typeface="Consolas"/>
              </a:rPr>
              <a:t>BUILT AND MEASURED — THIS REPOSITORY</a:t>
            </a:r>
          </a:p>
        </p:txBody>
      </p:sp>
      <p:sp>
        <p:nvSpPr>
          <p:cNvPr id="17427" name="Rectangle 17426"/>
          <p:cNvSpPr/>
          <p:nvPr/>
        </p:nvSpPr>
        <p:spPr>
          <a:xfrm>
            <a:off x="411480" y="3419856"/>
            <a:ext cx="5504688" cy="475488"/>
          </a:xfrm>
          <a:prstGeom prst="rect">
            <a:avLst/>
          </a:prstGeom>
          <a:solidFill>
            <a:srgbClr val="FFFFFF"/>
          </a:solidFill>
          <a:ln w="10160">
            <a:solidFill>
              <a:srgbClr val="DD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28" name="Rectangle 17427"/>
          <p:cNvSpPr/>
          <p:nvPr/>
        </p:nvSpPr>
        <p:spPr>
          <a:xfrm>
            <a:off x="411480" y="3419856"/>
            <a:ext cx="27432" cy="475488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29" name="TextBox 17428"/>
          <p:cNvSpPr txBox="1"/>
          <p:nvPr/>
        </p:nvSpPr>
        <p:spPr>
          <a:xfrm>
            <a:off x="539496" y="3483864"/>
            <a:ext cx="5212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12161F"/>
                </a:solidFill>
                <a:latin typeface="Segoe UI"/>
              </a:rPr>
              <a:t>Language and models</a:t>
            </a:r>
          </a:p>
        </p:txBody>
      </p:sp>
      <p:sp>
        <p:nvSpPr>
          <p:cNvPr id="17430" name="TextBox 17429"/>
          <p:cNvSpPr txBox="1"/>
          <p:nvPr/>
        </p:nvSpPr>
        <p:spPr>
          <a:xfrm>
            <a:off x="539496" y="3675888"/>
            <a:ext cx="5257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80" b="0">
                <a:solidFill>
                  <a:srgbClr val="5B6472"/>
                </a:solidFill>
                <a:latin typeface="Consolas"/>
              </a:rPr>
              <a:t>Python 3 · LightGBM (free-run, quantile residual) · scikit-learn · NumPy / pandas</a:t>
            </a:r>
          </a:p>
        </p:txBody>
      </p:sp>
      <p:sp>
        <p:nvSpPr>
          <p:cNvPr id="17431" name="Rectangle 17430"/>
          <p:cNvSpPr/>
          <p:nvPr/>
        </p:nvSpPr>
        <p:spPr>
          <a:xfrm>
            <a:off x="411480" y="3931920"/>
            <a:ext cx="5504688" cy="475488"/>
          </a:xfrm>
          <a:prstGeom prst="rect">
            <a:avLst/>
          </a:prstGeom>
          <a:solidFill>
            <a:srgbClr val="FFFFFF"/>
          </a:solidFill>
          <a:ln w="10160">
            <a:solidFill>
              <a:srgbClr val="DD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32" name="Rectangle 17431"/>
          <p:cNvSpPr/>
          <p:nvPr/>
        </p:nvSpPr>
        <p:spPr>
          <a:xfrm>
            <a:off x="411480" y="3931920"/>
            <a:ext cx="27432" cy="475488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33" name="TextBox 17432"/>
          <p:cNvSpPr txBox="1"/>
          <p:nvPr/>
        </p:nvSpPr>
        <p:spPr>
          <a:xfrm>
            <a:off x="539496" y="3995928"/>
            <a:ext cx="5212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12161F"/>
                </a:solidFill>
                <a:latin typeface="Segoe UI"/>
              </a:rPr>
              <a:t>Simulation</a:t>
            </a:r>
          </a:p>
        </p:txBody>
      </p:sp>
      <p:sp>
        <p:nvSpPr>
          <p:cNvPr id="17434" name="TextBox 17433"/>
          <p:cNvSpPr txBox="1"/>
          <p:nvPr/>
        </p:nvSpPr>
        <p:spPr>
          <a:xfrm>
            <a:off x="539496" y="4187952"/>
            <a:ext cx="5257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80" b="0">
                <a:solidFill>
                  <a:srgbClr val="5B6472"/>
                </a:solidFill>
                <a:latin typeface="Consolas"/>
              </a:rPr>
              <a:t>Custom event-driven block-graph simulator (heapq priority queue) — no graph library</a:t>
            </a:r>
          </a:p>
        </p:txBody>
      </p:sp>
      <p:sp>
        <p:nvSpPr>
          <p:cNvPr id="17435" name="Rectangle 17434"/>
          <p:cNvSpPr/>
          <p:nvPr/>
        </p:nvSpPr>
        <p:spPr>
          <a:xfrm>
            <a:off x="411480" y="4443984"/>
            <a:ext cx="5504688" cy="475488"/>
          </a:xfrm>
          <a:prstGeom prst="rect">
            <a:avLst/>
          </a:prstGeom>
          <a:solidFill>
            <a:srgbClr val="FFFFFF"/>
          </a:solidFill>
          <a:ln w="10160">
            <a:solidFill>
              <a:srgbClr val="DD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36" name="Rectangle 17435"/>
          <p:cNvSpPr/>
          <p:nvPr/>
        </p:nvSpPr>
        <p:spPr>
          <a:xfrm>
            <a:off x="411480" y="4443984"/>
            <a:ext cx="27432" cy="475488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37" name="TextBox 17436"/>
          <p:cNvSpPr txBox="1"/>
          <p:nvPr/>
        </p:nvSpPr>
        <p:spPr>
          <a:xfrm>
            <a:off x="539496" y="4507992"/>
            <a:ext cx="5212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12161F"/>
                </a:solidFill>
                <a:latin typeface="Segoe UI"/>
              </a:rPr>
              <a:t>Uncertainty</a:t>
            </a:r>
          </a:p>
        </p:txBody>
      </p:sp>
      <p:sp>
        <p:nvSpPr>
          <p:cNvPr id="17438" name="TextBox 17437"/>
          <p:cNvSpPr txBox="1"/>
          <p:nvPr/>
        </p:nvSpPr>
        <p:spPr>
          <a:xfrm>
            <a:off x="539496" y="4700016"/>
            <a:ext cx="5257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80" b="0">
                <a:solidFill>
                  <a:srgbClr val="5B6472"/>
                </a:solidFill>
                <a:latin typeface="Consolas"/>
              </a:rPr>
              <a:t>Own conformalised quantile regression, Mondrian groups by horizon × segment × time of day</a:t>
            </a:r>
          </a:p>
        </p:txBody>
      </p:sp>
      <p:sp>
        <p:nvSpPr>
          <p:cNvPr id="17439" name="Rectangle 17438"/>
          <p:cNvSpPr/>
          <p:nvPr/>
        </p:nvSpPr>
        <p:spPr>
          <a:xfrm>
            <a:off x="411480" y="4956048"/>
            <a:ext cx="5504688" cy="475488"/>
          </a:xfrm>
          <a:prstGeom prst="rect">
            <a:avLst/>
          </a:prstGeom>
          <a:solidFill>
            <a:srgbClr val="FFFFFF"/>
          </a:solidFill>
          <a:ln w="10160">
            <a:solidFill>
              <a:srgbClr val="DD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40" name="Rectangle 17439"/>
          <p:cNvSpPr/>
          <p:nvPr/>
        </p:nvSpPr>
        <p:spPr>
          <a:xfrm>
            <a:off x="411480" y="4956048"/>
            <a:ext cx="27432" cy="475488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41" name="TextBox 17440"/>
          <p:cNvSpPr txBox="1"/>
          <p:nvPr/>
        </p:nvSpPr>
        <p:spPr>
          <a:xfrm>
            <a:off x="539496" y="5020056"/>
            <a:ext cx="5212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12161F"/>
                </a:solidFill>
                <a:latin typeface="Segoe UI"/>
              </a:rPr>
              <a:t>Data adapters</a:t>
            </a:r>
          </a:p>
        </p:txBody>
      </p:sp>
      <p:sp>
        <p:nvSpPr>
          <p:cNvPr id="17442" name="TextBox 17441"/>
          <p:cNvSpPr txBox="1"/>
          <p:nvPr/>
        </p:nvSpPr>
        <p:spPr>
          <a:xfrm>
            <a:off x="539496" y="5212080"/>
            <a:ext cx="5257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80" b="0">
                <a:solidFill>
                  <a:srgbClr val="5B6472"/>
                </a:solidFill>
                <a:latin typeface="Consolas"/>
              </a:rPr>
              <a:t>Indian Railways working timetable (CC0) · Open-Meteo ERA5 weather · RailRadar live feed</a:t>
            </a:r>
          </a:p>
        </p:txBody>
      </p:sp>
      <p:sp>
        <p:nvSpPr>
          <p:cNvPr id="17443" name="Rectangle 17442"/>
          <p:cNvSpPr/>
          <p:nvPr/>
        </p:nvSpPr>
        <p:spPr>
          <a:xfrm>
            <a:off x="411480" y="5468112"/>
            <a:ext cx="5504688" cy="475488"/>
          </a:xfrm>
          <a:prstGeom prst="rect">
            <a:avLst/>
          </a:prstGeom>
          <a:solidFill>
            <a:srgbClr val="FFFFFF"/>
          </a:solidFill>
          <a:ln w="10160">
            <a:solidFill>
              <a:srgbClr val="DD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44" name="Rectangle 17443"/>
          <p:cNvSpPr/>
          <p:nvPr/>
        </p:nvSpPr>
        <p:spPr>
          <a:xfrm>
            <a:off x="411480" y="5468112"/>
            <a:ext cx="27432" cy="475488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45" name="TextBox 17444"/>
          <p:cNvSpPr txBox="1"/>
          <p:nvPr/>
        </p:nvSpPr>
        <p:spPr>
          <a:xfrm>
            <a:off x="539496" y="5532120"/>
            <a:ext cx="5212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12161F"/>
                </a:solidFill>
                <a:latin typeface="Segoe UI"/>
              </a:rPr>
              <a:t>Attribution</a:t>
            </a:r>
          </a:p>
        </p:txBody>
      </p:sp>
      <p:sp>
        <p:nvSpPr>
          <p:cNvPr id="17446" name="TextBox 17445"/>
          <p:cNvSpPr txBox="1"/>
          <p:nvPr/>
        </p:nvSpPr>
        <p:spPr>
          <a:xfrm>
            <a:off x="539496" y="5724144"/>
            <a:ext cx="5257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80" b="0">
                <a:solidFill>
                  <a:srgbClr val="5B6472"/>
                </a:solidFill>
                <a:latin typeface="Consolas"/>
              </a:rPr>
              <a:t>LightGBM split gain, plus the blocking train and cause recorded by the simulator</a:t>
            </a:r>
          </a:p>
        </p:txBody>
      </p:sp>
      <p:sp>
        <p:nvSpPr>
          <p:cNvPr id="17447" name="TextBox 17446"/>
          <p:cNvSpPr txBox="1"/>
          <p:nvPr/>
        </p:nvSpPr>
        <p:spPr>
          <a:xfrm>
            <a:off x="6263640" y="3182112"/>
            <a:ext cx="5486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1">
                <a:solidFill>
                  <a:srgbClr val="8A94A3"/>
                </a:solidFill>
                <a:latin typeface="Consolas"/>
              </a:rPr>
              <a:t>PLANNED FOR DEPLOYMENT — NOT BUILT YET</a:t>
            </a:r>
          </a:p>
        </p:txBody>
      </p:sp>
      <p:sp>
        <p:nvSpPr>
          <p:cNvPr id="17448" name="Rectangle 17447"/>
          <p:cNvSpPr/>
          <p:nvPr/>
        </p:nvSpPr>
        <p:spPr>
          <a:xfrm>
            <a:off x="6263640" y="3419856"/>
            <a:ext cx="5504688" cy="475488"/>
          </a:xfrm>
          <a:prstGeom prst="rect">
            <a:avLst/>
          </a:prstGeom>
          <a:solidFill>
            <a:srgbClr val="F6F7F9"/>
          </a:solidFill>
          <a:ln w="10160">
            <a:solidFill>
              <a:srgbClr val="DD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49" name="Rectangle 17448"/>
          <p:cNvSpPr/>
          <p:nvPr/>
        </p:nvSpPr>
        <p:spPr>
          <a:xfrm>
            <a:off x="6263640" y="3419856"/>
            <a:ext cx="27432" cy="475488"/>
          </a:xfrm>
          <a:prstGeom prst="rect">
            <a:avLst/>
          </a:prstGeom>
          <a:solidFill>
            <a:srgbClr val="8A94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50" name="TextBox 17449"/>
          <p:cNvSpPr txBox="1"/>
          <p:nvPr/>
        </p:nvSpPr>
        <p:spPr>
          <a:xfrm>
            <a:off x="6391656" y="3483864"/>
            <a:ext cx="5212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5B6472"/>
                </a:solidFill>
                <a:latin typeface="Segoe UI"/>
              </a:rPr>
              <a:t>Serving</a:t>
            </a:r>
          </a:p>
        </p:txBody>
      </p:sp>
      <p:sp>
        <p:nvSpPr>
          <p:cNvPr id="17451" name="TextBox 17450"/>
          <p:cNvSpPr txBox="1"/>
          <p:nvPr/>
        </p:nvSpPr>
        <p:spPr>
          <a:xfrm>
            <a:off x="6391656" y="3675888"/>
            <a:ext cx="5257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80" b="0">
                <a:solidFill>
                  <a:srgbClr val="8A94A3"/>
                </a:solidFill>
                <a:latin typeface="Consolas"/>
              </a:rPr>
              <a:t>FastAPI · Redis Streams · PostgreSQL + PostGIS · Docker / Kubernetes, sharded by zone</a:t>
            </a:r>
          </a:p>
        </p:txBody>
      </p:sp>
      <p:sp>
        <p:nvSpPr>
          <p:cNvPr id="17452" name="Rectangle 17451"/>
          <p:cNvSpPr/>
          <p:nvPr/>
        </p:nvSpPr>
        <p:spPr>
          <a:xfrm>
            <a:off x="6263640" y="3931920"/>
            <a:ext cx="5504688" cy="475488"/>
          </a:xfrm>
          <a:prstGeom prst="rect">
            <a:avLst/>
          </a:prstGeom>
          <a:solidFill>
            <a:srgbClr val="F6F7F9"/>
          </a:solidFill>
          <a:ln w="10160">
            <a:solidFill>
              <a:srgbClr val="DD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53" name="Rectangle 17452"/>
          <p:cNvSpPr/>
          <p:nvPr/>
        </p:nvSpPr>
        <p:spPr>
          <a:xfrm>
            <a:off x="6263640" y="3931920"/>
            <a:ext cx="27432" cy="475488"/>
          </a:xfrm>
          <a:prstGeom prst="rect">
            <a:avLst/>
          </a:prstGeom>
          <a:solidFill>
            <a:srgbClr val="8A94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54" name="TextBox 17453"/>
          <p:cNvSpPr txBox="1"/>
          <p:nvPr/>
        </p:nvSpPr>
        <p:spPr>
          <a:xfrm>
            <a:off x="6391656" y="3995928"/>
            <a:ext cx="5212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5B6472"/>
                </a:solidFill>
                <a:latin typeface="Segoe UI"/>
              </a:rPr>
              <a:t>Passenger interface</a:t>
            </a:r>
          </a:p>
        </p:txBody>
      </p:sp>
      <p:sp>
        <p:nvSpPr>
          <p:cNvPr id="17455" name="TextBox 17454"/>
          <p:cNvSpPr txBox="1"/>
          <p:nvPr/>
        </p:nvSpPr>
        <p:spPr>
          <a:xfrm>
            <a:off x="6391656" y="4187952"/>
            <a:ext cx="5257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80" b="0">
                <a:solidFill>
                  <a:srgbClr val="8A94A3"/>
                </a:solidFill>
                <a:latin typeface="Consolas"/>
              </a:rPr>
              <a:t>React · MapLibre GL for app and station displays</a:t>
            </a:r>
          </a:p>
        </p:txBody>
      </p:sp>
      <p:sp>
        <p:nvSpPr>
          <p:cNvPr id="17456" name="Rectangle 17455"/>
          <p:cNvSpPr/>
          <p:nvPr/>
        </p:nvSpPr>
        <p:spPr>
          <a:xfrm>
            <a:off x="6263640" y="4443984"/>
            <a:ext cx="5504688" cy="475488"/>
          </a:xfrm>
          <a:prstGeom prst="rect">
            <a:avLst/>
          </a:prstGeom>
          <a:solidFill>
            <a:srgbClr val="F6F7F9"/>
          </a:solidFill>
          <a:ln w="10160">
            <a:solidFill>
              <a:srgbClr val="DD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57" name="Rectangle 17456"/>
          <p:cNvSpPr/>
          <p:nvPr/>
        </p:nvSpPr>
        <p:spPr>
          <a:xfrm>
            <a:off x="6263640" y="4443984"/>
            <a:ext cx="27432" cy="475488"/>
          </a:xfrm>
          <a:prstGeom prst="rect">
            <a:avLst/>
          </a:prstGeom>
          <a:solidFill>
            <a:srgbClr val="8A94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58" name="TextBox 17457"/>
          <p:cNvSpPr txBox="1"/>
          <p:nvPr/>
        </p:nvSpPr>
        <p:spPr>
          <a:xfrm>
            <a:off x="6391656" y="4507992"/>
            <a:ext cx="5212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5B6472"/>
                </a:solidFill>
                <a:latin typeface="Segoe UI"/>
              </a:rPr>
              <a:t>Reaching every passenger</a:t>
            </a:r>
          </a:p>
        </p:txBody>
      </p:sp>
      <p:sp>
        <p:nvSpPr>
          <p:cNvPr id="17459" name="TextBox 17458"/>
          <p:cNvSpPr txBox="1"/>
          <p:nvPr/>
        </p:nvSpPr>
        <p:spPr>
          <a:xfrm>
            <a:off x="6391656" y="4700016"/>
            <a:ext cx="5257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80" b="0">
                <a:solidFill>
                  <a:srgbClr val="8A94A3"/>
                </a:solidFill>
                <a:latin typeface="Consolas"/>
              </a:rPr>
              <a:t>SMS and IVR (139) in regional languages, for travellers without a smartphone</a:t>
            </a:r>
          </a:p>
        </p:txBody>
      </p:sp>
      <p:sp>
        <p:nvSpPr>
          <p:cNvPr id="17460" name="Rectangle 17459"/>
          <p:cNvSpPr/>
          <p:nvPr/>
        </p:nvSpPr>
        <p:spPr>
          <a:xfrm>
            <a:off x="6263640" y="4956048"/>
            <a:ext cx="5504688" cy="475488"/>
          </a:xfrm>
          <a:prstGeom prst="rect">
            <a:avLst/>
          </a:prstGeom>
          <a:solidFill>
            <a:srgbClr val="F6F7F9"/>
          </a:solidFill>
          <a:ln w="10160">
            <a:solidFill>
              <a:srgbClr val="DD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61" name="Rectangle 17460"/>
          <p:cNvSpPr/>
          <p:nvPr/>
        </p:nvSpPr>
        <p:spPr>
          <a:xfrm>
            <a:off x="6263640" y="4956048"/>
            <a:ext cx="27432" cy="475488"/>
          </a:xfrm>
          <a:prstGeom prst="rect">
            <a:avLst/>
          </a:prstGeom>
          <a:solidFill>
            <a:srgbClr val="8A94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62" name="TextBox 17461"/>
          <p:cNvSpPr txBox="1"/>
          <p:nvPr/>
        </p:nvSpPr>
        <p:spPr>
          <a:xfrm>
            <a:off x="6391656" y="5020056"/>
            <a:ext cx="5212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5B6472"/>
                </a:solidFill>
                <a:latin typeface="Segoe UI"/>
              </a:rPr>
              <a:t>Between-station sensing</a:t>
            </a:r>
          </a:p>
        </p:txBody>
      </p:sp>
      <p:sp>
        <p:nvSpPr>
          <p:cNvPr id="17463" name="TextBox 17462"/>
          <p:cNvSpPr txBox="1"/>
          <p:nvPr/>
        </p:nvSpPr>
        <p:spPr>
          <a:xfrm>
            <a:off x="6391656" y="5212080"/>
            <a:ext cx="5257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80" b="0">
                <a:solidFill>
                  <a:srgbClr val="8A94A3"/>
                </a:solidFill>
                <a:latin typeface="Consolas"/>
              </a:rPr>
              <a:t>Opt-in passenger-phone motion to close the 40–60 minute reporting gap</a:t>
            </a:r>
          </a:p>
        </p:txBody>
      </p:sp>
      <p:sp>
        <p:nvSpPr>
          <p:cNvPr id="17464" name="Rectangle 17463"/>
          <p:cNvSpPr/>
          <p:nvPr/>
        </p:nvSpPr>
        <p:spPr>
          <a:xfrm>
            <a:off x="6263640" y="5468112"/>
            <a:ext cx="5504688" cy="475488"/>
          </a:xfrm>
          <a:prstGeom prst="rect">
            <a:avLst/>
          </a:prstGeom>
          <a:solidFill>
            <a:srgbClr val="F6F7F9"/>
          </a:solidFill>
          <a:ln w="10160">
            <a:solidFill>
              <a:srgbClr val="DD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65" name="Rectangle 17464"/>
          <p:cNvSpPr/>
          <p:nvPr/>
        </p:nvSpPr>
        <p:spPr>
          <a:xfrm>
            <a:off x="6263640" y="5468112"/>
            <a:ext cx="27432" cy="475488"/>
          </a:xfrm>
          <a:prstGeom prst="rect">
            <a:avLst/>
          </a:prstGeom>
          <a:solidFill>
            <a:srgbClr val="8A94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66" name="TextBox 17465"/>
          <p:cNvSpPr txBox="1"/>
          <p:nvPr/>
        </p:nvSpPr>
        <p:spPr>
          <a:xfrm>
            <a:off x="6391656" y="5532120"/>
            <a:ext cx="5212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5B6472"/>
                </a:solidFill>
                <a:latin typeface="Segoe UI"/>
              </a:rPr>
              <a:t>Operations</a:t>
            </a:r>
          </a:p>
        </p:txBody>
      </p:sp>
      <p:sp>
        <p:nvSpPr>
          <p:cNvPr id="17467" name="TextBox 17466"/>
          <p:cNvSpPr txBox="1"/>
          <p:nvPr/>
        </p:nvSpPr>
        <p:spPr>
          <a:xfrm>
            <a:off x="6391656" y="5724144"/>
            <a:ext cx="5257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80" b="0">
                <a:solidFill>
                  <a:srgbClr val="8A94A3"/>
                </a:solidFill>
                <a:latin typeface="Consolas"/>
              </a:rPr>
              <a:t>Drift monitor, scheduled retraining, and a shadow-mode pilot beside the existing ETA</a:t>
            </a:r>
          </a:p>
        </p:txBody>
      </p:sp>
      <p:sp>
        <p:nvSpPr>
          <p:cNvPr id="17468" name="TextBox 17467"/>
          <p:cNvSpPr txBox="1"/>
          <p:nvPr/>
        </p:nvSpPr>
        <p:spPr>
          <a:xfrm>
            <a:off x="411480" y="6035040"/>
            <a:ext cx="1136599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5B6472"/>
                </a:solidFill>
                <a:latin typeface="Segoe UI"/>
              </a:rPr>
              <a:t>The prototype runs end to end on one commodity laptop with no GPU: 0.46 ms per station forecast, 0.32 s to re-forecast all 688 station arrivals on the corridor.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 b="1"/>
              <a:t>FEASIBILITY AND VIABILITY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sz="1000" b="1"/>
              <a:t>[TEAM NAME]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TextBox 17409"/>
          <p:cNvSpPr txBox="1"/>
          <p:nvPr/>
        </p:nvSpPr>
        <p:spPr>
          <a:xfrm>
            <a:off x="411480" y="1207008"/>
            <a:ext cx="3657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1">
                <a:solidFill>
                  <a:srgbClr val="0F766E"/>
                </a:solidFill>
                <a:latin typeface="Consolas"/>
              </a:rPr>
              <a:t>WHY IT IS FEASIBLE</a:t>
            </a:r>
          </a:p>
        </p:txBody>
      </p:sp>
      <p:sp>
        <p:nvSpPr>
          <p:cNvPr id="17411" name="Rectangle 17410"/>
          <p:cNvSpPr/>
          <p:nvPr/>
        </p:nvSpPr>
        <p:spPr>
          <a:xfrm>
            <a:off x="411480" y="1463040"/>
            <a:ext cx="3584448" cy="694944"/>
          </a:xfrm>
          <a:prstGeom prst="rect">
            <a:avLst/>
          </a:prstGeom>
          <a:solidFill>
            <a:srgbClr val="FFFFFF"/>
          </a:solidFill>
          <a:ln w="11430">
            <a:solidFill>
              <a:srgbClr val="DD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12" name="Rectangle 17411"/>
          <p:cNvSpPr/>
          <p:nvPr/>
        </p:nvSpPr>
        <p:spPr>
          <a:xfrm>
            <a:off x="411480" y="1463040"/>
            <a:ext cx="32004" cy="69494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13" name="TextBox 17412"/>
          <p:cNvSpPr txBox="1"/>
          <p:nvPr/>
        </p:nvSpPr>
        <p:spPr>
          <a:xfrm>
            <a:off x="539496" y="1572768"/>
            <a:ext cx="332841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12161F"/>
                </a:solidFill>
                <a:latin typeface="Segoe UI"/>
              </a:rPr>
              <a:t>It already runs</a:t>
            </a:r>
          </a:p>
        </p:txBody>
      </p:sp>
      <p:sp>
        <p:nvSpPr>
          <p:cNvPr id="17414" name="TextBox 17413"/>
          <p:cNvSpPr txBox="1"/>
          <p:nvPr/>
        </p:nvSpPr>
        <p:spPr>
          <a:xfrm>
            <a:off x="539496" y="1828800"/>
            <a:ext cx="332841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80" b="0">
                <a:solidFill>
                  <a:srgbClr val="5B6472"/>
                </a:solidFill>
                <a:latin typeface="Segoe UI"/>
              </a:rPr>
              <a:t>The whole pipeline executes end to end on a laptop — corridor, simulator, models, calibration, evaluation.</a:t>
            </a:r>
          </a:p>
        </p:txBody>
      </p:sp>
      <p:sp>
        <p:nvSpPr>
          <p:cNvPr id="17415" name="Rectangle 17414"/>
          <p:cNvSpPr/>
          <p:nvPr/>
        </p:nvSpPr>
        <p:spPr>
          <a:xfrm>
            <a:off x="411480" y="2249424"/>
            <a:ext cx="3584448" cy="694944"/>
          </a:xfrm>
          <a:prstGeom prst="rect">
            <a:avLst/>
          </a:prstGeom>
          <a:solidFill>
            <a:srgbClr val="FFFFFF"/>
          </a:solidFill>
          <a:ln w="11430">
            <a:solidFill>
              <a:srgbClr val="DD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16" name="Rectangle 17415"/>
          <p:cNvSpPr/>
          <p:nvPr/>
        </p:nvSpPr>
        <p:spPr>
          <a:xfrm>
            <a:off x="411480" y="2249424"/>
            <a:ext cx="32004" cy="69494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17" name="TextBox 17416"/>
          <p:cNvSpPr txBox="1"/>
          <p:nvPr/>
        </p:nvSpPr>
        <p:spPr>
          <a:xfrm>
            <a:off x="539496" y="2359152"/>
            <a:ext cx="332841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12161F"/>
                </a:solidFill>
                <a:latin typeface="Segoe UI"/>
              </a:rPr>
              <a:t>No new trackside hardware</a:t>
            </a:r>
          </a:p>
        </p:txBody>
      </p:sp>
      <p:sp>
        <p:nvSpPr>
          <p:cNvPr id="17418" name="TextBox 17417"/>
          <p:cNvSpPr txBox="1"/>
          <p:nvPr/>
        </p:nvSpPr>
        <p:spPr>
          <a:xfrm>
            <a:off x="539496" y="2615184"/>
            <a:ext cx="332841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80" b="0">
                <a:solidFill>
                  <a:srgbClr val="5B6472"/>
                </a:solidFill>
                <a:latin typeface="Segoe UI"/>
              </a:rPr>
              <a:t>It consumes position data Indian Railways already produces, through a swappable adapter.</a:t>
            </a:r>
          </a:p>
        </p:txBody>
      </p:sp>
      <p:sp>
        <p:nvSpPr>
          <p:cNvPr id="17419" name="Rectangle 17418"/>
          <p:cNvSpPr/>
          <p:nvPr/>
        </p:nvSpPr>
        <p:spPr>
          <a:xfrm>
            <a:off x="411480" y="3035808"/>
            <a:ext cx="3584448" cy="694944"/>
          </a:xfrm>
          <a:prstGeom prst="rect">
            <a:avLst/>
          </a:prstGeom>
          <a:solidFill>
            <a:srgbClr val="FFFFFF"/>
          </a:solidFill>
          <a:ln w="11430">
            <a:solidFill>
              <a:srgbClr val="DD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20" name="Rectangle 17419"/>
          <p:cNvSpPr/>
          <p:nvPr/>
        </p:nvSpPr>
        <p:spPr>
          <a:xfrm>
            <a:off x="411480" y="3035808"/>
            <a:ext cx="32004" cy="69494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21" name="TextBox 17420"/>
          <p:cNvSpPr txBox="1"/>
          <p:nvPr/>
        </p:nvSpPr>
        <p:spPr>
          <a:xfrm>
            <a:off x="539496" y="3145536"/>
            <a:ext cx="332841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12161F"/>
                </a:solidFill>
                <a:latin typeface="Segoe UI"/>
              </a:rPr>
              <a:t>Cheap to serve</a:t>
            </a:r>
          </a:p>
        </p:txBody>
      </p:sp>
      <p:sp>
        <p:nvSpPr>
          <p:cNvPr id="17422" name="TextBox 17421"/>
          <p:cNvSpPr txBox="1"/>
          <p:nvPr/>
        </p:nvSpPr>
        <p:spPr>
          <a:xfrm>
            <a:off x="539496" y="3401568"/>
            <a:ext cx="332841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80" b="0">
                <a:solidFill>
                  <a:srgbClr val="5B6472"/>
                </a:solidFill>
                <a:latin typeface="Segoe UI"/>
              </a:rPr>
              <a:t>Boosted trees, no GPU. 0.46 ms per station forecast on one commodity node.</a:t>
            </a:r>
          </a:p>
        </p:txBody>
      </p:sp>
      <p:sp>
        <p:nvSpPr>
          <p:cNvPr id="17423" name="Rectangle 17422"/>
          <p:cNvSpPr/>
          <p:nvPr/>
        </p:nvSpPr>
        <p:spPr>
          <a:xfrm>
            <a:off x="411480" y="3822191"/>
            <a:ext cx="3584448" cy="694944"/>
          </a:xfrm>
          <a:prstGeom prst="rect">
            <a:avLst/>
          </a:prstGeom>
          <a:solidFill>
            <a:srgbClr val="FFFFFF"/>
          </a:solidFill>
          <a:ln w="11430">
            <a:solidFill>
              <a:srgbClr val="DD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24" name="Rectangle 17423"/>
          <p:cNvSpPr/>
          <p:nvPr/>
        </p:nvSpPr>
        <p:spPr>
          <a:xfrm>
            <a:off x="411480" y="3822191"/>
            <a:ext cx="32004" cy="69494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25" name="TextBox 17424"/>
          <p:cNvSpPr txBox="1"/>
          <p:nvPr/>
        </p:nvSpPr>
        <p:spPr>
          <a:xfrm>
            <a:off x="539496" y="3931920"/>
            <a:ext cx="332841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12161F"/>
                </a:solidFill>
                <a:latin typeface="Segoe UI"/>
              </a:rPr>
              <a:t>Free, open inputs</a:t>
            </a:r>
          </a:p>
        </p:txBody>
      </p:sp>
      <p:sp>
        <p:nvSpPr>
          <p:cNvPr id="17426" name="TextBox 17425"/>
          <p:cNvSpPr txBox="1"/>
          <p:nvPr/>
        </p:nvSpPr>
        <p:spPr>
          <a:xfrm>
            <a:off x="539496" y="4187952"/>
            <a:ext cx="332841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80" b="0">
                <a:solidFill>
                  <a:srgbClr val="5B6472"/>
                </a:solidFill>
                <a:latin typeface="Segoe UI"/>
              </a:rPr>
              <a:t>Timetable and station master are CC0; ERA5 weather needs no key.</a:t>
            </a:r>
          </a:p>
        </p:txBody>
      </p:sp>
      <p:sp>
        <p:nvSpPr>
          <p:cNvPr id="17427" name="Rectangle 17426"/>
          <p:cNvSpPr/>
          <p:nvPr/>
        </p:nvSpPr>
        <p:spPr>
          <a:xfrm>
            <a:off x="411480" y="4608576"/>
            <a:ext cx="3584448" cy="694944"/>
          </a:xfrm>
          <a:prstGeom prst="rect">
            <a:avLst/>
          </a:prstGeom>
          <a:solidFill>
            <a:srgbClr val="FFFFFF"/>
          </a:solidFill>
          <a:ln w="11430">
            <a:solidFill>
              <a:srgbClr val="DD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28" name="Rectangle 17427"/>
          <p:cNvSpPr/>
          <p:nvPr/>
        </p:nvSpPr>
        <p:spPr>
          <a:xfrm>
            <a:off x="411480" y="4608576"/>
            <a:ext cx="32004" cy="69494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29" name="TextBox 17428"/>
          <p:cNvSpPr txBox="1"/>
          <p:nvPr/>
        </p:nvSpPr>
        <p:spPr>
          <a:xfrm>
            <a:off x="539496" y="4718304"/>
            <a:ext cx="332841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12161F"/>
                </a:solidFill>
                <a:latin typeface="Segoe UI"/>
              </a:rPr>
              <a:t>Degrades safely</a:t>
            </a:r>
          </a:p>
        </p:txBody>
      </p:sp>
      <p:sp>
        <p:nvSpPr>
          <p:cNvPr id="17430" name="TextBox 17429"/>
          <p:cNvSpPr txBox="1"/>
          <p:nvPr/>
        </p:nvSpPr>
        <p:spPr>
          <a:xfrm>
            <a:off x="539496" y="4974336"/>
            <a:ext cx="332841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80" b="0">
                <a:solidFill>
                  <a:srgbClr val="5B6472"/>
                </a:solidFill>
                <a:latin typeface="Segoe UI"/>
              </a:rPr>
              <a:t>With the learned layer off, the rule-based simulator still produces a forecast.</a:t>
            </a:r>
          </a:p>
        </p:txBody>
      </p:sp>
      <p:sp>
        <p:nvSpPr>
          <p:cNvPr id="17431" name="TextBox 17430"/>
          <p:cNvSpPr txBox="1"/>
          <p:nvPr/>
        </p:nvSpPr>
        <p:spPr>
          <a:xfrm>
            <a:off x="4215384" y="1207008"/>
            <a:ext cx="3657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1">
                <a:solidFill>
                  <a:srgbClr val="B91C1C"/>
                </a:solidFill>
                <a:latin typeface="Consolas"/>
              </a:rPr>
              <a:t>RISKS AND HOW WE RETIRE THEM</a:t>
            </a:r>
          </a:p>
        </p:txBody>
      </p:sp>
      <p:sp>
        <p:nvSpPr>
          <p:cNvPr id="17432" name="Rectangle 17431"/>
          <p:cNvSpPr/>
          <p:nvPr/>
        </p:nvSpPr>
        <p:spPr>
          <a:xfrm>
            <a:off x="4215384" y="1463040"/>
            <a:ext cx="3931920" cy="694944"/>
          </a:xfrm>
          <a:prstGeom prst="rect">
            <a:avLst/>
          </a:prstGeom>
          <a:solidFill>
            <a:srgbClr val="FBF7F6"/>
          </a:solidFill>
          <a:ln w="11430">
            <a:solidFill>
              <a:srgbClr val="DD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33" name="Rectangle 17432"/>
          <p:cNvSpPr/>
          <p:nvPr/>
        </p:nvSpPr>
        <p:spPr>
          <a:xfrm>
            <a:off x="4215384" y="1463040"/>
            <a:ext cx="32004" cy="694944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34" name="TextBox 17433"/>
          <p:cNvSpPr txBox="1"/>
          <p:nvPr/>
        </p:nvSpPr>
        <p:spPr>
          <a:xfrm>
            <a:off x="4343400" y="1572768"/>
            <a:ext cx="3675887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12161F"/>
                </a:solidFill>
                <a:latin typeface="Segoe UI"/>
              </a:rPr>
              <a:t>The delay model is not yet fitted to reality</a:t>
            </a:r>
          </a:p>
        </p:txBody>
      </p:sp>
      <p:sp>
        <p:nvSpPr>
          <p:cNvPr id="17435" name="TextBox 17434"/>
          <p:cNvSpPr txBox="1"/>
          <p:nvPr/>
        </p:nvSpPr>
        <p:spPr>
          <a:xfrm>
            <a:off x="4343400" y="1828800"/>
            <a:ext cx="3675887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80" b="0">
                <a:solidFill>
                  <a:srgbClr val="5B6472"/>
                </a:solidFill>
                <a:latin typeface="Segoe UI"/>
              </a:rPr>
              <a:t>Validated against 499 real arrivals: our tail is too heavy. The collector runs daily; refit as data accumulates.</a:t>
            </a:r>
          </a:p>
        </p:txBody>
      </p:sp>
      <p:sp>
        <p:nvSpPr>
          <p:cNvPr id="17436" name="Rectangle 17435"/>
          <p:cNvSpPr/>
          <p:nvPr/>
        </p:nvSpPr>
        <p:spPr>
          <a:xfrm>
            <a:off x="4215384" y="2249424"/>
            <a:ext cx="3931920" cy="694944"/>
          </a:xfrm>
          <a:prstGeom prst="rect">
            <a:avLst/>
          </a:prstGeom>
          <a:solidFill>
            <a:srgbClr val="FBF7F6"/>
          </a:solidFill>
          <a:ln w="11430">
            <a:solidFill>
              <a:srgbClr val="DD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37" name="Rectangle 17436"/>
          <p:cNvSpPr/>
          <p:nvPr/>
        </p:nvSpPr>
        <p:spPr>
          <a:xfrm>
            <a:off x="4215384" y="2249424"/>
            <a:ext cx="32004" cy="694944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38" name="TextBox 17437"/>
          <p:cNvSpPr txBox="1"/>
          <p:nvPr/>
        </p:nvSpPr>
        <p:spPr>
          <a:xfrm>
            <a:off x="4343400" y="2359152"/>
            <a:ext cx="3675887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12161F"/>
                </a:solidFill>
                <a:latin typeface="Segoe UI"/>
              </a:rPr>
              <a:t>No public archive of past arrivals</a:t>
            </a:r>
          </a:p>
        </p:txBody>
      </p:sp>
      <p:sp>
        <p:nvSpPr>
          <p:cNvPr id="17439" name="TextBox 17438"/>
          <p:cNvSpPr txBox="1"/>
          <p:nvPr/>
        </p:nvSpPr>
        <p:spPr>
          <a:xfrm>
            <a:off x="4343400" y="2615184"/>
            <a:ext cx="3675887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80" b="0">
                <a:solidFill>
                  <a:srgbClr val="5B6472"/>
                </a:solidFill>
                <a:latin typeface="Segoe UI"/>
              </a:rPr>
              <a:t>None exists, so history is accumulated by polling a live feed — already collecting.</a:t>
            </a:r>
          </a:p>
        </p:txBody>
      </p:sp>
      <p:sp>
        <p:nvSpPr>
          <p:cNvPr id="17440" name="Rectangle 17439"/>
          <p:cNvSpPr/>
          <p:nvPr/>
        </p:nvSpPr>
        <p:spPr>
          <a:xfrm>
            <a:off x="4215384" y="3035808"/>
            <a:ext cx="3931920" cy="694944"/>
          </a:xfrm>
          <a:prstGeom prst="rect">
            <a:avLst/>
          </a:prstGeom>
          <a:solidFill>
            <a:srgbClr val="FBF7F6"/>
          </a:solidFill>
          <a:ln w="11430">
            <a:solidFill>
              <a:srgbClr val="DD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41" name="Rectangle 17440"/>
          <p:cNvSpPr/>
          <p:nvPr/>
        </p:nvSpPr>
        <p:spPr>
          <a:xfrm>
            <a:off x="4215384" y="3035808"/>
            <a:ext cx="32004" cy="694944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42" name="TextBox 17441"/>
          <p:cNvSpPr txBox="1"/>
          <p:nvPr/>
        </p:nvSpPr>
        <p:spPr>
          <a:xfrm>
            <a:off x="4343400" y="3145536"/>
            <a:ext cx="3675887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12161F"/>
                </a:solidFill>
                <a:latin typeface="Segoe UI"/>
              </a:rPr>
              <a:t>Error compounding over a 40-hour run</a:t>
            </a:r>
          </a:p>
        </p:txBody>
      </p:sp>
      <p:sp>
        <p:nvSpPr>
          <p:cNvPr id="17443" name="TextBox 17442"/>
          <p:cNvSpPr txBox="1"/>
          <p:nvPr/>
        </p:nvSpPr>
        <p:spPr>
          <a:xfrm>
            <a:off x="4343400" y="3401568"/>
            <a:ext cx="3675887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80" b="0">
                <a:solidFill>
                  <a:srgbClr val="5B6472"/>
                </a:solidFill>
                <a:latin typeface="Segoe UI"/>
              </a:rPr>
              <a:t>Retired: each station is forecast in one shot from current state, never chained.</a:t>
            </a:r>
          </a:p>
        </p:txBody>
      </p:sp>
      <p:sp>
        <p:nvSpPr>
          <p:cNvPr id="17444" name="Rectangle 17443"/>
          <p:cNvSpPr/>
          <p:nvPr/>
        </p:nvSpPr>
        <p:spPr>
          <a:xfrm>
            <a:off x="4215384" y="3822191"/>
            <a:ext cx="3931920" cy="694944"/>
          </a:xfrm>
          <a:prstGeom prst="rect">
            <a:avLst/>
          </a:prstGeom>
          <a:solidFill>
            <a:srgbClr val="FBF7F6"/>
          </a:solidFill>
          <a:ln w="11430">
            <a:solidFill>
              <a:srgbClr val="DD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45" name="Rectangle 17444"/>
          <p:cNvSpPr/>
          <p:nvPr/>
        </p:nvSpPr>
        <p:spPr>
          <a:xfrm>
            <a:off x="4215384" y="3822191"/>
            <a:ext cx="32004" cy="694944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46" name="TextBox 17445"/>
          <p:cNvSpPr txBox="1"/>
          <p:nvPr/>
        </p:nvSpPr>
        <p:spPr>
          <a:xfrm>
            <a:off x="4343400" y="3931920"/>
            <a:ext cx="3675887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12161F"/>
                </a:solidFill>
                <a:latin typeface="Segoe UI"/>
              </a:rPr>
              <a:t>Coverage good on average, bad in a season</a:t>
            </a:r>
          </a:p>
        </p:txBody>
      </p:sp>
      <p:sp>
        <p:nvSpPr>
          <p:cNvPr id="17447" name="TextBox 17446"/>
          <p:cNvSpPr txBox="1"/>
          <p:nvPr/>
        </p:nvSpPr>
        <p:spPr>
          <a:xfrm>
            <a:off x="4343400" y="4187952"/>
            <a:ext cx="3675887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80" b="0">
                <a:solidFill>
                  <a:srgbClr val="5B6472"/>
                </a:solidFill>
                <a:latin typeface="Segoe UI"/>
              </a:rPr>
              <a:t>Retired: calibration is conditioned on segment, horizon and time of day, and audited per cell.</a:t>
            </a:r>
          </a:p>
        </p:txBody>
      </p:sp>
      <p:sp>
        <p:nvSpPr>
          <p:cNvPr id="17448" name="Rectangle 17447"/>
          <p:cNvSpPr/>
          <p:nvPr/>
        </p:nvSpPr>
        <p:spPr>
          <a:xfrm>
            <a:off x="4215384" y="4608576"/>
            <a:ext cx="3931920" cy="694944"/>
          </a:xfrm>
          <a:prstGeom prst="rect">
            <a:avLst/>
          </a:prstGeom>
          <a:solidFill>
            <a:srgbClr val="FBF7F6"/>
          </a:solidFill>
          <a:ln w="11430">
            <a:solidFill>
              <a:srgbClr val="DD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49" name="Rectangle 17448"/>
          <p:cNvSpPr/>
          <p:nvPr/>
        </p:nvSpPr>
        <p:spPr>
          <a:xfrm>
            <a:off x="4215384" y="4608576"/>
            <a:ext cx="32004" cy="694944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50" name="TextBox 17449"/>
          <p:cNvSpPr txBox="1"/>
          <p:nvPr/>
        </p:nvSpPr>
        <p:spPr>
          <a:xfrm>
            <a:off x="4343400" y="4718304"/>
            <a:ext cx="3675887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12161F"/>
                </a:solidFill>
                <a:latin typeface="Segoe UI"/>
              </a:rPr>
              <a:t>Controllers distrust a black box</a:t>
            </a:r>
          </a:p>
        </p:txBody>
      </p:sp>
      <p:sp>
        <p:nvSpPr>
          <p:cNvPr id="17451" name="TextBox 17450"/>
          <p:cNvSpPr txBox="1"/>
          <p:nvPr/>
        </p:nvSpPr>
        <p:spPr>
          <a:xfrm>
            <a:off x="4343400" y="4974336"/>
            <a:ext cx="3675887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80" b="0">
                <a:solidFill>
                  <a:srgbClr val="5B6472"/>
                </a:solidFill>
                <a:latin typeface="Segoe UI"/>
              </a:rPr>
              <a:t>Every forecast names the blocking train and section. Advisory only — the system issues no movement order.</a:t>
            </a:r>
          </a:p>
        </p:txBody>
      </p:sp>
      <p:sp>
        <p:nvSpPr>
          <p:cNvPr id="17452" name="TextBox 17451"/>
          <p:cNvSpPr txBox="1"/>
          <p:nvPr/>
        </p:nvSpPr>
        <p:spPr>
          <a:xfrm>
            <a:off x="8366760" y="1207008"/>
            <a:ext cx="3657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1">
                <a:solidFill>
                  <a:srgbClr val="B45309"/>
                </a:solidFill>
                <a:latin typeface="Consolas"/>
              </a:rPr>
              <a:t>STATUS TODAY</a:t>
            </a:r>
          </a:p>
        </p:txBody>
      </p:sp>
      <p:sp>
        <p:nvSpPr>
          <p:cNvPr id="17453" name="Rectangle 17452"/>
          <p:cNvSpPr/>
          <p:nvPr/>
        </p:nvSpPr>
        <p:spPr>
          <a:xfrm>
            <a:off x="8366760" y="1463040"/>
            <a:ext cx="3273552" cy="365760"/>
          </a:xfrm>
          <a:prstGeom prst="rect">
            <a:avLst/>
          </a:prstGeom>
          <a:solidFill>
            <a:srgbClr val="EFF5F4"/>
          </a:solidFill>
          <a:ln w="8890">
            <a:solidFill>
              <a:srgbClr val="DD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54" name="TextBox 17453"/>
          <p:cNvSpPr txBox="1"/>
          <p:nvPr/>
        </p:nvSpPr>
        <p:spPr>
          <a:xfrm>
            <a:off x="8476488" y="1554480"/>
            <a:ext cx="274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0F766E"/>
                </a:solidFill>
                <a:latin typeface="Segoe UI"/>
              </a:rPr>
              <a:t>✓</a:t>
            </a:r>
          </a:p>
        </p:txBody>
      </p:sp>
      <p:sp>
        <p:nvSpPr>
          <p:cNvPr id="17455" name="TextBox 17454"/>
          <p:cNvSpPr txBox="1"/>
          <p:nvPr/>
        </p:nvSpPr>
        <p:spPr>
          <a:xfrm>
            <a:off x="8769096" y="1563624"/>
            <a:ext cx="2743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>
                <a:solidFill>
                  <a:srgbClr val="12161F"/>
                </a:solidFill>
                <a:latin typeface="Segoe UI"/>
              </a:rPr>
              <a:t>Corridor from the real timetable</a:t>
            </a:r>
          </a:p>
        </p:txBody>
      </p:sp>
      <p:sp>
        <p:nvSpPr>
          <p:cNvPr id="17456" name="Rectangle 17455"/>
          <p:cNvSpPr/>
          <p:nvPr/>
        </p:nvSpPr>
        <p:spPr>
          <a:xfrm>
            <a:off x="8366760" y="1883664"/>
            <a:ext cx="3273552" cy="365760"/>
          </a:xfrm>
          <a:prstGeom prst="rect">
            <a:avLst/>
          </a:prstGeom>
          <a:solidFill>
            <a:srgbClr val="EFF5F4"/>
          </a:solidFill>
          <a:ln w="8890">
            <a:solidFill>
              <a:srgbClr val="DD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57" name="TextBox 17456"/>
          <p:cNvSpPr txBox="1"/>
          <p:nvPr/>
        </p:nvSpPr>
        <p:spPr>
          <a:xfrm>
            <a:off x="8476488" y="1975104"/>
            <a:ext cx="274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0F766E"/>
                </a:solidFill>
                <a:latin typeface="Segoe UI"/>
              </a:rPr>
              <a:t>✓</a:t>
            </a:r>
          </a:p>
        </p:txBody>
      </p:sp>
      <p:sp>
        <p:nvSpPr>
          <p:cNvPr id="17458" name="TextBox 17457"/>
          <p:cNvSpPr txBox="1"/>
          <p:nvPr/>
        </p:nvSpPr>
        <p:spPr>
          <a:xfrm>
            <a:off x="8769096" y="1984248"/>
            <a:ext cx="2743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>
                <a:solidFill>
                  <a:srgbClr val="12161F"/>
                </a:solidFill>
                <a:latin typeface="Segoe UI"/>
              </a:rPr>
              <a:t>Block-graph conflict simulator</a:t>
            </a:r>
          </a:p>
        </p:txBody>
      </p:sp>
      <p:sp>
        <p:nvSpPr>
          <p:cNvPr id="17459" name="Rectangle 17458"/>
          <p:cNvSpPr/>
          <p:nvPr/>
        </p:nvSpPr>
        <p:spPr>
          <a:xfrm>
            <a:off x="8366760" y="2304288"/>
            <a:ext cx="3273552" cy="365760"/>
          </a:xfrm>
          <a:prstGeom prst="rect">
            <a:avLst/>
          </a:prstGeom>
          <a:solidFill>
            <a:srgbClr val="EFF5F4"/>
          </a:solidFill>
          <a:ln w="8890">
            <a:solidFill>
              <a:srgbClr val="DD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60" name="TextBox 17459"/>
          <p:cNvSpPr txBox="1"/>
          <p:nvPr/>
        </p:nvSpPr>
        <p:spPr>
          <a:xfrm>
            <a:off x="8476488" y="2395728"/>
            <a:ext cx="274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0F766E"/>
                </a:solidFill>
                <a:latin typeface="Segoe UI"/>
              </a:rPr>
              <a:t>✓</a:t>
            </a:r>
          </a:p>
        </p:txBody>
      </p:sp>
      <p:sp>
        <p:nvSpPr>
          <p:cNvPr id="17461" name="TextBox 17460"/>
          <p:cNvSpPr txBox="1"/>
          <p:nvPr/>
        </p:nvSpPr>
        <p:spPr>
          <a:xfrm>
            <a:off x="8769096" y="2404872"/>
            <a:ext cx="2743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>
                <a:solidFill>
                  <a:srgbClr val="12161F"/>
                </a:solidFill>
                <a:latin typeface="Segoe UI"/>
              </a:rPr>
              <a:t>Four-stage forecast core</a:t>
            </a:r>
          </a:p>
        </p:txBody>
      </p:sp>
      <p:sp>
        <p:nvSpPr>
          <p:cNvPr id="17462" name="Rectangle 17461"/>
          <p:cNvSpPr/>
          <p:nvPr/>
        </p:nvSpPr>
        <p:spPr>
          <a:xfrm>
            <a:off x="8366760" y="2724912"/>
            <a:ext cx="3273552" cy="365760"/>
          </a:xfrm>
          <a:prstGeom prst="rect">
            <a:avLst/>
          </a:prstGeom>
          <a:solidFill>
            <a:srgbClr val="EFF5F4"/>
          </a:solidFill>
          <a:ln w="8890">
            <a:solidFill>
              <a:srgbClr val="DD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63" name="TextBox 17462"/>
          <p:cNvSpPr txBox="1"/>
          <p:nvPr/>
        </p:nvSpPr>
        <p:spPr>
          <a:xfrm>
            <a:off x="8476488" y="2816352"/>
            <a:ext cx="274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0F766E"/>
                </a:solidFill>
                <a:latin typeface="Segoe UI"/>
              </a:rPr>
              <a:t>✓</a:t>
            </a:r>
          </a:p>
        </p:txBody>
      </p:sp>
      <p:sp>
        <p:nvSpPr>
          <p:cNvPr id="17464" name="TextBox 17463"/>
          <p:cNvSpPr txBox="1"/>
          <p:nvPr/>
        </p:nvSpPr>
        <p:spPr>
          <a:xfrm>
            <a:off x="8769096" y="2825496"/>
            <a:ext cx="2743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>
                <a:solidFill>
                  <a:srgbClr val="12161F"/>
                </a:solidFill>
                <a:latin typeface="Segoe UI"/>
              </a:rPr>
              <a:t>Calibrated 80% window, audited</a:t>
            </a:r>
          </a:p>
        </p:txBody>
      </p:sp>
      <p:sp>
        <p:nvSpPr>
          <p:cNvPr id="17465" name="Rectangle 17464"/>
          <p:cNvSpPr/>
          <p:nvPr/>
        </p:nvSpPr>
        <p:spPr>
          <a:xfrm>
            <a:off x="8366760" y="3145536"/>
            <a:ext cx="3273552" cy="365760"/>
          </a:xfrm>
          <a:prstGeom prst="rect">
            <a:avLst/>
          </a:prstGeom>
          <a:solidFill>
            <a:srgbClr val="EFF5F4"/>
          </a:solidFill>
          <a:ln w="8890">
            <a:solidFill>
              <a:srgbClr val="DD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66" name="TextBox 17465"/>
          <p:cNvSpPr txBox="1"/>
          <p:nvPr/>
        </p:nvSpPr>
        <p:spPr>
          <a:xfrm>
            <a:off x="8476488" y="3236976"/>
            <a:ext cx="274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0F766E"/>
                </a:solidFill>
                <a:latin typeface="Segoe UI"/>
              </a:rPr>
              <a:t>✓</a:t>
            </a:r>
          </a:p>
        </p:txBody>
      </p:sp>
      <p:sp>
        <p:nvSpPr>
          <p:cNvPr id="17467" name="TextBox 17466"/>
          <p:cNvSpPr txBox="1"/>
          <p:nvPr/>
        </p:nvSpPr>
        <p:spPr>
          <a:xfrm>
            <a:off x="8769096" y="3246120"/>
            <a:ext cx="2743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>
                <a:solidFill>
                  <a:srgbClr val="12161F"/>
                </a:solidFill>
                <a:latin typeface="Segoe UI"/>
              </a:rPr>
              <a:t>Live feed connected, collecting</a:t>
            </a:r>
          </a:p>
        </p:txBody>
      </p:sp>
      <p:sp>
        <p:nvSpPr>
          <p:cNvPr id="17468" name="Rectangle 17467"/>
          <p:cNvSpPr/>
          <p:nvPr/>
        </p:nvSpPr>
        <p:spPr>
          <a:xfrm>
            <a:off x="8366760" y="3566160"/>
            <a:ext cx="3273552" cy="365760"/>
          </a:xfrm>
          <a:prstGeom prst="rect">
            <a:avLst/>
          </a:prstGeom>
          <a:solidFill>
            <a:srgbClr val="EFF5F4"/>
          </a:solidFill>
          <a:ln w="8890">
            <a:solidFill>
              <a:srgbClr val="DD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69" name="TextBox 17468"/>
          <p:cNvSpPr txBox="1"/>
          <p:nvPr/>
        </p:nvSpPr>
        <p:spPr>
          <a:xfrm>
            <a:off x="8476488" y="3657600"/>
            <a:ext cx="274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0F766E"/>
                </a:solidFill>
                <a:latin typeface="Segoe UI"/>
              </a:rPr>
              <a:t>✓</a:t>
            </a:r>
          </a:p>
        </p:txBody>
      </p:sp>
      <p:sp>
        <p:nvSpPr>
          <p:cNvPr id="17470" name="TextBox 17469"/>
          <p:cNvSpPr txBox="1"/>
          <p:nvPr/>
        </p:nvSpPr>
        <p:spPr>
          <a:xfrm>
            <a:off x="8769096" y="3666744"/>
            <a:ext cx="2743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>
                <a:solidFill>
                  <a:srgbClr val="12161F"/>
                </a:solidFill>
                <a:latin typeface="Segoe UI"/>
              </a:rPr>
              <a:t>Validation against real arrivals</a:t>
            </a:r>
          </a:p>
        </p:txBody>
      </p:sp>
      <p:sp>
        <p:nvSpPr>
          <p:cNvPr id="17471" name="Rectangle 17470"/>
          <p:cNvSpPr/>
          <p:nvPr/>
        </p:nvSpPr>
        <p:spPr>
          <a:xfrm>
            <a:off x="8366760" y="3986784"/>
            <a:ext cx="3273552" cy="365760"/>
          </a:xfrm>
          <a:prstGeom prst="rect">
            <a:avLst/>
          </a:prstGeom>
          <a:solidFill>
            <a:srgbClr val="F6F7F9"/>
          </a:solidFill>
          <a:ln w="8890">
            <a:solidFill>
              <a:srgbClr val="DD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72" name="TextBox 17471"/>
          <p:cNvSpPr txBox="1"/>
          <p:nvPr/>
        </p:nvSpPr>
        <p:spPr>
          <a:xfrm>
            <a:off x="8476488" y="4078224"/>
            <a:ext cx="274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8A94A3"/>
                </a:solidFill>
                <a:latin typeface="Segoe UI"/>
              </a:rPr>
              <a:t>○</a:t>
            </a:r>
          </a:p>
        </p:txBody>
      </p:sp>
      <p:sp>
        <p:nvSpPr>
          <p:cNvPr id="17473" name="TextBox 17472"/>
          <p:cNvSpPr txBox="1"/>
          <p:nvPr/>
        </p:nvSpPr>
        <p:spPr>
          <a:xfrm>
            <a:off x="8769096" y="4087368"/>
            <a:ext cx="2743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>
                <a:solidFill>
                  <a:srgbClr val="5B6472"/>
                </a:solidFill>
                <a:latin typeface="Segoe UI"/>
              </a:rPr>
              <a:t>Delay model fitted to real data</a:t>
            </a:r>
          </a:p>
        </p:txBody>
      </p:sp>
      <p:sp>
        <p:nvSpPr>
          <p:cNvPr id="17474" name="Rectangle 17473"/>
          <p:cNvSpPr/>
          <p:nvPr/>
        </p:nvSpPr>
        <p:spPr>
          <a:xfrm>
            <a:off x="8366760" y="4407408"/>
            <a:ext cx="3273552" cy="365760"/>
          </a:xfrm>
          <a:prstGeom prst="rect">
            <a:avLst/>
          </a:prstGeom>
          <a:solidFill>
            <a:srgbClr val="F6F7F9"/>
          </a:solidFill>
          <a:ln w="8890">
            <a:solidFill>
              <a:srgbClr val="DD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75" name="TextBox 17474"/>
          <p:cNvSpPr txBox="1"/>
          <p:nvPr/>
        </p:nvSpPr>
        <p:spPr>
          <a:xfrm>
            <a:off x="8476488" y="4498848"/>
            <a:ext cx="274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8A94A3"/>
                </a:solidFill>
                <a:latin typeface="Segoe UI"/>
              </a:rPr>
              <a:t>○</a:t>
            </a:r>
          </a:p>
        </p:txBody>
      </p:sp>
      <p:sp>
        <p:nvSpPr>
          <p:cNvPr id="17476" name="TextBox 17475"/>
          <p:cNvSpPr txBox="1"/>
          <p:nvPr/>
        </p:nvSpPr>
        <p:spPr>
          <a:xfrm>
            <a:off x="8769096" y="4507992"/>
            <a:ext cx="2743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>
                <a:solidFill>
                  <a:srgbClr val="5B6472"/>
                </a:solidFill>
                <a:latin typeface="Segoe UI"/>
              </a:rPr>
              <a:t>Serving stack and passenger apps</a:t>
            </a:r>
          </a:p>
        </p:txBody>
      </p:sp>
      <p:sp>
        <p:nvSpPr>
          <p:cNvPr id="17477" name="Rectangle 17476"/>
          <p:cNvSpPr/>
          <p:nvPr/>
        </p:nvSpPr>
        <p:spPr>
          <a:xfrm>
            <a:off x="8366760" y="4828032"/>
            <a:ext cx="3273552" cy="365760"/>
          </a:xfrm>
          <a:prstGeom prst="rect">
            <a:avLst/>
          </a:prstGeom>
          <a:solidFill>
            <a:srgbClr val="F6F7F9"/>
          </a:solidFill>
          <a:ln w="8890">
            <a:solidFill>
              <a:srgbClr val="DD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78" name="TextBox 17477"/>
          <p:cNvSpPr txBox="1"/>
          <p:nvPr/>
        </p:nvSpPr>
        <p:spPr>
          <a:xfrm>
            <a:off x="8476488" y="4919472"/>
            <a:ext cx="274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8A94A3"/>
                </a:solidFill>
                <a:latin typeface="Segoe UI"/>
              </a:rPr>
              <a:t>○</a:t>
            </a:r>
          </a:p>
        </p:txBody>
      </p:sp>
      <p:sp>
        <p:nvSpPr>
          <p:cNvPr id="17479" name="TextBox 17478"/>
          <p:cNvSpPr txBox="1"/>
          <p:nvPr/>
        </p:nvSpPr>
        <p:spPr>
          <a:xfrm>
            <a:off x="8769096" y="4928616"/>
            <a:ext cx="2743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>
                <a:solidFill>
                  <a:srgbClr val="5B6472"/>
                </a:solidFill>
                <a:latin typeface="Segoe UI"/>
              </a:rPr>
              <a:t>Shadow-mode pilot on a corridor</a:t>
            </a:r>
          </a:p>
        </p:txBody>
      </p:sp>
      <p:sp>
        <p:nvSpPr>
          <p:cNvPr id="17480" name="TextBox 17479"/>
          <p:cNvSpPr txBox="1"/>
          <p:nvPr/>
        </p:nvSpPr>
        <p:spPr>
          <a:xfrm>
            <a:off x="8366760" y="5303520"/>
            <a:ext cx="32735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5B6472"/>
                </a:solidFill>
                <a:latin typeface="Segoe UI"/>
              </a:rPr>
              <a:t>Six of nine stages are built and measured. The remaining three are engineering, not research.</a:t>
            </a:r>
          </a:p>
        </p:txBody>
      </p:sp>
      <p:sp>
        <p:nvSpPr>
          <p:cNvPr id="17481" name="TextBox 17480"/>
          <p:cNvSpPr txBox="1"/>
          <p:nvPr/>
        </p:nvSpPr>
        <p:spPr>
          <a:xfrm>
            <a:off x="411480" y="5431536"/>
            <a:ext cx="4572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1">
                <a:solidFill>
                  <a:srgbClr val="B45309"/>
                </a:solidFill>
                <a:latin typeface="Consolas"/>
              </a:rPr>
              <a:t>ROADMAP</a:t>
            </a:r>
          </a:p>
        </p:txBody>
      </p:sp>
      <p:sp>
        <p:nvSpPr>
          <p:cNvPr id="17482" name="Rectangle 17481"/>
          <p:cNvSpPr/>
          <p:nvPr/>
        </p:nvSpPr>
        <p:spPr>
          <a:xfrm>
            <a:off x="411480" y="5705856"/>
            <a:ext cx="1802892" cy="420624"/>
          </a:xfrm>
          <a:prstGeom prst="rect">
            <a:avLst/>
          </a:prstGeom>
          <a:solidFill>
            <a:srgbClr val="F6F7F9"/>
          </a:solidFill>
          <a:ln w="10160">
            <a:solidFill>
              <a:srgbClr val="DD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83" name="TextBox 17482"/>
          <p:cNvSpPr txBox="1"/>
          <p:nvPr/>
        </p:nvSpPr>
        <p:spPr>
          <a:xfrm>
            <a:off x="502920" y="5760720"/>
            <a:ext cx="3657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1">
                <a:solidFill>
                  <a:srgbClr val="B45309"/>
                </a:solidFill>
                <a:latin typeface="Consolas"/>
              </a:rPr>
              <a:t>01</a:t>
            </a:r>
          </a:p>
        </p:txBody>
      </p:sp>
      <p:sp>
        <p:nvSpPr>
          <p:cNvPr id="17484" name="TextBox 17483"/>
          <p:cNvSpPr txBox="1"/>
          <p:nvPr/>
        </p:nvSpPr>
        <p:spPr>
          <a:xfrm>
            <a:off x="502920" y="5925312"/>
            <a:ext cx="162001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>
                <a:solidFill>
                  <a:srgbClr val="12161F"/>
                </a:solidFill>
                <a:latin typeface="Segoe UI"/>
              </a:rPr>
              <a:t>Collect live arrivals</a:t>
            </a:r>
          </a:p>
        </p:txBody>
      </p:sp>
      <p:cxnSp>
        <p:nvCxnSpPr>
          <p:cNvPr id="17485" name="Connector 17484"/>
          <p:cNvCxnSpPr/>
          <p:nvPr/>
        </p:nvCxnSpPr>
        <p:spPr>
          <a:xfrm>
            <a:off x="2214372" y="5916168"/>
            <a:ext cx="91440" cy="0"/>
          </a:xfrm>
          <a:prstGeom prst="line">
            <a:avLst/>
          </a:prstGeom>
          <a:ln w="13970">
            <a:solidFill>
              <a:srgbClr val="8A94A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86" name="Rectangle 17485"/>
          <p:cNvSpPr/>
          <p:nvPr/>
        </p:nvSpPr>
        <p:spPr>
          <a:xfrm>
            <a:off x="2324100" y="5705856"/>
            <a:ext cx="1802892" cy="420624"/>
          </a:xfrm>
          <a:prstGeom prst="rect">
            <a:avLst/>
          </a:prstGeom>
          <a:solidFill>
            <a:srgbClr val="F6F7F9"/>
          </a:solidFill>
          <a:ln w="10160">
            <a:solidFill>
              <a:srgbClr val="DD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87" name="TextBox 17486"/>
          <p:cNvSpPr txBox="1"/>
          <p:nvPr/>
        </p:nvSpPr>
        <p:spPr>
          <a:xfrm>
            <a:off x="2415540" y="5760720"/>
            <a:ext cx="3657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1">
                <a:solidFill>
                  <a:srgbClr val="B45309"/>
                </a:solidFill>
                <a:latin typeface="Consolas"/>
              </a:rPr>
              <a:t>02</a:t>
            </a:r>
          </a:p>
        </p:txBody>
      </p:sp>
      <p:sp>
        <p:nvSpPr>
          <p:cNvPr id="17488" name="TextBox 17487"/>
          <p:cNvSpPr txBox="1"/>
          <p:nvPr/>
        </p:nvSpPr>
        <p:spPr>
          <a:xfrm>
            <a:off x="2415540" y="5925312"/>
            <a:ext cx="162001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>
                <a:solidFill>
                  <a:srgbClr val="12161F"/>
                </a:solidFill>
                <a:latin typeface="Segoe UI"/>
              </a:rPr>
              <a:t>Refit the delay model</a:t>
            </a:r>
          </a:p>
        </p:txBody>
      </p:sp>
      <p:cxnSp>
        <p:nvCxnSpPr>
          <p:cNvPr id="17489" name="Connector 17488"/>
          <p:cNvCxnSpPr/>
          <p:nvPr/>
        </p:nvCxnSpPr>
        <p:spPr>
          <a:xfrm>
            <a:off x="4126992" y="5916168"/>
            <a:ext cx="91440" cy="0"/>
          </a:xfrm>
          <a:prstGeom prst="line">
            <a:avLst/>
          </a:prstGeom>
          <a:ln w="13970">
            <a:solidFill>
              <a:srgbClr val="8A94A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90" name="Rectangle 17489"/>
          <p:cNvSpPr/>
          <p:nvPr/>
        </p:nvSpPr>
        <p:spPr>
          <a:xfrm>
            <a:off x="4236720" y="5705856"/>
            <a:ext cx="1802892" cy="420624"/>
          </a:xfrm>
          <a:prstGeom prst="rect">
            <a:avLst/>
          </a:prstGeom>
          <a:solidFill>
            <a:srgbClr val="F6F7F9"/>
          </a:solidFill>
          <a:ln w="10160">
            <a:solidFill>
              <a:srgbClr val="DD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91" name="TextBox 17490"/>
          <p:cNvSpPr txBox="1"/>
          <p:nvPr/>
        </p:nvSpPr>
        <p:spPr>
          <a:xfrm>
            <a:off x="4328160" y="5760720"/>
            <a:ext cx="3657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1">
                <a:solidFill>
                  <a:srgbClr val="B45309"/>
                </a:solidFill>
                <a:latin typeface="Consolas"/>
              </a:rPr>
              <a:t>03</a:t>
            </a:r>
          </a:p>
        </p:txBody>
      </p:sp>
      <p:sp>
        <p:nvSpPr>
          <p:cNvPr id="17492" name="TextBox 17491"/>
          <p:cNvSpPr txBox="1"/>
          <p:nvPr/>
        </p:nvSpPr>
        <p:spPr>
          <a:xfrm>
            <a:off x="4328160" y="5925312"/>
            <a:ext cx="162001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>
                <a:solidFill>
                  <a:srgbClr val="12161F"/>
                </a:solidFill>
                <a:latin typeface="Segoe UI"/>
              </a:rPr>
              <a:t>Zonal pilot</a:t>
            </a:r>
          </a:p>
        </p:txBody>
      </p:sp>
      <p:cxnSp>
        <p:nvCxnSpPr>
          <p:cNvPr id="17493" name="Connector 17492"/>
          <p:cNvCxnSpPr/>
          <p:nvPr/>
        </p:nvCxnSpPr>
        <p:spPr>
          <a:xfrm>
            <a:off x="6039612" y="5916168"/>
            <a:ext cx="91440" cy="0"/>
          </a:xfrm>
          <a:prstGeom prst="line">
            <a:avLst/>
          </a:prstGeom>
          <a:ln w="13970">
            <a:solidFill>
              <a:srgbClr val="8A94A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94" name="Rectangle 17493"/>
          <p:cNvSpPr/>
          <p:nvPr/>
        </p:nvSpPr>
        <p:spPr>
          <a:xfrm>
            <a:off x="6149340" y="5705856"/>
            <a:ext cx="1802892" cy="420624"/>
          </a:xfrm>
          <a:prstGeom prst="rect">
            <a:avLst/>
          </a:prstGeom>
          <a:solidFill>
            <a:srgbClr val="F6F7F9"/>
          </a:solidFill>
          <a:ln w="10160">
            <a:solidFill>
              <a:srgbClr val="DD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95" name="TextBox 17494"/>
          <p:cNvSpPr txBox="1"/>
          <p:nvPr/>
        </p:nvSpPr>
        <p:spPr>
          <a:xfrm>
            <a:off x="6240780" y="5760720"/>
            <a:ext cx="3657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1">
                <a:solidFill>
                  <a:srgbClr val="B45309"/>
                </a:solidFill>
                <a:latin typeface="Consolas"/>
              </a:rPr>
              <a:t>04</a:t>
            </a:r>
          </a:p>
        </p:txBody>
      </p:sp>
      <p:sp>
        <p:nvSpPr>
          <p:cNvPr id="17496" name="TextBox 17495"/>
          <p:cNvSpPr txBox="1"/>
          <p:nvPr/>
        </p:nvSpPr>
        <p:spPr>
          <a:xfrm>
            <a:off x="6240780" y="5925312"/>
            <a:ext cx="162001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>
                <a:solidFill>
                  <a:srgbClr val="12161F"/>
                </a:solidFill>
                <a:latin typeface="Segoe UI"/>
              </a:rPr>
              <a:t>Serving stack</a:t>
            </a:r>
          </a:p>
        </p:txBody>
      </p:sp>
      <p:cxnSp>
        <p:nvCxnSpPr>
          <p:cNvPr id="17497" name="Connector 17496"/>
          <p:cNvCxnSpPr/>
          <p:nvPr/>
        </p:nvCxnSpPr>
        <p:spPr>
          <a:xfrm>
            <a:off x="7952232" y="5916168"/>
            <a:ext cx="91440" cy="0"/>
          </a:xfrm>
          <a:prstGeom prst="line">
            <a:avLst/>
          </a:prstGeom>
          <a:ln w="13970">
            <a:solidFill>
              <a:srgbClr val="8A94A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98" name="Rectangle 17497"/>
          <p:cNvSpPr/>
          <p:nvPr/>
        </p:nvSpPr>
        <p:spPr>
          <a:xfrm>
            <a:off x="8061960" y="5705856"/>
            <a:ext cx="1802892" cy="420624"/>
          </a:xfrm>
          <a:prstGeom prst="rect">
            <a:avLst/>
          </a:prstGeom>
          <a:solidFill>
            <a:srgbClr val="F6F7F9"/>
          </a:solidFill>
          <a:ln w="10160">
            <a:solidFill>
              <a:srgbClr val="DD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99" name="TextBox 17498"/>
          <p:cNvSpPr txBox="1"/>
          <p:nvPr/>
        </p:nvSpPr>
        <p:spPr>
          <a:xfrm>
            <a:off x="8153399" y="5760720"/>
            <a:ext cx="3657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1">
                <a:solidFill>
                  <a:srgbClr val="B45309"/>
                </a:solidFill>
                <a:latin typeface="Consolas"/>
              </a:rPr>
              <a:t>05</a:t>
            </a:r>
          </a:p>
        </p:txBody>
      </p:sp>
      <p:sp>
        <p:nvSpPr>
          <p:cNvPr id="17500" name="TextBox 17499"/>
          <p:cNvSpPr txBox="1"/>
          <p:nvPr/>
        </p:nvSpPr>
        <p:spPr>
          <a:xfrm>
            <a:off x="8153399" y="5925312"/>
            <a:ext cx="162001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>
                <a:solidFill>
                  <a:srgbClr val="12161F"/>
                </a:solidFill>
                <a:latin typeface="Segoe UI"/>
              </a:rPr>
              <a:t>Passenger channels</a:t>
            </a:r>
          </a:p>
        </p:txBody>
      </p:sp>
      <p:cxnSp>
        <p:nvCxnSpPr>
          <p:cNvPr id="17501" name="Connector 17500"/>
          <p:cNvCxnSpPr/>
          <p:nvPr/>
        </p:nvCxnSpPr>
        <p:spPr>
          <a:xfrm>
            <a:off x="9864852" y="5916168"/>
            <a:ext cx="91440" cy="0"/>
          </a:xfrm>
          <a:prstGeom prst="line">
            <a:avLst/>
          </a:prstGeom>
          <a:ln w="13970">
            <a:solidFill>
              <a:srgbClr val="8A94A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502" name="Rectangle 17501"/>
          <p:cNvSpPr/>
          <p:nvPr/>
        </p:nvSpPr>
        <p:spPr>
          <a:xfrm>
            <a:off x="9974580" y="5705856"/>
            <a:ext cx="1802892" cy="420624"/>
          </a:xfrm>
          <a:prstGeom prst="rect">
            <a:avLst/>
          </a:prstGeom>
          <a:solidFill>
            <a:srgbClr val="EFF5F4"/>
          </a:solidFill>
          <a:ln w="1016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503" name="TextBox 17502"/>
          <p:cNvSpPr txBox="1"/>
          <p:nvPr/>
        </p:nvSpPr>
        <p:spPr>
          <a:xfrm>
            <a:off x="10066020" y="5760720"/>
            <a:ext cx="3657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1">
                <a:solidFill>
                  <a:srgbClr val="B45309"/>
                </a:solidFill>
                <a:latin typeface="Consolas"/>
              </a:rPr>
              <a:t>06</a:t>
            </a:r>
          </a:p>
        </p:txBody>
      </p:sp>
      <p:sp>
        <p:nvSpPr>
          <p:cNvPr id="17504" name="TextBox 17503"/>
          <p:cNvSpPr txBox="1"/>
          <p:nvPr/>
        </p:nvSpPr>
        <p:spPr>
          <a:xfrm>
            <a:off x="10066020" y="5925312"/>
            <a:ext cx="162001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>
                <a:solidFill>
                  <a:srgbClr val="12161F"/>
                </a:solidFill>
                <a:latin typeface="Segoe UI"/>
              </a:rPr>
              <a:t>Shadow mode, then rollout</a:t>
            </a:r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 b="1"/>
              <a:t>IMPACT AND BENEFITS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sz="1000" b="1"/>
              <a:t>[TEAM NAME]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Rectangle 17409"/>
          <p:cNvSpPr/>
          <p:nvPr/>
        </p:nvSpPr>
        <p:spPr>
          <a:xfrm>
            <a:off x="411480" y="1207008"/>
            <a:ext cx="2724912" cy="914400"/>
          </a:xfrm>
          <a:prstGeom prst="rect">
            <a:avLst/>
          </a:prstGeom>
          <a:solidFill>
            <a:srgbClr val="FFFFFF"/>
          </a:solidFill>
          <a:ln w="10160">
            <a:solidFill>
              <a:srgbClr val="DD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11" name="Rectangle 17410"/>
          <p:cNvSpPr/>
          <p:nvPr/>
        </p:nvSpPr>
        <p:spPr>
          <a:xfrm>
            <a:off x="411480" y="1207008"/>
            <a:ext cx="2724912" cy="27432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12" name="TextBox 17411"/>
          <p:cNvSpPr txBox="1"/>
          <p:nvPr/>
        </p:nvSpPr>
        <p:spPr>
          <a:xfrm>
            <a:off x="539496" y="1325880"/>
            <a:ext cx="24688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300" b="1">
                <a:solidFill>
                  <a:srgbClr val="B45309"/>
                </a:solidFill>
                <a:latin typeface="Segoe UI"/>
              </a:rPr>
              <a:t>60%</a:t>
            </a:r>
          </a:p>
        </p:txBody>
      </p:sp>
      <p:sp>
        <p:nvSpPr>
          <p:cNvPr id="17413" name="TextBox 17412"/>
          <p:cNvSpPr txBox="1"/>
          <p:nvPr/>
        </p:nvSpPr>
        <p:spPr>
          <a:xfrm>
            <a:off x="539496" y="1664208"/>
            <a:ext cx="24688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12161F"/>
                </a:solidFill>
                <a:latin typeface="Segoe UI"/>
              </a:rPr>
              <a:t>lower mean ETA error</a:t>
            </a:r>
          </a:p>
        </p:txBody>
      </p:sp>
      <p:sp>
        <p:nvSpPr>
          <p:cNvPr id="17414" name="TextBox 17413"/>
          <p:cNvSpPr txBox="1"/>
          <p:nvPr/>
        </p:nvSpPr>
        <p:spPr>
          <a:xfrm>
            <a:off x="539496" y="1856232"/>
            <a:ext cx="24688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80" b="0">
                <a:solidFill>
                  <a:srgbClr val="5B6472"/>
                </a:solidFill>
                <a:latin typeface="Segoe UI"/>
              </a:rPr>
              <a:t>26.9 → 10.9 min</a:t>
            </a:r>
          </a:p>
        </p:txBody>
      </p:sp>
      <p:sp>
        <p:nvSpPr>
          <p:cNvPr id="17415" name="Rectangle 17414"/>
          <p:cNvSpPr/>
          <p:nvPr/>
        </p:nvSpPr>
        <p:spPr>
          <a:xfrm>
            <a:off x="3282696" y="1207008"/>
            <a:ext cx="2724912" cy="914400"/>
          </a:xfrm>
          <a:prstGeom prst="rect">
            <a:avLst/>
          </a:prstGeom>
          <a:solidFill>
            <a:srgbClr val="FFFFFF"/>
          </a:solidFill>
          <a:ln w="10160">
            <a:solidFill>
              <a:srgbClr val="DD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16" name="Rectangle 17415"/>
          <p:cNvSpPr/>
          <p:nvPr/>
        </p:nvSpPr>
        <p:spPr>
          <a:xfrm>
            <a:off x="3282696" y="1207008"/>
            <a:ext cx="2724912" cy="27432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17" name="TextBox 17416"/>
          <p:cNvSpPr txBox="1"/>
          <p:nvPr/>
        </p:nvSpPr>
        <p:spPr>
          <a:xfrm>
            <a:off x="3410712" y="1325880"/>
            <a:ext cx="24688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300" b="1">
                <a:solidFill>
                  <a:srgbClr val="B45309"/>
                </a:solidFill>
                <a:latin typeface="Segoe UI"/>
              </a:rPr>
              <a:t>62%</a:t>
            </a:r>
          </a:p>
        </p:txBody>
      </p:sp>
      <p:sp>
        <p:nvSpPr>
          <p:cNvPr id="17418" name="TextBox 17417"/>
          <p:cNvSpPr txBox="1"/>
          <p:nvPr/>
        </p:nvSpPr>
        <p:spPr>
          <a:xfrm>
            <a:off x="3410712" y="1664208"/>
            <a:ext cx="24688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12161F"/>
                </a:solidFill>
                <a:latin typeface="Segoe UI"/>
              </a:rPr>
              <a:t>lower P90 error</a:t>
            </a:r>
          </a:p>
        </p:txBody>
      </p:sp>
      <p:sp>
        <p:nvSpPr>
          <p:cNvPr id="17419" name="TextBox 17418"/>
          <p:cNvSpPr txBox="1"/>
          <p:nvPr/>
        </p:nvSpPr>
        <p:spPr>
          <a:xfrm>
            <a:off x="3410712" y="1856232"/>
            <a:ext cx="24688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80" b="0">
                <a:solidFill>
                  <a:srgbClr val="5B6472"/>
                </a:solidFill>
                <a:latin typeface="Segoe UI"/>
              </a:rPr>
              <a:t>77 → 29 min</a:t>
            </a:r>
          </a:p>
        </p:txBody>
      </p:sp>
      <p:sp>
        <p:nvSpPr>
          <p:cNvPr id="17420" name="Rectangle 17419"/>
          <p:cNvSpPr/>
          <p:nvPr/>
        </p:nvSpPr>
        <p:spPr>
          <a:xfrm>
            <a:off x="6153912" y="1207008"/>
            <a:ext cx="2724912" cy="914400"/>
          </a:xfrm>
          <a:prstGeom prst="rect">
            <a:avLst/>
          </a:prstGeom>
          <a:solidFill>
            <a:srgbClr val="FFFFFF"/>
          </a:solidFill>
          <a:ln w="10160">
            <a:solidFill>
              <a:srgbClr val="DD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21" name="Rectangle 17420"/>
          <p:cNvSpPr/>
          <p:nvPr/>
        </p:nvSpPr>
        <p:spPr>
          <a:xfrm>
            <a:off x="6153912" y="1207008"/>
            <a:ext cx="2724912" cy="27432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22" name="TextBox 17421"/>
          <p:cNvSpPr txBox="1"/>
          <p:nvPr/>
        </p:nvSpPr>
        <p:spPr>
          <a:xfrm>
            <a:off x="6281928" y="1325880"/>
            <a:ext cx="24688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300" b="1">
                <a:solidFill>
                  <a:srgbClr val="0F766E"/>
                </a:solidFill>
                <a:latin typeface="Segoe UI"/>
              </a:rPr>
              <a:t>78.4%</a:t>
            </a:r>
          </a:p>
        </p:txBody>
      </p:sp>
      <p:sp>
        <p:nvSpPr>
          <p:cNvPr id="17423" name="TextBox 17422"/>
          <p:cNvSpPr txBox="1"/>
          <p:nvPr/>
        </p:nvSpPr>
        <p:spPr>
          <a:xfrm>
            <a:off x="6281928" y="1664208"/>
            <a:ext cx="24688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12161F"/>
                </a:solidFill>
                <a:latin typeface="Segoe UI"/>
              </a:rPr>
              <a:t>coverage achieved</a:t>
            </a:r>
          </a:p>
        </p:txBody>
      </p:sp>
      <p:sp>
        <p:nvSpPr>
          <p:cNvPr id="17424" name="TextBox 17423"/>
          <p:cNvSpPr txBox="1"/>
          <p:nvPr/>
        </p:nvSpPr>
        <p:spPr>
          <a:xfrm>
            <a:off x="6281928" y="1856232"/>
            <a:ext cx="24688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80" b="0">
                <a:solidFill>
                  <a:srgbClr val="5B6472"/>
                </a:solidFill>
                <a:latin typeface="Segoe UI"/>
              </a:rPr>
              <a:t>of the nominal 80% window</a:t>
            </a:r>
          </a:p>
        </p:txBody>
      </p:sp>
      <p:sp>
        <p:nvSpPr>
          <p:cNvPr id="17425" name="Rectangle 17424"/>
          <p:cNvSpPr/>
          <p:nvPr/>
        </p:nvSpPr>
        <p:spPr>
          <a:xfrm>
            <a:off x="9025128" y="1207008"/>
            <a:ext cx="2724912" cy="914400"/>
          </a:xfrm>
          <a:prstGeom prst="rect">
            <a:avLst/>
          </a:prstGeom>
          <a:solidFill>
            <a:srgbClr val="FFFFFF"/>
          </a:solidFill>
          <a:ln w="10160">
            <a:solidFill>
              <a:srgbClr val="DD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26" name="Rectangle 17425"/>
          <p:cNvSpPr/>
          <p:nvPr/>
        </p:nvSpPr>
        <p:spPr>
          <a:xfrm>
            <a:off x="9025128" y="1207008"/>
            <a:ext cx="2724912" cy="27432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27" name="TextBox 17426"/>
          <p:cNvSpPr txBox="1"/>
          <p:nvPr/>
        </p:nvSpPr>
        <p:spPr>
          <a:xfrm>
            <a:off x="9153144" y="1325880"/>
            <a:ext cx="24688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300" b="1">
                <a:solidFill>
                  <a:srgbClr val="0F766E"/>
                </a:solidFill>
                <a:latin typeface="Segoe UI"/>
              </a:rPr>
              <a:t>40 h</a:t>
            </a:r>
          </a:p>
        </p:txBody>
      </p:sp>
      <p:sp>
        <p:nvSpPr>
          <p:cNvPr id="17428" name="TextBox 17427"/>
          <p:cNvSpPr txBox="1"/>
          <p:nvPr/>
        </p:nvSpPr>
        <p:spPr>
          <a:xfrm>
            <a:off x="9153144" y="1664208"/>
            <a:ext cx="24688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12161F"/>
                </a:solidFill>
                <a:latin typeface="Segoe UI"/>
              </a:rPr>
              <a:t>forecast horizon</a:t>
            </a:r>
          </a:p>
        </p:txBody>
      </p:sp>
      <p:sp>
        <p:nvSpPr>
          <p:cNvPr id="17429" name="TextBox 17428"/>
          <p:cNvSpPr txBox="1"/>
          <p:nvPr/>
        </p:nvSpPr>
        <p:spPr>
          <a:xfrm>
            <a:off x="9153144" y="1856232"/>
            <a:ext cx="24688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80" b="0">
                <a:solidFill>
                  <a:srgbClr val="5B6472"/>
                </a:solidFill>
                <a:latin typeface="Segoe UI"/>
              </a:rPr>
              <a:t>station by station</a:t>
            </a:r>
          </a:p>
        </p:txBody>
      </p:sp>
      <p:sp>
        <p:nvSpPr>
          <p:cNvPr id="17430" name="TextBox 17429"/>
          <p:cNvSpPr txBox="1"/>
          <p:nvPr/>
        </p:nvSpPr>
        <p:spPr>
          <a:xfrm>
            <a:off x="411480" y="2176272"/>
            <a:ext cx="1136599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5B6472"/>
                </a:solidFill>
                <a:latin typeface="Segoe UI"/>
              </a:rPr>
              <a:t>Measured on 73,268 forecasts from held-out days, against carry-forward computed on exactly the same rows.</a:t>
            </a:r>
          </a:p>
        </p:txBody>
      </p:sp>
      <p:pic>
        <p:nvPicPr>
          <p:cNvPr id="17431" name="Picture 17430" descr="01_mae_by_horiz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" y="2414016"/>
            <a:ext cx="5440680" cy="2769801"/>
          </a:xfrm>
          <a:prstGeom prst="rect">
            <a:avLst/>
          </a:prstGeom>
        </p:spPr>
      </p:pic>
      <p:sp>
        <p:nvSpPr>
          <p:cNvPr id="17432" name="TextBox 17431"/>
          <p:cNvSpPr txBox="1"/>
          <p:nvPr/>
        </p:nvSpPr>
        <p:spPr>
          <a:xfrm>
            <a:off x="411480" y="5193792"/>
            <a:ext cx="544068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5B6472"/>
                </a:solidFill>
                <a:latin typeface="Segoe UI"/>
              </a:rPr>
              <a:t>Carry-forward is adequate for the next station and collapses beyond a few hours — the horizon passengers actually plan against.</a:t>
            </a:r>
          </a:p>
        </p:txBody>
      </p:sp>
      <p:sp>
        <p:nvSpPr>
          <p:cNvPr id="17433" name="TextBox 17432"/>
          <p:cNvSpPr txBox="1"/>
          <p:nvPr/>
        </p:nvSpPr>
        <p:spPr>
          <a:xfrm>
            <a:off x="6153912" y="2414016"/>
            <a:ext cx="5486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1">
                <a:solidFill>
                  <a:srgbClr val="0F766E"/>
                </a:solidFill>
                <a:latin typeface="Consolas"/>
              </a:rPr>
              <a:t>WHO FEELS THE DIFFERENCE</a:t>
            </a:r>
          </a:p>
        </p:txBody>
      </p:sp>
      <p:sp>
        <p:nvSpPr>
          <p:cNvPr id="17434" name="Rectangle 17433"/>
          <p:cNvSpPr/>
          <p:nvPr/>
        </p:nvSpPr>
        <p:spPr>
          <a:xfrm>
            <a:off x="6153912" y="2688336"/>
            <a:ext cx="5623560" cy="640080"/>
          </a:xfrm>
          <a:prstGeom prst="rect">
            <a:avLst/>
          </a:prstGeom>
          <a:solidFill>
            <a:srgbClr val="EFF5F4"/>
          </a:solidFill>
          <a:ln w="11430">
            <a:solidFill>
              <a:srgbClr val="DD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35" name="Rectangle 17434"/>
          <p:cNvSpPr/>
          <p:nvPr/>
        </p:nvSpPr>
        <p:spPr>
          <a:xfrm>
            <a:off x="6153912" y="2688336"/>
            <a:ext cx="32004" cy="64008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36" name="TextBox 17435"/>
          <p:cNvSpPr txBox="1"/>
          <p:nvPr/>
        </p:nvSpPr>
        <p:spPr>
          <a:xfrm>
            <a:off x="6281928" y="2798064"/>
            <a:ext cx="536752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12161F"/>
                </a:solidFill>
                <a:latin typeface="Segoe UI"/>
              </a:rPr>
              <a:t>Passengers</a:t>
            </a:r>
          </a:p>
        </p:txBody>
      </p:sp>
      <p:sp>
        <p:nvSpPr>
          <p:cNvPr id="17437" name="TextBox 17436"/>
          <p:cNvSpPr txBox="1"/>
          <p:nvPr/>
        </p:nvSpPr>
        <p:spPr>
          <a:xfrm>
            <a:off x="6281928" y="3054096"/>
            <a:ext cx="5367528" cy="1828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80" b="0">
                <a:solidFill>
                  <a:srgbClr val="5B6472"/>
                </a:solidFill>
                <a:latin typeface="Segoe UI"/>
              </a:rPr>
              <a:t>An arrival window to plan around, the odds of making a connection, and when to leave home.</a:t>
            </a:r>
          </a:p>
        </p:txBody>
      </p:sp>
      <p:sp>
        <p:nvSpPr>
          <p:cNvPr id="17438" name="Rectangle 17437"/>
          <p:cNvSpPr/>
          <p:nvPr/>
        </p:nvSpPr>
        <p:spPr>
          <a:xfrm>
            <a:off x="6153912" y="3419856"/>
            <a:ext cx="5623560" cy="640080"/>
          </a:xfrm>
          <a:prstGeom prst="rect">
            <a:avLst/>
          </a:prstGeom>
          <a:solidFill>
            <a:srgbClr val="EFF5F4"/>
          </a:solidFill>
          <a:ln w="11430">
            <a:solidFill>
              <a:srgbClr val="DD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39" name="Rectangle 17438"/>
          <p:cNvSpPr/>
          <p:nvPr/>
        </p:nvSpPr>
        <p:spPr>
          <a:xfrm>
            <a:off x="6153912" y="3419856"/>
            <a:ext cx="32004" cy="64008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40" name="TextBox 17439"/>
          <p:cNvSpPr txBox="1"/>
          <p:nvPr/>
        </p:nvSpPr>
        <p:spPr>
          <a:xfrm>
            <a:off x="6281928" y="3529584"/>
            <a:ext cx="536752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12161F"/>
                </a:solidFill>
                <a:latin typeface="Segoe UI"/>
              </a:rPr>
              <a:t>Section controllers</a:t>
            </a:r>
          </a:p>
        </p:txBody>
      </p:sp>
      <p:sp>
        <p:nvSpPr>
          <p:cNvPr id="17441" name="TextBox 17440"/>
          <p:cNvSpPr txBox="1"/>
          <p:nvPr/>
        </p:nvSpPr>
        <p:spPr>
          <a:xfrm>
            <a:off x="6281928" y="3785616"/>
            <a:ext cx="5367528" cy="1828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80" b="0">
                <a:solidFill>
                  <a:srgbClr val="5B6472"/>
                </a:solidFill>
                <a:latin typeface="Segoe UI"/>
              </a:rPr>
              <a:t>Conflicts surfaced before they happen, with the blocking train named and the cost of each precedence call.</a:t>
            </a:r>
          </a:p>
        </p:txBody>
      </p:sp>
      <p:sp>
        <p:nvSpPr>
          <p:cNvPr id="17442" name="Rectangle 17441"/>
          <p:cNvSpPr/>
          <p:nvPr/>
        </p:nvSpPr>
        <p:spPr>
          <a:xfrm>
            <a:off x="6153912" y="4151376"/>
            <a:ext cx="5623560" cy="640080"/>
          </a:xfrm>
          <a:prstGeom prst="rect">
            <a:avLst/>
          </a:prstGeom>
          <a:solidFill>
            <a:srgbClr val="EFF5F4"/>
          </a:solidFill>
          <a:ln w="11430">
            <a:solidFill>
              <a:srgbClr val="DD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43" name="Rectangle 17442"/>
          <p:cNvSpPr/>
          <p:nvPr/>
        </p:nvSpPr>
        <p:spPr>
          <a:xfrm>
            <a:off x="6153912" y="4151376"/>
            <a:ext cx="32004" cy="64008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44" name="TextBox 17443"/>
          <p:cNvSpPr txBox="1"/>
          <p:nvPr/>
        </p:nvSpPr>
        <p:spPr>
          <a:xfrm>
            <a:off x="6281928" y="4261104"/>
            <a:ext cx="536752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12161F"/>
                </a:solidFill>
                <a:latin typeface="Segoe UI"/>
              </a:rPr>
              <a:t>Station operations</a:t>
            </a:r>
          </a:p>
        </p:txBody>
      </p:sp>
      <p:sp>
        <p:nvSpPr>
          <p:cNvPr id="17445" name="TextBox 17444"/>
          <p:cNvSpPr txBox="1"/>
          <p:nvPr/>
        </p:nvSpPr>
        <p:spPr>
          <a:xfrm>
            <a:off x="6281928" y="4517136"/>
            <a:ext cx="5367528" cy="1828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80" b="0">
                <a:solidFill>
                  <a:srgbClr val="5B6472"/>
                </a:solidFill>
                <a:latin typeface="Segoe UI"/>
              </a:rPr>
              <a:t>Platforms, cleaning turnaround and crew duty planned against a forecast with a stated confidence.</a:t>
            </a:r>
          </a:p>
        </p:txBody>
      </p:sp>
      <p:sp>
        <p:nvSpPr>
          <p:cNvPr id="17446" name="Rectangle 17445"/>
          <p:cNvSpPr/>
          <p:nvPr/>
        </p:nvSpPr>
        <p:spPr>
          <a:xfrm>
            <a:off x="6153912" y="4882896"/>
            <a:ext cx="5623560" cy="640080"/>
          </a:xfrm>
          <a:prstGeom prst="rect">
            <a:avLst/>
          </a:prstGeom>
          <a:solidFill>
            <a:srgbClr val="EFF5F4"/>
          </a:solidFill>
          <a:ln w="11430">
            <a:solidFill>
              <a:srgbClr val="DD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47" name="Rectangle 17446"/>
          <p:cNvSpPr/>
          <p:nvPr/>
        </p:nvSpPr>
        <p:spPr>
          <a:xfrm>
            <a:off x="6153912" y="4882896"/>
            <a:ext cx="32004" cy="64008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48" name="TextBox 17447"/>
          <p:cNvSpPr txBox="1"/>
          <p:nvPr/>
        </p:nvSpPr>
        <p:spPr>
          <a:xfrm>
            <a:off x="6281928" y="4992624"/>
            <a:ext cx="536752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12161F"/>
                </a:solidFill>
                <a:latin typeface="Segoe UI"/>
              </a:rPr>
              <a:t>Feeder and logistics</a:t>
            </a:r>
          </a:p>
        </p:txBody>
      </p:sp>
      <p:sp>
        <p:nvSpPr>
          <p:cNvPr id="17449" name="TextBox 17448"/>
          <p:cNvSpPr txBox="1"/>
          <p:nvPr/>
        </p:nvSpPr>
        <p:spPr>
          <a:xfrm>
            <a:off x="6281928" y="5248656"/>
            <a:ext cx="5367528" cy="1828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80" b="0">
                <a:solidFill>
                  <a:srgbClr val="5B6472"/>
                </a:solidFill>
                <a:latin typeface="Segoe UI"/>
              </a:rPr>
              <a:t>Bus, taxi and parcel operators schedule to the real arrival instead of idling at the kerb.</a:t>
            </a:r>
          </a:p>
        </p:txBody>
      </p:sp>
      <p:sp>
        <p:nvSpPr>
          <p:cNvPr id="17450" name="Rectangle 17449"/>
          <p:cNvSpPr/>
          <p:nvPr/>
        </p:nvSpPr>
        <p:spPr>
          <a:xfrm>
            <a:off x="6153912" y="5687568"/>
            <a:ext cx="5623560" cy="566928"/>
          </a:xfrm>
          <a:prstGeom prst="rect">
            <a:avLst/>
          </a:prstGeom>
          <a:solidFill>
            <a:srgbClr val="FDF6EC"/>
          </a:solidFill>
          <a:ln w="11430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51" name="TextBox 17450"/>
          <p:cNvSpPr txBox="1"/>
          <p:nvPr/>
        </p:nvSpPr>
        <p:spPr>
          <a:xfrm>
            <a:off x="6281928" y="5760720"/>
            <a:ext cx="5394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80" b="1">
                <a:solidFill>
                  <a:srgbClr val="12161F"/>
                </a:solidFill>
                <a:latin typeface="Segoe UI"/>
              </a:rPr>
              <a:t>Honest scope. </a:t>
            </a:r>
            <a:r>
              <a:rPr sz="880" b="0">
                <a:solidFill>
                  <a:srgbClr val="5B6472"/>
                </a:solidFill>
                <a:latin typeface="Segoe UI"/>
              </a:rPr>
              <a:t>These are prototype results on a simulated corridor built from the real timetable. Delay generation is modelled, and validation against 499 real arrivals shows it is not yet right — which is why the calibration loop exists.</a:t>
            </a:r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 b="1"/>
              <a:t>RESEARCH AND REFERENCES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sz="1000" b="1"/>
              <a:t>[TEAM NAME]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TextBox 17409"/>
          <p:cNvSpPr txBox="1"/>
          <p:nvPr/>
        </p:nvSpPr>
        <p:spPr>
          <a:xfrm>
            <a:off x="411480" y="1207008"/>
            <a:ext cx="4572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1">
                <a:solidFill>
                  <a:srgbClr val="0F766E"/>
                </a:solidFill>
                <a:latin typeface="Consolas"/>
              </a:rPr>
              <a:t>DATA ACTUALLY USED</a:t>
            </a:r>
          </a:p>
        </p:txBody>
      </p:sp>
      <p:sp>
        <p:nvSpPr>
          <p:cNvPr id="17411" name="Rectangle 17410"/>
          <p:cNvSpPr/>
          <p:nvPr/>
        </p:nvSpPr>
        <p:spPr>
          <a:xfrm>
            <a:off x="411480" y="1481328"/>
            <a:ext cx="5532120" cy="640080"/>
          </a:xfrm>
          <a:prstGeom prst="rect">
            <a:avLst/>
          </a:prstGeom>
          <a:solidFill>
            <a:srgbClr val="FFFFFF"/>
          </a:solidFill>
          <a:ln w="10160">
            <a:solidFill>
              <a:srgbClr val="DD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12" name="Rectangle 17411"/>
          <p:cNvSpPr/>
          <p:nvPr/>
        </p:nvSpPr>
        <p:spPr>
          <a:xfrm>
            <a:off x="411480" y="1481328"/>
            <a:ext cx="27432" cy="64008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13" name="TextBox 17412"/>
          <p:cNvSpPr txBox="1"/>
          <p:nvPr/>
        </p:nvSpPr>
        <p:spPr>
          <a:xfrm>
            <a:off x="539496" y="1563624"/>
            <a:ext cx="5212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12161F"/>
                </a:solidFill>
                <a:latin typeface="Segoe UI"/>
              </a:rPr>
              <a:t>Indian Railways working timetable</a:t>
            </a:r>
          </a:p>
        </p:txBody>
      </p:sp>
      <p:sp>
        <p:nvSpPr>
          <p:cNvPr id="17414" name="TextBox 17413"/>
          <p:cNvSpPr txBox="1"/>
          <p:nvPr/>
        </p:nvSpPr>
        <p:spPr>
          <a:xfrm>
            <a:off x="539496" y="1764792"/>
            <a:ext cx="52578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00" b="0">
                <a:solidFill>
                  <a:srgbClr val="5B6472"/>
                </a:solidFill>
                <a:latin typeface="Segoe UI"/>
              </a:rPr>
              <a:t>datameet/railways, CC0 — 8,697 stations, 5,208 trains, 417,080 scheduled calls</a:t>
            </a:r>
          </a:p>
        </p:txBody>
      </p:sp>
      <p:sp>
        <p:nvSpPr>
          <p:cNvPr id="17415" name="Rectangle 17414"/>
          <p:cNvSpPr/>
          <p:nvPr/>
        </p:nvSpPr>
        <p:spPr>
          <a:xfrm>
            <a:off x="411480" y="2212848"/>
            <a:ext cx="5532120" cy="640080"/>
          </a:xfrm>
          <a:prstGeom prst="rect">
            <a:avLst/>
          </a:prstGeom>
          <a:solidFill>
            <a:srgbClr val="FFFFFF"/>
          </a:solidFill>
          <a:ln w="10160">
            <a:solidFill>
              <a:srgbClr val="DD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16" name="Rectangle 17415"/>
          <p:cNvSpPr/>
          <p:nvPr/>
        </p:nvSpPr>
        <p:spPr>
          <a:xfrm>
            <a:off x="411480" y="2212848"/>
            <a:ext cx="27432" cy="64008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17" name="TextBox 17416"/>
          <p:cNvSpPr txBox="1"/>
          <p:nvPr/>
        </p:nvSpPr>
        <p:spPr>
          <a:xfrm>
            <a:off x="539496" y="2295144"/>
            <a:ext cx="5212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12161F"/>
                </a:solidFill>
                <a:latin typeface="Segoe UI"/>
              </a:rPr>
              <a:t>Weather</a:t>
            </a:r>
          </a:p>
        </p:txBody>
      </p:sp>
      <p:sp>
        <p:nvSpPr>
          <p:cNvPr id="17418" name="TextBox 17417"/>
          <p:cNvSpPr txBox="1"/>
          <p:nvPr/>
        </p:nvSpPr>
        <p:spPr>
          <a:xfrm>
            <a:off x="539496" y="2496312"/>
            <a:ext cx="52578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00" b="0">
                <a:solidFill>
                  <a:srgbClr val="5B6472"/>
                </a:solidFill>
                <a:latin typeface="Segoe UI"/>
              </a:rPr>
              <a:t>ERA5 reanalysis via Open-Meteo — observed daily, per corridor segment, no API key</a:t>
            </a:r>
          </a:p>
        </p:txBody>
      </p:sp>
      <p:sp>
        <p:nvSpPr>
          <p:cNvPr id="17419" name="Rectangle 17418"/>
          <p:cNvSpPr/>
          <p:nvPr/>
        </p:nvSpPr>
        <p:spPr>
          <a:xfrm>
            <a:off x="411480" y="2944368"/>
            <a:ext cx="5532120" cy="640080"/>
          </a:xfrm>
          <a:prstGeom prst="rect">
            <a:avLst/>
          </a:prstGeom>
          <a:solidFill>
            <a:srgbClr val="FFFFFF"/>
          </a:solidFill>
          <a:ln w="10160">
            <a:solidFill>
              <a:srgbClr val="DD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20" name="Rectangle 17419"/>
          <p:cNvSpPr/>
          <p:nvPr/>
        </p:nvSpPr>
        <p:spPr>
          <a:xfrm>
            <a:off x="411480" y="2944368"/>
            <a:ext cx="27432" cy="64008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21" name="TextBox 17420"/>
          <p:cNvSpPr txBox="1"/>
          <p:nvPr/>
        </p:nvSpPr>
        <p:spPr>
          <a:xfrm>
            <a:off x="539496" y="3026664"/>
            <a:ext cx="5212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12161F"/>
                </a:solidFill>
                <a:latin typeface="Segoe UI"/>
              </a:rPr>
              <a:t>Live running position</a:t>
            </a:r>
          </a:p>
        </p:txBody>
      </p:sp>
      <p:sp>
        <p:nvSpPr>
          <p:cNvPr id="17422" name="TextBox 17421"/>
          <p:cNvSpPr txBox="1"/>
          <p:nvPr/>
        </p:nvSpPr>
        <p:spPr>
          <a:xfrm>
            <a:off x="539496" y="3227832"/>
            <a:ext cx="52578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00" b="0">
                <a:solidFill>
                  <a:srgbClr val="5B6472"/>
                </a:solidFill>
                <a:latin typeface="Segoe UI"/>
              </a:rPr>
              <a:t>RailRadar REST API — 499 observed arrivals collected across 10 trains so far</a:t>
            </a:r>
          </a:p>
        </p:txBody>
      </p:sp>
      <p:sp>
        <p:nvSpPr>
          <p:cNvPr id="17423" name="Rectangle 17422"/>
          <p:cNvSpPr/>
          <p:nvPr/>
        </p:nvSpPr>
        <p:spPr>
          <a:xfrm>
            <a:off x="411480" y="3675888"/>
            <a:ext cx="5532120" cy="640080"/>
          </a:xfrm>
          <a:prstGeom prst="rect">
            <a:avLst/>
          </a:prstGeom>
          <a:solidFill>
            <a:srgbClr val="FFFFFF"/>
          </a:solidFill>
          <a:ln w="10160">
            <a:solidFill>
              <a:srgbClr val="DD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24" name="Rectangle 17423"/>
          <p:cNvSpPr/>
          <p:nvPr/>
        </p:nvSpPr>
        <p:spPr>
          <a:xfrm>
            <a:off x="411480" y="3675888"/>
            <a:ext cx="27432" cy="64008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25" name="TextBox 17424"/>
          <p:cNvSpPr txBox="1"/>
          <p:nvPr/>
        </p:nvSpPr>
        <p:spPr>
          <a:xfrm>
            <a:off x="539496" y="3758184"/>
            <a:ext cx="5212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12161F"/>
                </a:solidFill>
                <a:latin typeface="Segoe UI"/>
              </a:rPr>
              <a:t>Route geometry</a:t>
            </a:r>
          </a:p>
        </p:txBody>
      </p:sp>
      <p:sp>
        <p:nvSpPr>
          <p:cNvPr id="17426" name="TextBox 17425"/>
          <p:cNvSpPr txBox="1"/>
          <p:nvPr/>
        </p:nvSpPr>
        <p:spPr>
          <a:xfrm>
            <a:off x="539496" y="3959352"/>
            <a:ext cx="52578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00" b="0">
                <a:solidFill>
                  <a:srgbClr val="5B6472"/>
                </a:solidFill>
                <a:latin typeface="Segoe UI"/>
              </a:rPr>
              <a:t>Station coordinates scaled to the published route distance; 1384 km reproduced exactly</a:t>
            </a:r>
          </a:p>
        </p:txBody>
      </p:sp>
      <p:sp>
        <p:nvSpPr>
          <p:cNvPr id="17427" name="TextBox 17426"/>
          <p:cNvSpPr txBox="1"/>
          <p:nvPr/>
        </p:nvSpPr>
        <p:spPr>
          <a:xfrm>
            <a:off x="411480" y="4498848"/>
            <a:ext cx="4572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1">
                <a:solidFill>
                  <a:srgbClr val="B45309"/>
                </a:solidFill>
                <a:latin typeface="Consolas"/>
              </a:rPr>
              <a:t>SCALE OF DEPLOYMENT</a:t>
            </a:r>
          </a:p>
        </p:txBody>
      </p:sp>
      <p:sp>
        <p:nvSpPr>
          <p:cNvPr id="17428" name="TextBox 17427"/>
          <p:cNvSpPr txBox="1"/>
          <p:nvPr/>
        </p:nvSpPr>
        <p:spPr>
          <a:xfrm>
            <a:off x="411480" y="4773168"/>
            <a:ext cx="1417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B45309"/>
                </a:solidFill>
                <a:latin typeface="Segoe UI"/>
              </a:rPr>
              <a:t>Prototype</a:t>
            </a:r>
          </a:p>
        </p:txBody>
      </p:sp>
      <p:sp>
        <p:nvSpPr>
          <p:cNvPr id="17429" name="TextBox 17428"/>
          <p:cNvSpPr txBox="1"/>
          <p:nvPr/>
        </p:nvSpPr>
        <p:spPr>
          <a:xfrm>
            <a:off x="1892808" y="4773168"/>
            <a:ext cx="406908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00" b="0">
                <a:solidFill>
                  <a:srgbClr val="5B6472"/>
                </a:solidFill>
                <a:latin typeface="Segoe UI"/>
              </a:rPr>
              <a:t>New Delhi – Mumbai Central, 1384 km, 202 stations, 44 trains — built and evaluated</a:t>
            </a:r>
          </a:p>
        </p:txBody>
      </p:sp>
      <p:sp>
        <p:nvSpPr>
          <p:cNvPr id="17430" name="TextBox 17429"/>
          <p:cNvSpPr txBox="1"/>
          <p:nvPr/>
        </p:nvSpPr>
        <p:spPr>
          <a:xfrm>
            <a:off x="411480" y="5285231"/>
            <a:ext cx="1417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B45309"/>
                </a:solidFill>
                <a:latin typeface="Segoe UI"/>
              </a:rPr>
              <a:t>Zonal pilot</a:t>
            </a:r>
          </a:p>
        </p:txBody>
      </p:sp>
      <p:sp>
        <p:nvSpPr>
          <p:cNvPr id="17431" name="TextBox 17430"/>
          <p:cNvSpPr txBox="1"/>
          <p:nvPr/>
        </p:nvSpPr>
        <p:spPr>
          <a:xfrm>
            <a:off x="1892808" y="5285231"/>
            <a:ext cx="406908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00" b="0">
                <a:solidFill>
                  <a:srgbClr val="5B6472"/>
                </a:solidFill>
                <a:latin typeface="Segoe UI"/>
              </a:rPr>
              <a:t>One zone, one control office, one model shard</a:t>
            </a:r>
          </a:p>
        </p:txBody>
      </p:sp>
      <p:sp>
        <p:nvSpPr>
          <p:cNvPr id="17432" name="TextBox 17431"/>
          <p:cNvSpPr txBox="1"/>
          <p:nvPr/>
        </p:nvSpPr>
        <p:spPr>
          <a:xfrm>
            <a:off x="411480" y="5797296"/>
            <a:ext cx="1417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B45309"/>
                </a:solidFill>
                <a:latin typeface="Segoe UI"/>
              </a:rPr>
              <a:t>National</a:t>
            </a:r>
          </a:p>
        </p:txBody>
      </p:sp>
      <p:sp>
        <p:nvSpPr>
          <p:cNvPr id="17433" name="TextBox 17432"/>
          <p:cNvSpPr txBox="1"/>
          <p:nvPr/>
        </p:nvSpPr>
        <p:spPr>
          <a:xfrm>
            <a:off x="1892808" y="5797296"/>
            <a:ext cx="406908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00" b="0">
                <a:solidFill>
                  <a:srgbClr val="5B6472"/>
                </a:solidFill>
                <a:latin typeface="Segoe UI"/>
              </a:rPr>
              <a:t>Order of 13,000 coaching trains a day (Indian Railways published figure — confirm before submission)</a:t>
            </a:r>
          </a:p>
        </p:txBody>
      </p:sp>
      <p:sp>
        <p:nvSpPr>
          <p:cNvPr id="17434" name="TextBox 17433"/>
          <p:cNvSpPr txBox="1"/>
          <p:nvPr/>
        </p:nvSpPr>
        <p:spPr>
          <a:xfrm>
            <a:off x="6263640" y="1207008"/>
            <a:ext cx="4572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1">
                <a:solidFill>
                  <a:srgbClr val="B45309"/>
                </a:solidFill>
                <a:latin typeface="Consolas"/>
              </a:rPr>
              <a:t>RESEARCH WE BUILD ON</a:t>
            </a:r>
          </a:p>
        </p:txBody>
      </p:sp>
      <p:sp>
        <p:nvSpPr>
          <p:cNvPr id="17435" name="TextBox 17434"/>
          <p:cNvSpPr txBox="1"/>
          <p:nvPr/>
        </p:nvSpPr>
        <p:spPr>
          <a:xfrm>
            <a:off x="6263640" y="1481328"/>
            <a:ext cx="21945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1">
                <a:solidFill>
                  <a:srgbClr val="B45309"/>
                </a:solidFill>
                <a:latin typeface="Segoe UI"/>
              </a:rPr>
              <a:t>1.</a:t>
            </a:r>
          </a:p>
        </p:txBody>
      </p:sp>
      <p:sp>
        <p:nvSpPr>
          <p:cNvPr id="17436" name="TextBox 17435"/>
          <p:cNvSpPr txBox="1"/>
          <p:nvPr/>
        </p:nvSpPr>
        <p:spPr>
          <a:xfrm>
            <a:off x="6519672" y="1481328"/>
            <a:ext cx="523036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00" b="0">
                <a:solidFill>
                  <a:srgbClr val="5B6472"/>
                </a:solidFill>
                <a:latin typeface="Segoe UI"/>
              </a:rPr>
              <a:t>R. Oneto et al., Train delay prediction systems: a big data analytics perspective, Big Data Research 11, 2018.</a:t>
            </a:r>
          </a:p>
        </p:txBody>
      </p:sp>
      <p:sp>
        <p:nvSpPr>
          <p:cNvPr id="17437" name="TextBox 17436"/>
          <p:cNvSpPr txBox="1"/>
          <p:nvPr/>
        </p:nvSpPr>
        <p:spPr>
          <a:xfrm>
            <a:off x="6263640" y="1883664"/>
            <a:ext cx="21945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1">
                <a:solidFill>
                  <a:srgbClr val="B45309"/>
                </a:solidFill>
                <a:latin typeface="Segoe UI"/>
              </a:rPr>
              <a:t>2.</a:t>
            </a:r>
          </a:p>
        </p:txBody>
      </p:sp>
      <p:sp>
        <p:nvSpPr>
          <p:cNvPr id="17438" name="TextBox 17437"/>
          <p:cNvSpPr txBox="1"/>
          <p:nvPr/>
        </p:nvSpPr>
        <p:spPr>
          <a:xfrm>
            <a:off x="6519672" y="1883664"/>
            <a:ext cx="523036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00" b="0">
                <a:solidFill>
                  <a:srgbClr val="5B6472"/>
                </a:solidFill>
                <a:latin typeface="Segoe UI"/>
              </a:rPr>
              <a:t>P. Kecman, R. M. P. Goverde, Predictive modelling of running and dwell times in railway traffic, Public Transport 7, 2015.</a:t>
            </a:r>
          </a:p>
        </p:txBody>
      </p:sp>
      <p:sp>
        <p:nvSpPr>
          <p:cNvPr id="17439" name="TextBox 17438"/>
          <p:cNvSpPr txBox="1"/>
          <p:nvPr/>
        </p:nvSpPr>
        <p:spPr>
          <a:xfrm>
            <a:off x="6263640" y="2286000"/>
            <a:ext cx="21945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1">
                <a:solidFill>
                  <a:srgbClr val="B45309"/>
                </a:solidFill>
                <a:latin typeface="Segoe UI"/>
              </a:rPr>
              <a:t>3.</a:t>
            </a:r>
          </a:p>
        </p:txBody>
      </p:sp>
      <p:sp>
        <p:nvSpPr>
          <p:cNvPr id="17440" name="TextBox 17439"/>
          <p:cNvSpPr txBox="1"/>
          <p:nvPr/>
        </p:nvSpPr>
        <p:spPr>
          <a:xfrm>
            <a:off x="6519672" y="2286000"/>
            <a:ext cx="523036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00" b="0">
                <a:solidFill>
                  <a:srgbClr val="5B6472"/>
                </a:solidFill>
                <a:latin typeface="Segoe UI"/>
              </a:rPr>
              <a:t>F. Corman, P. Kecman, Stochastic prediction of train delays in real time using Bayesian networks, Transp. Research Part C 95, 2018.</a:t>
            </a:r>
          </a:p>
        </p:txBody>
      </p:sp>
      <p:sp>
        <p:nvSpPr>
          <p:cNvPr id="17441" name="TextBox 17440"/>
          <p:cNvSpPr txBox="1"/>
          <p:nvPr/>
        </p:nvSpPr>
        <p:spPr>
          <a:xfrm>
            <a:off x="6263640" y="2688336"/>
            <a:ext cx="21945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1">
                <a:solidFill>
                  <a:srgbClr val="B45309"/>
                </a:solidFill>
                <a:latin typeface="Segoe UI"/>
              </a:rPr>
              <a:t>4.</a:t>
            </a:r>
          </a:p>
        </p:txBody>
      </p:sp>
      <p:sp>
        <p:nvSpPr>
          <p:cNvPr id="17442" name="TextBox 17441"/>
          <p:cNvSpPr txBox="1"/>
          <p:nvPr/>
        </p:nvSpPr>
        <p:spPr>
          <a:xfrm>
            <a:off x="6519672" y="2688336"/>
            <a:ext cx="523036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00" b="0">
                <a:solidFill>
                  <a:srgbClr val="5B6472"/>
                </a:solidFill>
                <a:latin typeface="Segoe UI"/>
              </a:rPr>
              <a:t>Y. Romano, E. Patterson, E. Candès, Conformalized quantile regression, NeurIPS 32, 2019.</a:t>
            </a:r>
          </a:p>
        </p:txBody>
      </p:sp>
      <p:sp>
        <p:nvSpPr>
          <p:cNvPr id="17443" name="TextBox 17442"/>
          <p:cNvSpPr txBox="1"/>
          <p:nvPr/>
        </p:nvSpPr>
        <p:spPr>
          <a:xfrm>
            <a:off x="6263640" y="3090672"/>
            <a:ext cx="21945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1">
                <a:solidFill>
                  <a:srgbClr val="B45309"/>
                </a:solidFill>
                <a:latin typeface="Segoe UI"/>
              </a:rPr>
              <a:t>5.</a:t>
            </a:r>
          </a:p>
        </p:txBody>
      </p:sp>
      <p:sp>
        <p:nvSpPr>
          <p:cNvPr id="17444" name="TextBox 17443"/>
          <p:cNvSpPr txBox="1"/>
          <p:nvPr/>
        </p:nvSpPr>
        <p:spPr>
          <a:xfrm>
            <a:off x="6519672" y="3090672"/>
            <a:ext cx="523036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00" b="0">
                <a:solidFill>
                  <a:srgbClr val="5B6472"/>
                </a:solidFill>
                <a:latin typeface="Segoe UI"/>
              </a:rPr>
              <a:t>V. Vovk, A. Gammerman, G. Shafer, Algorithmic Learning in a Random World, Springer 2005 — Mondrian conditional validity.</a:t>
            </a:r>
          </a:p>
        </p:txBody>
      </p:sp>
      <p:sp>
        <p:nvSpPr>
          <p:cNvPr id="17445" name="TextBox 17444"/>
          <p:cNvSpPr txBox="1"/>
          <p:nvPr/>
        </p:nvSpPr>
        <p:spPr>
          <a:xfrm>
            <a:off x="6263640" y="3493008"/>
            <a:ext cx="21945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1">
                <a:solidFill>
                  <a:srgbClr val="B45309"/>
                </a:solidFill>
                <a:latin typeface="Segoe UI"/>
              </a:rPr>
              <a:t>6.</a:t>
            </a:r>
          </a:p>
        </p:txBody>
      </p:sp>
      <p:sp>
        <p:nvSpPr>
          <p:cNvPr id="17446" name="TextBox 17445"/>
          <p:cNvSpPr txBox="1"/>
          <p:nvPr/>
        </p:nvSpPr>
        <p:spPr>
          <a:xfrm>
            <a:off x="6519672" y="3493008"/>
            <a:ext cx="523036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00" b="0">
                <a:solidFill>
                  <a:srgbClr val="5B6472"/>
                </a:solidFill>
                <a:latin typeface="Segoe UI"/>
              </a:rPr>
              <a:t>G. Ke et al., LightGBM: a highly efficient gradient boosting decision tree, NeurIPS 30, 2017.</a:t>
            </a:r>
          </a:p>
        </p:txBody>
      </p:sp>
      <p:sp>
        <p:nvSpPr>
          <p:cNvPr id="17447" name="TextBox 17446"/>
          <p:cNvSpPr txBox="1"/>
          <p:nvPr/>
        </p:nvSpPr>
        <p:spPr>
          <a:xfrm>
            <a:off x="6263640" y="3895344"/>
            <a:ext cx="21945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1">
                <a:solidFill>
                  <a:srgbClr val="B45309"/>
                </a:solidFill>
                <a:latin typeface="Segoe UI"/>
              </a:rPr>
              <a:t>7.</a:t>
            </a:r>
          </a:p>
        </p:txBody>
      </p:sp>
      <p:sp>
        <p:nvSpPr>
          <p:cNvPr id="17448" name="TextBox 17447"/>
          <p:cNvSpPr txBox="1"/>
          <p:nvPr/>
        </p:nvSpPr>
        <p:spPr>
          <a:xfrm>
            <a:off x="6519672" y="3895344"/>
            <a:ext cx="523036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00" b="0">
                <a:solidFill>
                  <a:srgbClr val="5B6472"/>
                </a:solidFill>
                <a:latin typeface="Segoe UI"/>
              </a:rPr>
              <a:t>The Digital Personal Data Protection Act, 2023 (India).</a:t>
            </a:r>
          </a:p>
        </p:txBody>
      </p:sp>
      <p:sp>
        <p:nvSpPr>
          <p:cNvPr id="17449" name="Rectangle 17448"/>
          <p:cNvSpPr/>
          <p:nvPr/>
        </p:nvSpPr>
        <p:spPr>
          <a:xfrm>
            <a:off x="6263640" y="4352544"/>
            <a:ext cx="5486400" cy="841248"/>
          </a:xfrm>
          <a:prstGeom prst="rect">
            <a:avLst/>
          </a:prstGeom>
          <a:solidFill>
            <a:srgbClr val="FDF6EC"/>
          </a:solidFill>
          <a:ln w="11430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50" name="TextBox 17449"/>
          <p:cNvSpPr txBox="1"/>
          <p:nvPr/>
        </p:nvSpPr>
        <p:spPr>
          <a:xfrm>
            <a:off x="6391656" y="4443984"/>
            <a:ext cx="52303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1">
                <a:solidFill>
                  <a:srgbClr val="B45309"/>
                </a:solidFill>
                <a:latin typeface="Consolas"/>
              </a:rPr>
              <a:t>WHERE WE ADD TO THIS</a:t>
            </a:r>
          </a:p>
        </p:txBody>
      </p:sp>
      <p:sp>
        <p:nvSpPr>
          <p:cNvPr id="17451" name="TextBox 17450"/>
          <p:cNvSpPr txBox="1"/>
          <p:nvPr/>
        </p:nvSpPr>
        <p:spPr>
          <a:xfrm>
            <a:off x="6391656" y="4645152"/>
            <a:ext cx="5230368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12161F"/>
                </a:solidFill>
                <a:latin typeface="Segoe UI"/>
              </a:rPr>
              <a:t>None of the above combines a conflict-resolution simulator over the real block-section graph, a direct multi-horizon learned residual and conditionally calibrated intervals — then validates the result against live Indian Railways running data.</a:t>
            </a:r>
          </a:p>
        </p:txBody>
      </p:sp>
      <p:sp>
        <p:nvSpPr>
          <p:cNvPr id="17452" name="TextBox 17451"/>
          <p:cNvSpPr txBox="1"/>
          <p:nvPr/>
        </p:nvSpPr>
        <p:spPr>
          <a:xfrm>
            <a:off x="6263640" y="5340096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1">
                <a:solidFill>
                  <a:srgbClr val="12161F"/>
                </a:solidFill>
                <a:latin typeface="Segoe UI"/>
              </a:rPr>
              <a:t>Project links  </a:t>
            </a:r>
            <a:r>
              <a:rPr sz="900" b="0">
                <a:solidFill>
                  <a:srgbClr val="5B6472"/>
                </a:solidFill>
                <a:latin typeface="Segoe UI"/>
              </a:rPr>
              <a:t>code and reproducible results · simulation videos · evaluation tables and charts  —  [REPOSITORY LINK]</a:t>
            </a: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3" name="Round Diagonal Corner Rectangle 2"/>
          <p:cNvSpPr/>
          <p:nvPr/>
        </p:nvSpPr>
        <p:spPr>
          <a:xfrm>
            <a:off x="0" y="1791032"/>
            <a:ext cx="12192000" cy="4319200"/>
          </a:xfrm>
          <a:prstGeom prst="round2DiagRect">
            <a:avLst/>
          </a:prstGeom>
          <a:solidFill>
            <a:schemeClr val="accent1">
              <a:lumMod val="20000"/>
              <a:lumOff val="80000"/>
            </a:schemeClr>
          </a:solidFill>
          <a:ln w="381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Google Shape;100;p3"/>
          <p:cNvSpPr txBox="1"/>
          <p:nvPr/>
        </p:nvSpPr>
        <p:spPr>
          <a:xfrm>
            <a:off x="367832" y="1915454"/>
            <a:ext cx="11764736" cy="40703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marR="0" lvl="0" indent="-51435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Kindly keep the maximum slides limit up to six </a:t>
            </a:r>
            <a:r>
              <a:rPr lang="en-US" b="1" i="0" u="none" strike="noStrike" cap="none" dirty="0">
                <a:solidFill>
                  <a:srgbClr val="C00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(6). 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( Including the </a:t>
            </a:r>
            <a:r>
              <a:rPr lang="en-US" b="1" i="0" u="none" strike="noStrike" cap="none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title slide)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Try to avoid paragraphs and post your idea in points /diagrams / Infographics /pictures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Keep your explanation precise and easy to understand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Idea should be unique and novel.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You can only use provided </a:t>
            </a: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template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for making the </a:t>
            </a: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PPT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without changing the idea details pointers (mentioned in previous slides).</a:t>
            </a:r>
            <a:endParaRPr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You need to save the file in PDF and upload the same on portal. No PPT, Word Doc or any other format will be supported.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349885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  <a:p>
            <a:pPr marL="0" marR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b="1" i="0" u="none" strike="noStrike" cap="none" dirty="0">
                <a:solidFill>
                  <a:srgbClr val="C00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Note - You can delete this slide (Important Pointers) when you upload the details of your idea on SIH portal.</a:t>
            </a:r>
            <a:endParaRPr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14400" marR="0" lvl="1" indent="-316230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sz="2000"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393371" y="107066"/>
            <a:ext cx="84105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IMPORTANT INSTRUCTIONS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02343" y="1181900"/>
            <a:ext cx="9557657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</a:pP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Please ensure below pointers are met while submitting the Idea PPT:</a:t>
            </a:r>
            <a:endParaRPr lang="en-IN" b="1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</a:endParaRP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80844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7489</TotalTime>
  <Words>325</Words>
  <Application>Microsoft Office PowerPoint</Application>
  <PresentationFormat>Widescreen</PresentationFormat>
  <Paragraphs>62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 IDEA TITLE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AICTE</cp:lastModifiedBy>
  <cp:revision>148</cp:revision>
  <dcterms:created xsi:type="dcterms:W3CDTF">2013-12-12T18:46:50Z</dcterms:created>
  <dcterms:modified xsi:type="dcterms:W3CDTF">2026-06-02T09:29:39Z</dcterms:modified>
  <cp:category/>
</cp:coreProperties>
</file>