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Consolas"/>
              </a:rP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>
                <a:solidFill>
                  <a:srgbClr val="12161F"/>
                </a:solidFill>
                <a:latin typeface="Segoe UI"/>
              </a:rPr>
              <a:t>RAILCAST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5564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5B6472"/>
                </a:solidFill>
                <a:latin typeface="Segoe UI"/>
              </a:rPr>
              <a:t>Network-aware arrival forecasting for Indian Railways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2249424"/>
            <a:ext cx="6309360" cy="0"/>
          </a:xfrm>
          <a:prstGeom prst="line">
            <a:avLst/>
          </a:prstGeom>
          <a:ln w="1143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414016"/>
            <a:ext cx="6309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2161F"/>
                </a:solidFill>
                <a:latin typeface="Segoe UI"/>
              </a:rPr>
              <a:t>Today a passenger gets </a:t>
            </a:r>
            <a:r>
              <a:rPr sz="1300" b="1">
                <a:solidFill>
                  <a:srgbClr val="12161F"/>
                </a:solidFill>
                <a:latin typeface="Segoe UI"/>
              </a:rPr>
              <a:t>one number with nothing attached to it</a:t>
            </a:r>
            <a:r>
              <a:rPr sz="1300" b="0">
                <a:solidFill>
                  <a:srgbClr val="12161F"/>
                </a:solidFill>
                <a:latin typeface="Segoe UI"/>
              </a:rPr>
              <a:t>. RAILCAST gives an arrival window whose coverage is audited on held-out data — per segment and per horizon, not asserted once and pooled.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310128"/>
            <a:ext cx="1993392" cy="1024128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310128"/>
            <a:ext cx="1993392" cy="320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3814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B45309"/>
                </a:solidFill>
                <a:latin typeface="Segoe UI"/>
              </a:rP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5876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lower ETA error than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carry-forward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0904" y="3310128"/>
            <a:ext cx="1993392" cy="1024128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60904" y="3310128"/>
            <a:ext cx="1993392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8064" y="343814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0F766E"/>
                </a:solidFill>
                <a:latin typeface="Segoe UI"/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8064" y="385876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arrival window,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coverage audited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18888" y="3310128"/>
            <a:ext cx="1993392" cy="1024128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18888" y="3310128"/>
            <a:ext cx="1993392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343814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0F766E"/>
                </a:solidFill>
                <a:latin typeface="Segoe UI"/>
              </a:rPr>
              <a:t>40h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385876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forecast horizon,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station by station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4A3"/>
                </a:solidFill>
                <a:latin typeface="Segoe UI"/>
              </a:rPr>
              <a:t>Forecasting how delay will move through the network — not repeating the delay we already have.</a:t>
            </a:r>
          </a:p>
        </p:txBody>
      </p:sp>
      <p:pic>
        <p:nvPicPr>
          <p:cNvPr id="21" name="Picture 20" descr="07_window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841248"/>
            <a:ext cx="4718304" cy="237966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67728" y="3310128"/>
            <a:ext cx="47183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The window narrows as the train runs. </a:t>
            </a:r>
            <a:r>
              <a:rPr sz="1000" b="0">
                <a:solidFill>
                  <a:srgbClr val="5B6472"/>
                </a:solidFill>
                <a:latin typeface="Segoe UI"/>
              </a:rPr>
              <a:t>Every remaining station gets an interval. It widens with distance and closes as each actual arrival comes in — 62 minutes down to 21.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138928"/>
            <a:ext cx="12191695" cy="17190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0" y="5138928"/>
            <a:ext cx="12191695" cy="0"/>
          </a:xfrm>
          <a:prstGeom prst="line">
            <a:avLst/>
          </a:prstGeom>
          <a:ln w="1143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541324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8A94A3"/>
                </a:solidFill>
                <a:latin typeface="Consolas"/>
              </a:rPr>
              <a:t>PS 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650992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2161F"/>
                </a:solidFill>
                <a:latin typeface="Segoe UI"/>
              </a:rPr>
              <a:t>SIH26028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39" y="541324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8A94A3"/>
                </a:solidFill>
                <a:latin typeface="Consolas"/>
              </a:rPr>
              <a:t>PROBLEM STATEMENT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39" y="5650992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2161F"/>
                </a:solidFill>
                <a:latin typeface="Segoe UI"/>
              </a:rPr>
              <a:t>Dynamic Forecast of Expected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2161F"/>
                </a:solidFill>
                <a:latin typeface="Segoe UI"/>
              </a:rPr>
              <a:t>Time of Arrival (ETA)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59" y="541324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8A94A3"/>
                </a:solidFill>
                <a:latin typeface="Consolas"/>
              </a:rPr>
              <a:t>ORGANISATION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59" y="5650992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2161F"/>
                </a:solidFill>
                <a:latin typeface="Segoe UI"/>
              </a:rPr>
              <a:t>Ministry of Railways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79" y="541324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8A94A3"/>
                </a:solidFill>
                <a:latin typeface="Consolas"/>
              </a:rPr>
              <a:t>THEME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79" y="5650992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2161F"/>
                </a:solidFill>
                <a:latin typeface="Segoe UI"/>
              </a:rPr>
              <a:t>Smart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541324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8A94A3"/>
                </a:solidFill>
                <a:latin typeface="Consolas"/>
              </a:rPr>
              <a:t>CATEGORY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5650992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2161F"/>
                </a:solidFill>
                <a:latin typeface="Segoe UI"/>
              </a:rPr>
              <a:t>Software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541324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8A94A3"/>
                </a:solidFill>
                <a:latin typeface="Consolas"/>
              </a:rPr>
              <a:t>TEAM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5650992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B45309"/>
                </a:solidFill>
                <a:latin typeface="Segoe UI"/>
              </a:rPr>
              <a:t>[TEAM NAME · ID]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46520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A94A3"/>
                </a:solidFill>
                <a:latin typeface="Segoe UI"/>
              </a:rPr>
              <a:t>Prototype built on the real New Delhi – Mumbai Central working timetable with observed ERA5 weather.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4980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2161F"/>
                </a:solidFill>
                <a:latin typeface="Segoe UI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Segoe UI"/>
              </a:rPr>
              <a:t>forecast the cause, not the clock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8695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Consolas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24128"/>
            <a:ext cx="11185855" cy="0"/>
          </a:xfrm>
          <a:prstGeom prst="line">
            <a:avLst/>
          </a:prstGeom>
          <a:ln w="1143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1887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91C1C"/>
                </a:solidFill>
                <a:latin typeface="Consolas"/>
              </a:rPr>
              <a:t>PROBLEM AT HAND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3246120" cy="1042415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32004" cy="1042415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591056"/>
            <a:ext cx="29900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2161F"/>
                </a:solidFill>
                <a:latin typeface="Segoe UI"/>
              </a:rPr>
              <a:t>Delay is repeated, not 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847088"/>
            <a:ext cx="2990087" cy="585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Today's ETA carries the current delay forward and trusts timetable padding. It cannot see congestion building ahead.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51760"/>
            <a:ext cx="3246120" cy="1042415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51760"/>
            <a:ext cx="32004" cy="1042415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761488"/>
            <a:ext cx="29900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2161F"/>
                </a:solidFill>
                <a:latin typeface="Segoe UI"/>
              </a:rPr>
              <a:t>The network goes blind between stations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3017520"/>
            <a:ext cx="2990087" cy="585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Position is reported only at instrumented stations — gaps of 40–60 minutes on long sections.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22191"/>
            <a:ext cx="3246120" cy="1042415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822191"/>
            <a:ext cx="32004" cy="1042415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3931920"/>
            <a:ext cx="29900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2161F"/>
                </a:solidFill>
                <a:latin typeface="Segoe UI"/>
              </a:rPr>
              <a:t>Cascades are invisible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187952"/>
            <a:ext cx="2990087" cy="585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One train held at a junction delays every train behind it, yet no deployed ETA model represents that dependency.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992624"/>
            <a:ext cx="3246120" cy="1042415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992624"/>
            <a:ext cx="32004" cy="1042415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5102352"/>
            <a:ext cx="29900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2161F"/>
                </a:solidFill>
                <a:latin typeface="Segoe UI"/>
              </a:rPr>
              <a:t>One number hides the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" y="5358384"/>
            <a:ext cx="2990087" cy="585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No confidence attached, so nobody knows when it is safe to act — and nothing handles a diversion mid-run.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8224" y="11887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Consolas"/>
              </a:rPr>
              <a:t>HOW ONE FORECAST IS MADE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4078224" y="1463040"/>
            <a:ext cx="3657600" cy="475488"/>
          </a:xfrm>
          <a:prstGeom prst="parallelogram">
            <a:avLst/>
          </a:prstGeom>
          <a:solidFill>
            <a:srgbClr val="EFF5F4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12161F"/>
                </a:solidFill>
                <a:latin typeface="Segoe UI"/>
              </a:rPr>
              <a:t>LIVE STATE</a:t>
            </a:r>
          </a:p>
          <a:p>
            <a:pPr algn="ctr">
              <a:lnSpc>
                <a:spcPct val="95000"/>
              </a:lnSpc>
            </a:pPr>
            <a:r>
              <a:rPr sz="900">
                <a:solidFill>
                  <a:srgbClr val="5B6472"/>
                </a:solidFill>
                <a:latin typeface="Segoe UI"/>
              </a:rPr>
              <a:t>position, delay, block occupancy, restrictions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07024" y="1938528"/>
            <a:ext cx="0" cy="201168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306824" y="2139696"/>
            <a:ext cx="3200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12161F"/>
                </a:solidFill>
                <a:latin typeface="Segoe UI"/>
              </a:rPr>
              <a:t>A · Free-run time</a:t>
            </a:r>
          </a:p>
          <a:p>
            <a:pPr algn="ctr">
              <a:lnSpc>
                <a:spcPct val="95000"/>
              </a:lnSpc>
            </a:pPr>
            <a:r>
              <a:rPr sz="900">
                <a:solidFill>
                  <a:srgbClr val="5B6472"/>
                </a:solidFill>
                <a:latin typeface="Segoe UI"/>
              </a:rPr>
              <a:t>the physics of the section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07024" y="2596896"/>
            <a:ext cx="0" cy="201168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iamond 28"/>
          <p:cNvSpPr/>
          <p:nvPr/>
        </p:nvSpPr>
        <p:spPr>
          <a:xfrm>
            <a:off x="4489704" y="2798064"/>
            <a:ext cx="2834640" cy="786384"/>
          </a:xfrm>
          <a:prstGeom prst="diamond">
            <a:avLst/>
          </a:prstGeom>
          <a:solidFill>
            <a:srgbClr val="FDF6EC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12161F"/>
                </a:solidFill>
                <a:latin typeface="Segoe UI"/>
              </a:rPr>
              <a:t>Conflict on the block ahead?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1888" y="36027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B45309"/>
                </a:solidFill>
                <a:latin typeface="Segoe UI"/>
              </a:rPr>
              <a:t>yes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07024" y="3584448"/>
            <a:ext cx="0" cy="201167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3913632" y="3191256"/>
            <a:ext cx="576072" cy="0"/>
          </a:xfrm>
          <a:prstGeom prst="line">
            <a:avLst/>
          </a:prstGeom>
          <a:ln w="13970">
            <a:solidFill>
              <a:srgbClr val="8A94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913632" y="3191256"/>
            <a:ext cx="0" cy="1783080"/>
          </a:xfrm>
          <a:prstGeom prst="line">
            <a:avLst/>
          </a:prstGeom>
          <a:ln w="13970">
            <a:solidFill>
              <a:srgbClr val="8A94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913632" y="4974336"/>
            <a:ext cx="393192" cy="0"/>
          </a:xfrm>
          <a:prstGeom prst="line">
            <a:avLst/>
          </a:prstGeom>
          <a:ln w="13970">
            <a:solidFill>
              <a:srgbClr val="8A94A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931920" y="298094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5B6472"/>
                </a:solidFill>
                <a:latin typeface="Segoe UI"/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06824" y="3785615"/>
            <a:ext cx="3200400" cy="512064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12161F"/>
                </a:solidFill>
                <a:latin typeface="Segoe UI"/>
              </a:rPr>
              <a:t>B · Conflict simulation</a:t>
            </a:r>
          </a:p>
          <a:p>
            <a:pPr algn="ctr">
              <a:lnSpc>
                <a:spcPct val="95000"/>
              </a:lnSpc>
            </a:pPr>
            <a:r>
              <a:rPr sz="900">
                <a:solidFill>
                  <a:srgbClr val="5B6472"/>
                </a:solidFill>
                <a:latin typeface="Segoe UI"/>
              </a:rPr>
              <a:t>advance every train on the block graph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07024" y="4297680"/>
            <a:ext cx="0" cy="201168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306824" y="4498848"/>
            <a:ext cx="3200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12161F"/>
                </a:solidFill>
                <a:latin typeface="Segoe UI"/>
              </a:rPr>
              <a:t>C · Learned residual</a:t>
            </a:r>
          </a:p>
          <a:p>
            <a:pPr algn="ctr">
              <a:lnSpc>
                <a:spcPct val="95000"/>
              </a:lnSpc>
            </a:pPr>
            <a:r>
              <a:rPr sz="900">
                <a:solidFill>
                  <a:srgbClr val="5B6472"/>
                </a:solidFill>
                <a:latin typeface="Segoe UI"/>
              </a:rPr>
              <a:t>corrects what the rules cannot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07024" y="4956048"/>
            <a:ext cx="0" cy="201168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306824" y="5157216"/>
            <a:ext cx="3200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12161F"/>
                </a:solidFill>
                <a:latin typeface="Segoe UI"/>
              </a:rPr>
              <a:t>D · Calibrated window</a:t>
            </a:r>
          </a:p>
          <a:p>
            <a:pPr algn="ctr">
              <a:lnSpc>
                <a:spcPct val="95000"/>
              </a:lnSpc>
            </a:pPr>
            <a:r>
              <a:rPr sz="900">
                <a:solidFill>
                  <a:srgbClr val="5B6472"/>
                </a:solidFill>
                <a:latin typeface="Segoe UI"/>
              </a:rPr>
              <a:t>audited 80% coverage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07024" y="5614416"/>
            <a:ext cx="0" cy="201168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215384" y="5815584"/>
            <a:ext cx="3383280" cy="475488"/>
          </a:xfrm>
          <a:prstGeom prst="roundRect">
            <a:avLst>
              <a:gd name="adj" fmla="val 50000"/>
            </a:avLst>
          </a:prstGeom>
          <a:solidFill>
            <a:srgbClr val="EFF5F4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0F766E"/>
                </a:solidFill>
                <a:latin typeface="Segoe UI"/>
              </a:rPr>
              <a:t>DECISION SURFACES</a:t>
            </a:r>
          </a:p>
          <a:p>
            <a:pPr algn="ctr">
              <a:lnSpc>
                <a:spcPct val="95000"/>
              </a:lnSpc>
            </a:pPr>
            <a:r>
              <a:rPr sz="900">
                <a:solidFill>
                  <a:srgbClr val="5B6472"/>
                </a:solidFill>
                <a:latin typeface="Segoe UI"/>
              </a:rPr>
              <a:t>window · connection risk · costed precedence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598664" y="6053328"/>
            <a:ext cx="301752" cy="0"/>
          </a:xfrm>
          <a:prstGeom prst="line">
            <a:avLst/>
          </a:prstGeom>
          <a:ln w="13970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900416" y="1700784"/>
            <a:ext cx="0" cy="4352544"/>
          </a:xfrm>
          <a:prstGeom prst="line">
            <a:avLst/>
          </a:prstGeom>
          <a:ln w="13970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7735824" y="1700784"/>
            <a:ext cx="164592" cy="0"/>
          </a:xfrm>
          <a:prstGeom prst="line">
            <a:avLst/>
          </a:prstGeom>
          <a:ln w="13970">
            <a:solidFill>
              <a:srgbClr val="B4530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955280" y="35661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Segoe UI"/>
              </a:rPr>
              <a:t>every actual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Segoe UI"/>
              </a:rPr>
              <a:t>arrival re-fits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Segoe UI"/>
              </a:rPr>
              <a:t>the rest of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Segoe UI"/>
              </a:rPr>
              <a:t>the run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87968" y="1188720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Consolas"/>
              </a:rPr>
              <a:t>INNOVATION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87968" y="1481328"/>
            <a:ext cx="2798064" cy="1042415"/>
          </a:xfrm>
          <a:prstGeom prst="rect">
            <a:avLst/>
          </a:prstGeom>
          <a:solidFill>
            <a:srgbClr val="EFF5F4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887968" y="1481328"/>
            <a:ext cx="32004" cy="1042415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15984" y="1591056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2161F"/>
                </a:solidFill>
                <a:latin typeface="Segoe UI"/>
              </a:rPr>
              <a:t>Forecasts the cause, not the clock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15984" y="1847088"/>
            <a:ext cx="2542032" cy="585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Trains advanced over the real block-section graph until they conflict, so the ETA moves for a reason we can name.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87968" y="2651760"/>
            <a:ext cx="2798064" cy="1042415"/>
          </a:xfrm>
          <a:prstGeom prst="rect">
            <a:avLst/>
          </a:prstGeom>
          <a:solidFill>
            <a:srgbClr val="EFF5F4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87968" y="2651760"/>
            <a:ext cx="32004" cy="1042415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15984" y="2761488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2161F"/>
                </a:solidFill>
                <a:latin typeface="Segoe UI"/>
              </a:rPr>
              <a:t>Says how sure it is, and proves 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15984" y="3017520"/>
            <a:ext cx="2542032" cy="585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Conformal calibration gives an 80% window checked per horizon, segment and time of day.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87968" y="3822191"/>
            <a:ext cx="2798064" cy="1042415"/>
          </a:xfrm>
          <a:prstGeom prst="rect">
            <a:avLst/>
          </a:prstGeom>
          <a:solidFill>
            <a:srgbClr val="EFF5F4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887968" y="3822191"/>
            <a:ext cx="32004" cy="1042415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15984" y="3931920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2161F"/>
                </a:solidFill>
                <a:latin typeface="Segoe UI"/>
              </a:rPr>
              <a:t>Turns the window into a decision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15984" y="4187952"/>
            <a:ext cx="2542032" cy="585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Connection-make probability, a leave-home prompt, and the cost in network-minutes of letting one train go first.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87968" y="4992624"/>
            <a:ext cx="2798064" cy="1042415"/>
          </a:xfrm>
          <a:prstGeom prst="rect">
            <a:avLst/>
          </a:prstGeom>
          <a:solidFill>
            <a:srgbClr val="EFF5F4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887968" y="4992624"/>
            <a:ext cx="32004" cy="1042415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15984" y="5102352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2161F"/>
                </a:solidFill>
                <a:latin typeface="Segoe UI"/>
              </a:rPr>
              <a:t>Survives a disrupted network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15984" y="5358384"/>
            <a:ext cx="2542032" cy="585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Cancellations and diversions re-plan the remaining sections instead of breaking the forecast.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4980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2161F"/>
                </a:solidFill>
                <a:latin typeface="Segoe UI"/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Segoe UI"/>
              </a:rPr>
              <a:t>five stages, each one testable on its 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8695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Consolas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24128"/>
            <a:ext cx="11185855" cy="0"/>
          </a:xfrm>
          <a:prstGeom prst="line">
            <a:avLst/>
          </a:prstGeom>
          <a:ln w="1143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arallelogram 6"/>
          <p:cNvSpPr/>
          <p:nvPr/>
        </p:nvSpPr>
        <p:spPr>
          <a:xfrm>
            <a:off x="502920" y="1353312"/>
            <a:ext cx="1783080" cy="960120"/>
          </a:xfrm>
          <a:prstGeom prst="parallelogram">
            <a:avLst/>
          </a:prstGeom>
          <a:solidFill>
            <a:srgbClr val="EFF5F4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12161F"/>
                </a:solidFill>
                <a:latin typeface="Segoe UI"/>
              </a:rPr>
              <a:t>1 · DATA IN</a:t>
            </a:r>
          </a:p>
          <a:p>
            <a:pPr algn="ctr">
              <a:lnSpc>
                <a:spcPct val="95000"/>
              </a:lnSpc>
            </a:pPr>
            <a:r>
              <a:rPr sz="900">
                <a:solidFill>
                  <a:srgbClr val="5B6472"/>
                </a:solidFill>
                <a:latin typeface="Segoe UI"/>
              </a:rPr>
              <a:t>position feed, timetable,
block graph, weather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40864" y="1833372"/>
            <a:ext cx="256032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51760" y="1353312"/>
            <a:ext cx="178308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12161F"/>
                </a:solidFill>
                <a:latin typeface="Segoe UI"/>
              </a:rPr>
              <a:t>2 · STATE &amp; FEATURES</a:t>
            </a:r>
          </a:p>
          <a:p>
            <a:pPr algn="ctr">
              <a:lnSpc>
                <a:spcPct val="95000"/>
              </a:lnSpc>
            </a:pPr>
            <a:r>
              <a:rPr sz="900">
                <a:solidFill>
                  <a:srgbClr val="5B6472"/>
                </a:solidFill>
                <a:latin typeface="Segoe UI"/>
              </a:rPr>
              <a:t>delay momentum, padding left,
trains in the same block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89704" y="1833372"/>
            <a:ext cx="256032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800600" y="1261872"/>
            <a:ext cx="2331720" cy="1143000"/>
          </a:xfrm>
          <a:prstGeom prst="rect">
            <a:avLst/>
          </a:prstGeom>
          <a:solidFill>
            <a:srgbClr val="FDF6EC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12161F"/>
                </a:solidFill>
                <a:latin typeface="Segoe UI"/>
              </a:rPr>
              <a:t>3 · FORECAST CORE</a:t>
            </a:r>
          </a:p>
          <a:p>
            <a:pPr algn="ctr">
              <a:lnSpc>
                <a:spcPct val="95000"/>
              </a:lnSpc>
            </a:pPr>
            <a:r>
              <a:rPr sz="900">
                <a:solidFill>
                  <a:srgbClr val="5B6472"/>
                </a:solidFill>
                <a:latin typeface="Segoe UI"/>
              </a:rPr>
              <a:t>A free-run · B conflict simulator
C learned residual · D conformal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87184" y="1833372"/>
            <a:ext cx="256032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iamond 12"/>
          <p:cNvSpPr/>
          <p:nvPr/>
        </p:nvSpPr>
        <p:spPr>
          <a:xfrm>
            <a:off x="7498079" y="1152144"/>
            <a:ext cx="2103120" cy="1362456"/>
          </a:xfrm>
          <a:prstGeom prst="diamond">
            <a:avLst/>
          </a:prstGeom>
          <a:solidFill>
            <a:srgbClr val="FDF6EC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2161F"/>
                </a:solidFill>
                <a:latin typeface="Segoe UI"/>
              </a:rPr>
              <a:t>4 · Coverage on target,
per segment and horizon?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56064" y="1833372"/>
            <a:ext cx="256032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74352" y="161391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Segoe UI"/>
              </a:rPr>
              <a:t>yes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1353312"/>
            <a:ext cx="1719072" cy="960120"/>
          </a:xfrm>
          <a:prstGeom prst="roundRect">
            <a:avLst>
              <a:gd name="adj" fmla="val 50000"/>
            </a:avLst>
          </a:prstGeom>
          <a:solidFill>
            <a:srgbClr val="EFF5F4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0F766E"/>
                </a:solidFill>
                <a:latin typeface="Segoe UI"/>
              </a:rPr>
              <a:t>5 · DELIVERY</a:t>
            </a:r>
          </a:p>
          <a:p>
            <a:pPr algn="ctr">
              <a:lnSpc>
                <a:spcPct val="95000"/>
              </a:lnSpc>
            </a:pPr>
            <a:r>
              <a:rPr sz="900">
                <a:solidFill>
                  <a:srgbClr val="5B6472"/>
                </a:solidFill>
                <a:latin typeface="Segoe UI"/>
              </a:rPr>
              <a:t>app · displays · SMS/IVR
control console · API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49640" y="2514600"/>
            <a:ext cx="0" cy="484632"/>
          </a:xfrm>
          <a:prstGeom prst="line">
            <a:avLst/>
          </a:prstGeom>
          <a:ln w="13970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61888" y="2999232"/>
            <a:ext cx="2587752" cy="0"/>
          </a:xfrm>
          <a:prstGeom prst="line">
            <a:avLst/>
          </a:prstGeom>
          <a:ln w="13970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961888" y="2404872"/>
            <a:ext cx="0" cy="594360"/>
          </a:xfrm>
          <a:prstGeom prst="line">
            <a:avLst/>
          </a:prstGeom>
          <a:ln w="13970">
            <a:solidFill>
              <a:srgbClr val="B4530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13648" y="25420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B45309"/>
                </a:solidFill>
                <a:latin typeface="Segoe UI"/>
              </a:rP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03580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B45309"/>
                </a:solidFill>
                <a:latin typeface="Segoe UI"/>
              </a:rPr>
              <a:t>re-fit the conformal quantiles for the group that missed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0156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Consolas"/>
              </a:rPr>
              <a:t>WHAT MAKES THE FORECAST MOVE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675887"/>
            <a:ext cx="2596896" cy="859536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675887"/>
            <a:ext cx="32004" cy="85953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3785615"/>
            <a:ext cx="23408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2161F"/>
                </a:solidFill>
                <a:latin typeface="Segoe UI"/>
              </a:rPr>
              <a:t>Arrivals forced monotone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" y="4041648"/>
            <a:ext cx="2340863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A run can never arrive somewhere before the station behind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3675887"/>
            <a:ext cx="2596896" cy="859536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46120" y="3675887"/>
            <a:ext cx="32004" cy="85953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74136" y="3785615"/>
            <a:ext cx="23408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2161F"/>
                </a:solidFill>
                <a:latin typeface="Segoe UI"/>
              </a:rPr>
              <a:t>Attribution on every change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4136" y="4041648"/>
            <a:ext cx="2340863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Names the blocking train, the section and the feature responsible.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645152"/>
            <a:ext cx="2596896" cy="859536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645152"/>
            <a:ext cx="32004" cy="85953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4754880"/>
            <a:ext cx="23408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2161F"/>
                </a:solidFill>
                <a:latin typeface="Segoe UI"/>
              </a:rPr>
              <a:t>Online correction at every halt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" y="5010912"/>
            <a:ext cx="2340863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Each actual arrival is a free label: the rest of the run re-forecasts.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20" y="4645152"/>
            <a:ext cx="2596896" cy="859536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46120" y="4645152"/>
            <a:ext cx="32004" cy="85953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74136" y="4754880"/>
            <a:ext cx="23408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2161F"/>
                </a:solidFill>
                <a:latin typeface="Segoe UI"/>
              </a:rPr>
              <a:t>Drift monitor and retraining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74136" y="5010912"/>
            <a:ext cx="2340863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Weekly refit, alarm on coverage or MAE drift by segment.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340156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Consolas"/>
              </a:rPr>
              <a:t>TECH STACK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27648" y="3675887"/>
            <a:ext cx="2596896" cy="859536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27648" y="3675887"/>
            <a:ext cx="2596896" cy="274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379475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2161F"/>
                </a:solidFill>
                <a:latin typeface="Segoe UI"/>
              </a:rPr>
              <a:t>Models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5664" y="404164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onsolas"/>
              </a:rPr>
              <a:t>Python · LightGBM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onsolas"/>
              </a:rPr>
              <a:t>scikit-learn · MAPIE · SHAP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70848" y="3675887"/>
            <a:ext cx="2596896" cy="859536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70848" y="3675887"/>
            <a:ext cx="2596896" cy="274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98864" y="379475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2161F"/>
                </a:solidFill>
                <a:latin typeface="Segoe UI"/>
              </a:rPr>
              <a:t>Simulation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98864" y="404164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onsolas"/>
              </a:rPr>
              <a:t>NetworkX block graph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onsolas"/>
              </a:rPr>
              <a:t>event-driven, priority rules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27648" y="4645152"/>
            <a:ext cx="2596896" cy="859536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27648" y="4645152"/>
            <a:ext cx="2596896" cy="274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55664" y="476402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2161F"/>
                </a:solidFill>
                <a:latin typeface="Segoe UI"/>
              </a:rPr>
              <a:t>Serving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55664" y="501091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onsolas"/>
              </a:rPr>
              <a:t>FastAPI · Redis Streams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onsolas"/>
              </a:rPr>
              <a:t>PostgreSQL + PostGIS · K8s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70848" y="4645152"/>
            <a:ext cx="2596896" cy="859536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70848" y="4645152"/>
            <a:ext cx="2596896" cy="274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98864" y="476402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2161F"/>
                </a:solidFill>
                <a:latin typeface="Segoe UI"/>
              </a:rPr>
              <a:t>Interface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98864" y="501091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onsolas"/>
              </a:rPr>
              <a:t>React · MapLibre GL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Consolas"/>
              </a:rPr>
              <a:t>REST / WebSocket · SMS gateway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A94A3"/>
                </a:solidFill>
                <a:latin typeface="Segoe UI"/>
              </a:rPr>
              <a:t>Every component is established open source with published benchmarks. No new trackside hardware — the system consumes position feeds Indian Railways already produces, through a swappable adapter.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4980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2161F"/>
                </a:solidFill>
                <a:latin typeface="Segoe UI"/>
              </a:rPr>
              <a:t>Tech Stack —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Segoe UI"/>
              </a:rPr>
              <a:t>six layers, one direction of flow, and the loop that keeps it honest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8695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Consolas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24128"/>
            <a:ext cx="11185855" cy="0"/>
          </a:xfrm>
          <a:prstGeom prst="line">
            <a:avLst/>
          </a:prstGeom>
          <a:ln w="1143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408176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8A94A3"/>
                </a:solidFill>
                <a:latin typeface="Consolas"/>
              </a:rPr>
              <a:t>SOURCES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4752" y="1188720"/>
            <a:ext cx="1993392" cy="621792"/>
          </a:xfrm>
          <a:prstGeom prst="rect">
            <a:avLst/>
          </a:prstGeom>
          <a:solidFill>
            <a:srgbClr val="F6F7F9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5336" y="1271016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NTES / FOIS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5336" y="1481328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live position feed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188720"/>
            <a:ext cx="1993392" cy="621792"/>
          </a:xfrm>
          <a:prstGeom prst="rect">
            <a:avLst/>
          </a:prstGeom>
          <a:solidFill>
            <a:srgbClr val="F6F7F9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1271016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Working timetable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481328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schedules, halts, padding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87568" y="1188720"/>
            <a:ext cx="1993392" cy="621792"/>
          </a:xfrm>
          <a:prstGeom prst="rect">
            <a:avLst/>
          </a:prstGeom>
          <a:solidFill>
            <a:srgbClr val="F6F7F9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1271016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OSM / Overpass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1481328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block sections, loops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08975" y="1188720"/>
            <a:ext cx="1993392" cy="621792"/>
          </a:xfrm>
          <a:prstGeom prst="rect">
            <a:avLst/>
          </a:prstGeom>
          <a:solidFill>
            <a:srgbClr val="F6F7F9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59" y="1271016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Open-Meteo ERA5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59" y="1481328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observed + forecast weather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09360" y="1847088"/>
            <a:ext cx="0" cy="164592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2267712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Consolas"/>
              </a:rPr>
              <a:t>INGEST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44752" y="2048256"/>
            <a:ext cx="1993392" cy="621792"/>
          </a:xfrm>
          <a:prstGeom prst="rect">
            <a:avLst/>
          </a:prstGeom>
          <a:solidFill>
            <a:srgbClr val="EFF5F4"/>
          </a:solidFill>
          <a:ln w="1143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45336" y="2130552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StaticFeed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2340864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stations, roster, WTT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2048256"/>
            <a:ext cx="1993392" cy="621792"/>
          </a:xfrm>
          <a:prstGeom prst="rect">
            <a:avLst/>
          </a:prstGeom>
          <a:solidFill>
            <a:srgbClr val="EFF5F4"/>
          </a:solidFill>
          <a:ln w="1143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66744" y="2130552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WeatherFeed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66744" y="2340864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fog index, rain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87568" y="2048256"/>
            <a:ext cx="1993392" cy="621792"/>
          </a:xfrm>
          <a:prstGeom prst="rect">
            <a:avLst/>
          </a:prstGeom>
          <a:solidFill>
            <a:srgbClr val="EFF5F4"/>
          </a:solidFill>
          <a:ln w="1143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88152" y="2130552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LiveFeed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88152" y="2340864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position + delay, polled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08975" y="2048256"/>
            <a:ext cx="1993392" cy="621792"/>
          </a:xfrm>
          <a:prstGeom prst="rect">
            <a:avLst/>
          </a:prstGeom>
          <a:solidFill>
            <a:srgbClr val="EFF5F4"/>
          </a:solidFill>
          <a:ln w="1143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59" y="2130552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Phone motion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59" y="2340864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opt-in, optional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09360" y="2706624"/>
            <a:ext cx="0" cy="164592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3127248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8A94A3"/>
                </a:solidFill>
                <a:latin typeface="Consolas"/>
              </a:rPr>
              <a:t>STORAGE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44752" y="2907792"/>
            <a:ext cx="1993392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45336" y="2990088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PostgreSQL + PostGIS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45336" y="3200400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block graph, run history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2907792"/>
            <a:ext cx="1993392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66744" y="2990088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Redis Streams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6744" y="3200400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live state, feature cache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87568" y="2907792"/>
            <a:ext cx="1993392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88152" y="2990088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LiveStore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88152" y="3200400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observed arrivals, append-only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08975" y="2907792"/>
            <a:ext cx="1993392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09559" y="2990088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Object store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59" y="3200400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models, calibration sets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309360" y="3566160"/>
            <a:ext cx="0" cy="164592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02920" y="3986784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Consolas"/>
              </a:rPr>
              <a:t>COMPUTE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44752" y="3767328"/>
            <a:ext cx="1993392" cy="621792"/>
          </a:xfrm>
          <a:prstGeom prst="rect">
            <a:avLst/>
          </a:prstGeom>
          <a:solidFill>
            <a:srgbClr val="FDF6EC"/>
          </a:solidFill>
          <a:ln w="1143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45336" y="3849624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Offline — nightly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45336" y="405993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free-run + residual fit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66160" y="3767328"/>
            <a:ext cx="1993392" cy="621792"/>
          </a:xfrm>
          <a:prstGeom prst="rect">
            <a:avLst/>
          </a:prstGeom>
          <a:solidFill>
            <a:srgbClr val="FDF6EC"/>
          </a:solidFill>
          <a:ln w="1143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66744" y="3849624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Conformal calibration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66744" y="405993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per group quantiles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87568" y="3767328"/>
            <a:ext cx="1993392" cy="621792"/>
          </a:xfrm>
          <a:prstGeom prst="rect">
            <a:avLst/>
          </a:prstGeom>
          <a:solidFill>
            <a:srgbClr val="FDF6EC"/>
          </a:solidFill>
          <a:ln w="1143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88152" y="3849624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Online — every 30 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88152" y="405993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block-graph replay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08975" y="3767328"/>
            <a:ext cx="1993392" cy="621792"/>
          </a:xfrm>
          <a:prstGeom prst="rect">
            <a:avLst/>
          </a:prstGeom>
          <a:solidFill>
            <a:srgbClr val="FDF6EC"/>
          </a:solidFill>
          <a:ln w="1143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09559" y="3849624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Batched inference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59" y="405993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0.46 ms per station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309360" y="4425696"/>
            <a:ext cx="0" cy="164592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02920" y="484632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8A94A3"/>
                </a:solidFill>
                <a:latin typeface="Consolas"/>
              </a:rPr>
              <a:t>SERVING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44752" y="4626864"/>
            <a:ext cx="1993392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545336" y="4709160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FastAPI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45336" y="4919472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REST + WebSocket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66160" y="4626864"/>
            <a:ext cx="1993392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66744" y="4709160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Docker · Kubernetes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66744" y="4919472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one node per zone, no GPU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87568" y="4626864"/>
            <a:ext cx="1993392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88152" y="4709160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Sharded by zone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88152" y="4919472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national run inside 30 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08975" y="4626864"/>
            <a:ext cx="1993392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09559" y="4709160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p95 &lt; 200 ms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09559" y="4919472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API latency budget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309360" y="5285232"/>
            <a:ext cx="0" cy="164592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02920" y="5705856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Consolas"/>
              </a:rPr>
              <a:t>CLIENTS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444752" y="5486400"/>
            <a:ext cx="1993392" cy="621792"/>
          </a:xfrm>
          <a:prstGeom prst="rect">
            <a:avLst/>
          </a:prstGeom>
          <a:solidFill>
            <a:srgbClr val="EFF5F4"/>
          </a:solidFill>
          <a:ln w="1143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45336" y="5568696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Passenger app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45336" y="5779008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React · MapLibre GL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566160" y="5486400"/>
            <a:ext cx="1993392" cy="621792"/>
          </a:xfrm>
          <a:prstGeom prst="rect">
            <a:avLst/>
          </a:prstGeom>
          <a:solidFill>
            <a:srgbClr val="EFF5F4"/>
          </a:solidFill>
          <a:ln w="1143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66744" y="5568696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Station displays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66744" y="5779008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window + platform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87568" y="5486400"/>
            <a:ext cx="1993392" cy="621792"/>
          </a:xfrm>
          <a:prstGeom prst="rect">
            <a:avLst/>
          </a:prstGeom>
          <a:solidFill>
            <a:srgbClr val="EFF5F4"/>
          </a:solidFill>
          <a:ln w="1143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88152" y="5568696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SMS / IVR 139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88152" y="5779008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regional languages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08975" y="5486400"/>
            <a:ext cx="1993392" cy="621792"/>
          </a:xfrm>
          <a:prstGeom prst="rect">
            <a:avLst/>
          </a:prstGeom>
          <a:solidFill>
            <a:srgbClr val="EFF5F4"/>
          </a:solidFill>
          <a:ln w="1143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909559" y="5568696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Control console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09559" y="5779008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Consolas"/>
              </a:rPr>
              <a:t>costed precedence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40112" y="1188720"/>
            <a:ext cx="1645920" cy="4590288"/>
          </a:xfrm>
          <a:prstGeom prst="rect">
            <a:avLst/>
          </a:prstGeom>
          <a:solidFill>
            <a:srgbClr val="FDFAF5"/>
          </a:solidFill>
          <a:ln w="1397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158984" y="131673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Consolas"/>
              </a:rPr>
              <a:t>CALIBRATION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Consolas"/>
              </a:rPr>
              <a:t>LOOP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58984" y="1755648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5B6472"/>
                </a:solidFill>
                <a:latin typeface="Segoe UI"/>
              </a:rPr>
              <a:t>No public archive of past arrivals exists. History is accumulated by polling, then used to fit what cannot be measured.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158984" y="2615184"/>
            <a:ext cx="141732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E8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259568" y="2697479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2161F"/>
                </a:solidFill>
                <a:latin typeface="Segoe UI"/>
              </a:rPr>
              <a:t>collect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59568" y="289864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B6472"/>
                </a:solidFill>
                <a:latin typeface="Consolas"/>
              </a:rPr>
              <a:t>poll the live feed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0863072" y="3209544"/>
            <a:ext cx="0" cy="137160"/>
          </a:xfrm>
          <a:prstGeom prst="line">
            <a:avLst/>
          </a:prstGeom>
          <a:ln w="13970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0158984" y="3383280"/>
            <a:ext cx="141732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E8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59568" y="3465576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2161F"/>
                </a:solidFill>
                <a:latin typeface="Segoe UI"/>
              </a:rPr>
              <a:t>validate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259568" y="3666744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B6472"/>
                </a:solidFill>
                <a:latin typeface="Consolas"/>
              </a:rPr>
              <a:t>observed vs simulated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0863072" y="3977640"/>
            <a:ext cx="0" cy="137160"/>
          </a:xfrm>
          <a:prstGeom prst="line">
            <a:avLst/>
          </a:prstGeom>
          <a:ln w="13970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10158984" y="4151376"/>
            <a:ext cx="141732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E8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59568" y="42336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2161F"/>
                </a:solidFill>
                <a:latin typeface="Segoe UI"/>
              </a:rPr>
              <a:t>calibrate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259568" y="4434840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B6472"/>
                </a:solidFill>
                <a:latin typeface="Consolas"/>
              </a:rPr>
              <a:t>fit to the real distribution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0863072" y="4745736"/>
            <a:ext cx="0" cy="137160"/>
          </a:xfrm>
          <a:prstGeom prst="line">
            <a:avLst/>
          </a:prstGeom>
          <a:ln w="13970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10158984" y="4919472"/>
            <a:ext cx="141732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259568" y="500176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2161F"/>
                </a:solidFill>
                <a:latin typeface="Segoe UI"/>
              </a:rPr>
              <a:t>SimConfig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59568" y="5202936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B6472"/>
                </a:solidFill>
                <a:latin typeface="Consolas"/>
              </a:rPr>
              <a:t>carries its own residuals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A94A3"/>
                </a:solidFill>
                <a:latin typeface="Segoe UI"/>
              </a:rPr>
              <a:t>Sources, corridor, timetable and weather are measured from published data. How delay arises is modelled — the calibration loop fits it to live running data as that is collected.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4980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2161F"/>
                </a:solidFill>
                <a:latin typeface="Segoe UI"/>
              </a:rPr>
              <a:t>Runtime flow — one re-forecast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Segoe UI"/>
              </a:rPr>
              <a:t>what happens every 30 seconds, for every running 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8695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Consolas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24128"/>
            <a:ext cx="11185855" cy="0"/>
          </a:xfrm>
          <a:prstGeom prst="line">
            <a:avLst/>
          </a:prstGeom>
          <a:ln w="1143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534656" y="310896"/>
            <a:ext cx="292608" cy="173736"/>
          </a:xfrm>
          <a:prstGeom prst="roundRect">
            <a:avLst>
              <a:gd name="adj" fmla="val 50000"/>
            </a:avLst>
          </a:prstGeom>
          <a:solidFill>
            <a:srgbClr val="EFF5F4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0F766E"/>
                </a:solidFill>
                <a:latin typeface="Segoe U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2983" y="338328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B6472"/>
                </a:solidFill>
                <a:latin typeface="Segoe UI"/>
              </a:rPr>
              <a:t>start / 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310896"/>
            <a:ext cx="292608" cy="173736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12161F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38328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B6472"/>
                </a:solidFill>
                <a:latin typeface="Segoe UI"/>
              </a:rPr>
              <a:t>process</a:t>
            </a:r>
          </a:p>
        </p:txBody>
      </p:sp>
      <p:sp>
        <p:nvSpPr>
          <p:cNvPr id="11" name="Diamond 10"/>
          <p:cNvSpPr/>
          <p:nvPr/>
        </p:nvSpPr>
        <p:spPr>
          <a:xfrm>
            <a:off x="9144000" y="310896"/>
            <a:ext cx="292608" cy="173736"/>
          </a:xfrm>
          <a:prstGeom prst="diamond">
            <a:avLst/>
          </a:prstGeom>
          <a:solidFill>
            <a:srgbClr val="FDF6EC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12161F"/>
                </a:solidFill>
                <a:latin typeface="Segoe U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82328" y="338328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B6472"/>
                </a:solidFill>
                <a:latin typeface="Segoe UI"/>
              </a:rPr>
              <a:t>decision</a:t>
            </a:r>
          </a:p>
        </p:txBody>
      </p:sp>
      <p:sp>
        <p:nvSpPr>
          <p:cNvPr id="13" name="Parallelogram 12"/>
          <p:cNvSpPr/>
          <p:nvPr/>
        </p:nvSpPr>
        <p:spPr>
          <a:xfrm>
            <a:off x="9948672" y="310896"/>
            <a:ext cx="292608" cy="173736"/>
          </a:xfrm>
          <a:prstGeom prst="parallelogram">
            <a:avLst/>
          </a:prstGeom>
          <a:solidFill>
            <a:srgbClr val="EFF5F4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12161F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338328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B6472"/>
                </a:solidFill>
                <a:latin typeface="Segoe UI"/>
              </a:rPr>
              <a:t>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371600"/>
            <a:ext cx="1965960" cy="786384"/>
          </a:xfrm>
          <a:prstGeom prst="roundRect">
            <a:avLst>
              <a:gd name="adj" fmla="val 50000"/>
            </a:avLst>
          </a:prstGeom>
          <a:solidFill>
            <a:srgbClr val="EFF5F4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0F766E"/>
                </a:solidFill>
                <a:latin typeface="Segoe UI"/>
              </a:rPr>
              <a:t>POSITION REPORT</a:t>
            </a:r>
          </a:p>
          <a:p>
            <a:pPr algn="ctr">
              <a:lnSpc>
                <a:spcPct val="95000"/>
              </a:lnSpc>
            </a:pPr>
            <a:r>
              <a:rPr sz="900">
                <a:solidFill>
                  <a:srgbClr val="5B6472"/>
                </a:solidFill>
                <a:latin typeface="Segoe UI"/>
              </a:rPr>
              <a:t>or the 30 s clock fires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1764792"/>
            <a:ext cx="338328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07208" y="1371600"/>
            <a:ext cx="196596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12161F"/>
                </a:solidFill>
                <a:latin typeface="Segoe UI"/>
              </a:rPr>
              <a:t>Update live state</a:t>
            </a:r>
          </a:p>
          <a:p>
            <a:pPr algn="ctr">
              <a:lnSpc>
                <a:spcPct val="95000"/>
              </a:lnSpc>
            </a:pPr>
            <a:r>
              <a:rPr sz="900">
                <a:solidFill>
                  <a:srgbClr val="5B6472"/>
                </a:solidFill>
                <a:latin typeface="Segoe UI"/>
              </a:rPr>
              <a:t>delay, momentum, block occupancy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73168" y="1764792"/>
            <a:ext cx="338328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iamond 18"/>
          <p:cNvSpPr/>
          <p:nvPr/>
        </p:nvSpPr>
        <p:spPr>
          <a:xfrm>
            <a:off x="5111496" y="1280160"/>
            <a:ext cx="1965960" cy="969264"/>
          </a:xfrm>
          <a:prstGeom prst="diamond">
            <a:avLst/>
          </a:prstGeom>
          <a:solidFill>
            <a:srgbClr val="FDF6EC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12161F"/>
                </a:solidFill>
                <a:latin typeface="Segoe UI"/>
              </a:rPr>
              <a:t>Train running?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77456" y="1764792"/>
            <a:ext cx="338327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095744" y="156362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Segoe UI"/>
              </a:rPr>
              <a:t>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15783" y="1371600"/>
            <a:ext cx="196596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12161F"/>
                </a:solidFill>
                <a:latin typeface="Segoe UI"/>
              </a:rPr>
              <a:t>A · Free-run time</a:t>
            </a:r>
          </a:p>
          <a:p>
            <a:pPr algn="ctr">
              <a:lnSpc>
                <a:spcPct val="95000"/>
              </a:lnSpc>
            </a:pPr>
            <a:r>
              <a:rPr sz="900">
                <a:solidFill>
                  <a:srgbClr val="5B6472"/>
                </a:solidFill>
                <a:latin typeface="Segoe UI"/>
              </a:rPr>
              <a:t>per remaining section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81744" y="1764792"/>
            <a:ext cx="338328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720072" y="1371600"/>
            <a:ext cx="196596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2161F"/>
                </a:solidFill>
                <a:latin typeface="Segoe UI"/>
              </a:rPr>
              <a:t>B · Advance the block graph</a:t>
            </a:r>
          </a:p>
          <a:p>
            <a:pPr algn="ctr">
              <a:lnSpc>
                <a:spcPct val="95000"/>
              </a:lnSpc>
            </a:pPr>
            <a:r>
              <a:rPr sz="800">
                <a:solidFill>
                  <a:srgbClr val="5B6472"/>
                </a:solidFill>
                <a:latin typeface="Segoe UI"/>
              </a:rPr>
              <a:t>every train, in event order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4476" y="2249424"/>
            <a:ext cx="0" cy="182880"/>
          </a:xfrm>
          <a:prstGeom prst="line">
            <a:avLst/>
          </a:prstGeom>
          <a:ln w="1397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605272" y="2432304"/>
            <a:ext cx="489204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374136" y="2249424"/>
            <a:ext cx="2194560" cy="365760"/>
          </a:xfrm>
          <a:prstGeom prst="rect">
            <a:avLst/>
          </a:prstGeom>
          <a:solidFill>
            <a:srgbClr val="F6F7F9"/>
          </a:solidFill>
          <a:ln w="15875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2161F"/>
                </a:solidFill>
                <a:latin typeface="Segoe UI"/>
              </a:rPr>
              <a:t>Show booked schedule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9340" y="21031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5B6472"/>
                </a:solidFill>
                <a:latin typeface="Segoe UI"/>
              </a:rPr>
              <a:t>no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703052" y="2157984"/>
            <a:ext cx="0" cy="603504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iamond 29"/>
          <p:cNvSpPr/>
          <p:nvPr/>
        </p:nvSpPr>
        <p:spPr>
          <a:xfrm>
            <a:off x="9720072" y="2852928"/>
            <a:ext cx="1965960" cy="969264"/>
          </a:xfrm>
          <a:prstGeom prst="diamond">
            <a:avLst/>
          </a:prstGeom>
          <a:solidFill>
            <a:srgbClr val="FDF6EC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2161F"/>
                </a:solidFill>
                <a:latin typeface="Segoe UI"/>
              </a:rPr>
              <a:t>Block section ahead occupied?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9381744" y="3337560"/>
            <a:ext cx="338328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317736" y="31089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Segoe UI"/>
              </a:rPr>
              <a:t>yes</a:t>
            </a:r>
          </a:p>
        </p:txBody>
      </p:sp>
      <p:sp>
        <p:nvSpPr>
          <p:cNvPr id="33" name="Diamond 32"/>
          <p:cNvSpPr/>
          <p:nvPr/>
        </p:nvSpPr>
        <p:spPr>
          <a:xfrm>
            <a:off x="7415783" y="2852928"/>
            <a:ext cx="1965960" cy="969264"/>
          </a:xfrm>
          <a:prstGeom prst="diamond">
            <a:avLst/>
          </a:prstGeom>
          <a:solidFill>
            <a:srgbClr val="FDF6EC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2161F"/>
                </a:solidFill>
                <a:latin typeface="Segoe UI"/>
              </a:rPr>
              <a:t>Higher-priority train behind?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11496" y="2798064"/>
            <a:ext cx="1965960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2161F"/>
                </a:solidFill>
                <a:latin typeface="Segoe UI"/>
              </a:rPr>
              <a:t>Loop the slower train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11496" y="3401568"/>
            <a:ext cx="1965960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2161F"/>
                </a:solidFill>
                <a:latin typeface="Segoe UI"/>
              </a:rPr>
              <a:t>Queue behind the block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077456" y="3017520"/>
            <a:ext cx="338327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077456" y="3621024"/>
            <a:ext cx="338327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104888" y="2816352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5309"/>
                </a:solidFill>
                <a:latin typeface="Segoe UI"/>
              </a:rPr>
              <a:t>yes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3675888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5B6472"/>
                </a:solidFill>
                <a:latin typeface="Segoe UI"/>
              </a:rPr>
              <a:t>no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94476" y="3840480"/>
            <a:ext cx="0" cy="219456"/>
          </a:xfrm>
          <a:prstGeom prst="line">
            <a:avLst/>
          </a:prstGeom>
          <a:ln w="1397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4773168" y="4059936"/>
            <a:ext cx="1321308" cy="0"/>
          </a:xfrm>
          <a:prstGeom prst="line">
            <a:avLst/>
          </a:prstGeom>
          <a:ln w="1397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4773168" y="3337560"/>
            <a:ext cx="338328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807208" y="2944368"/>
            <a:ext cx="196596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2161F"/>
                </a:solidFill>
                <a:latin typeface="Segoe UI"/>
              </a:rPr>
              <a:t>C · Learned residual</a:t>
            </a:r>
          </a:p>
          <a:p>
            <a:pPr algn="ctr">
              <a:lnSpc>
                <a:spcPct val="95000"/>
              </a:lnSpc>
            </a:pPr>
            <a:r>
              <a:rPr sz="800">
                <a:solidFill>
                  <a:srgbClr val="5B6472"/>
                </a:solidFill>
                <a:latin typeface="Segoe UI"/>
              </a:rPr>
              <a:t>one shot per horizon, never chained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2468880" y="3337560"/>
            <a:ext cx="338328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02920" y="2944368"/>
            <a:ext cx="196596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2161F"/>
                </a:solidFill>
                <a:latin typeface="Segoe UI"/>
              </a:rPr>
              <a:t>D · Conformal interval</a:t>
            </a:r>
          </a:p>
          <a:p>
            <a:pPr algn="ctr">
              <a:lnSpc>
                <a:spcPct val="95000"/>
              </a:lnSpc>
            </a:pPr>
            <a:r>
              <a:rPr sz="800">
                <a:solidFill>
                  <a:srgbClr val="5B6472"/>
                </a:solidFill>
                <a:latin typeface="Segoe UI"/>
              </a:rPr>
              <a:t>horizon × segment × time of day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703052" y="3822192"/>
            <a:ext cx="0" cy="310895"/>
          </a:xfrm>
          <a:prstGeom prst="line">
            <a:avLst/>
          </a:prstGeom>
          <a:ln w="13970">
            <a:solidFill>
              <a:srgbClr val="8A94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3790187" y="4133087"/>
            <a:ext cx="6912865" cy="0"/>
          </a:xfrm>
          <a:prstGeom prst="line">
            <a:avLst/>
          </a:prstGeom>
          <a:ln w="13970">
            <a:solidFill>
              <a:srgbClr val="8A94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790187" y="3730752"/>
            <a:ext cx="0" cy="402335"/>
          </a:xfrm>
          <a:prstGeom prst="line">
            <a:avLst/>
          </a:prstGeom>
          <a:ln w="13970">
            <a:solidFill>
              <a:srgbClr val="8A94A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776204" y="387705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5B6472"/>
                </a:solidFill>
                <a:latin typeface="Segoe UI"/>
              </a:rPr>
              <a:t>no — runs clear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485900" y="3730752"/>
            <a:ext cx="0" cy="603504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iamond 50"/>
          <p:cNvSpPr/>
          <p:nvPr/>
        </p:nvSpPr>
        <p:spPr>
          <a:xfrm>
            <a:off x="502920" y="4425696"/>
            <a:ext cx="1965960" cy="969264"/>
          </a:xfrm>
          <a:prstGeom prst="diamond">
            <a:avLst/>
          </a:prstGeom>
          <a:solidFill>
            <a:srgbClr val="FDF6EC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2161F"/>
                </a:solidFill>
                <a:latin typeface="Segoe UI"/>
              </a:rPr>
              <a:t>Coverage on target for this group?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468880" y="4910328"/>
            <a:ext cx="338328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487168" y="46817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Segoe UI"/>
              </a:rPr>
              <a:t>yes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07208" y="4517136"/>
            <a:ext cx="4270248" cy="786384"/>
          </a:xfrm>
          <a:prstGeom prst="roundRect">
            <a:avLst>
              <a:gd name="adj" fmla="val 50000"/>
            </a:avLst>
          </a:prstGeom>
          <a:solidFill>
            <a:srgbClr val="EFF5F4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0F766E"/>
                </a:solidFill>
                <a:latin typeface="Segoe UI"/>
              </a:rPr>
              <a:t>PUBLISH THE ARRIVAL WINDOW</a:t>
            </a:r>
          </a:p>
          <a:p>
            <a:pPr algn="ctr">
              <a:lnSpc>
                <a:spcPct val="95000"/>
              </a:lnSpc>
            </a:pPr>
            <a:r>
              <a:rPr sz="900">
                <a:solidFill>
                  <a:srgbClr val="5B6472"/>
                </a:solidFill>
                <a:latin typeface="Segoe UI"/>
              </a:rPr>
              <a:t>monotone arrivals · attribution · connection risk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485900" y="5394960"/>
            <a:ext cx="0" cy="365760"/>
          </a:xfrm>
          <a:prstGeom prst="line">
            <a:avLst/>
          </a:prstGeom>
          <a:ln w="13970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485900" y="5760720"/>
            <a:ext cx="6185915" cy="0"/>
          </a:xfrm>
          <a:prstGeom prst="line">
            <a:avLst/>
          </a:prstGeom>
          <a:ln w="13970">
            <a:solidFill>
              <a:srgbClr val="B4530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540764" y="552297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Segoe UI"/>
              </a:rPr>
              <a:t>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90104" y="5559552"/>
            <a:ext cx="237744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2161F"/>
                </a:solidFill>
                <a:latin typeface="Segoe UI"/>
              </a:rPr>
              <a:t>Re-fit the quantiles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0085832" y="5760720"/>
            <a:ext cx="1755648" cy="0"/>
          </a:xfrm>
          <a:prstGeom prst="line">
            <a:avLst/>
          </a:prstGeom>
          <a:ln w="13970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1841480" y="3127248"/>
            <a:ext cx="0" cy="2633472"/>
          </a:xfrm>
          <a:prstGeom prst="line">
            <a:avLst/>
          </a:prstGeom>
          <a:ln w="13970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2468880" y="3127248"/>
            <a:ext cx="9372600" cy="0"/>
          </a:xfrm>
          <a:prstGeom prst="line">
            <a:avLst/>
          </a:prstGeom>
          <a:ln w="13970">
            <a:solidFill>
              <a:srgbClr val="B4530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A94A3"/>
                </a:solidFill>
                <a:latin typeface="Segoe UI"/>
              </a:rPr>
              <a:t>Two mechanisms cost time and the flow keeps them apart: a train LOOPED at a station is a decision by control, a train QUEUED behind an occupied block is physics. Only the first is a choice the costed-precedence surface can price.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4980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2161F"/>
                </a:solidFill>
                <a:latin typeface="Segoe UI"/>
              </a:rP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Segoe UI"/>
              </a:rPr>
              <a:t>mature components, a stated baseline, every risk given a retirement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8695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Consolas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24128"/>
            <a:ext cx="11185855" cy="0"/>
          </a:xfrm>
          <a:prstGeom prst="line">
            <a:avLst/>
          </a:prstGeom>
          <a:ln w="1143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1887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Consolas"/>
              </a:rPr>
              <a:t>TECHNICAL FEASIBILITY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32004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591056"/>
            <a:ext cx="3310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Every component is mature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847088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LightGBM and conformal prediction are established open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22576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322576"/>
            <a:ext cx="32004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432304"/>
            <a:ext cx="3310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No new trackside 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88336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Consumes position feeds IR already produces, via a swappable adapter.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63824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63824"/>
            <a:ext cx="32004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3273552"/>
            <a:ext cx="3310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Cheap at national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3529584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One commodity node per zone; no GPU at serving time.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05072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005072"/>
            <a:ext cx="32004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4114800"/>
            <a:ext cx="3310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The simulator is its own 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" y="4370832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With the learned layer off, rules still beat carry-forward past 3 hours.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46320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846320"/>
            <a:ext cx="32004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4956048"/>
            <a:ext cx="3310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Phone sensing is optional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" y="5212080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An accuracy bonus, never a dependency.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1887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Consolas"/>
              </a:rPr>
              <a:t>HOW WE PROVE 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15968" y="1481328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15968" y="1481328"/>
            <a:ext cx="32004" cy="7315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3983" y="1591056"/>
            <a:ext cx="3310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1  Baseline stated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3" y="1847088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Current delay carried forward, on exactly the same rows.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5968" y="2322576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15968" y="2322576"/>
            <a:ext cx="32004" cy="7315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43983" y="2432304"/>
            <a:ext cx="3310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2  Temporal holdout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3" y="2688336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Train on earlier months, test on later. A random split leaks.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15968" y="3163824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15968" y="3163824"/>
            <a:ext cx="32004" cy="7315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43983" y="3273552"/>
            <a:ext cx="3310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3  Error by horizon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43983" y="3529584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Next station, 1-3 h, 3-8 h, 8-24 h, beyond 24 h.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15968" y="4005072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15968" y="4005072"/>
            <a:ext cx="32004" cy="7315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43983" y="4114800"/>
            <a:ext cx="3310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4  Coverage audited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43983" y="4370832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Against nominal 80%, by segment, horizon and time of day.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15968" y="4846320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15968" y="4846320"/>
            <a:ext cx="32004" cy="7315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43983" y="4956048"/>
            <a:ext cx="3310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5  Shadow mode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43983" y="5212080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Run live beside the existing ETA before a passenger sees it.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9872" y="11887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91C1C"/>
                </a:solidFill>
                <a:latin typeface="Consolas"/>
              </a:rPr>
              <a:t>RISKS AND HOW WE RETIRE THEM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19872" y="1481328"/>
            <a:ext cx="3566160" cy="731520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19872" y="1481328"/>
            <a:ext cx="32004" cy="7315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47888" y="1591056"/>
            <a:ext cx="3310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No live IR feed in development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47888" y="1847088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FeedAdapter plus a movement simulator; swap at deployment.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19872" y="2322576"/>
            <a:ext cx="3566160" cy="731520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19872" y="2322576"/>
            <a:ext cx="32004" cy="7315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47888" y="2432304"/>
            <a:ext cx="3310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Error compounds over a 40-hour run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47888" y="2688336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Direct multi-horizon residual - never chained.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19872" y="3163824"/>
            <a:ext cx="3566160" cy="731520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19872" y="3163824"/>
            <a:ext cx="32004" cy="7315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47888" y="3273552"/>
            <a:ext cx="3310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Coverage fails in the monsoon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47888" y="3529584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Mondrian calibration by segment and season, alarmed not assumed.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19872" y="4005072"/>
            <a:ext cx="3566160" cy="731520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19872" y="4005072"/>
            <a:ext cx="32004" cy="7315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47888" y="4114800"/>
            <a:ext cx="3310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Controllers distrust a black box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47888" y="4370832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Per-section attribution; advisory only, never a movement order.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19872" y="4846320"/>
            <a:ext cx="3566160" cy="731520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119872" y="4846320"/>
            <a:ext cx="32004" cy="7315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47888" y="4956048"/>
            <a:ext cx="3310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Phone motion is not train motion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47888" y="5212080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Gyro gating and consensus; degrades to the timetable model.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577900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Consolas"/>
              </a:rPr>
              <a:t>IMPLEMENTATION ROADMAP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6035040"/>
            <a:ext cx="1737360" cy="493776"/>
          </a:xfrm>
          <a:prstGeom prst="rect">
            <a:avLst/>
          </a:prstGeom>
          <a:solidFill>
            <a:srgbClr val="F6F7F9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" y="6089904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5309"/>
                </a:solidFill>
                <a:latin typeface="Consolas"/>
              </a:rPr>
              <a:t>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" y="6254496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12161F"/>
                </a:solidFill>
                <a:latin typeface="Segoe UI"/>
              </a:rPr>
              <a:t>Build the block-section graph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240280" y="6281928"/>
            <a:ext cx="100584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2359152" y="6035040"/>
            <a:ext cx="1737360" cy="493776"/>
          </a:xfrm>
          <a:prstGeom prst="rect">
            <a:avLst/>
          </a:prstGeom>
          <a:solidFill>
            <a:srgbClr val="F6F7F9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450592" y="6089904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5309"/>
                </a:solidFill>
                <a:latin typeface="Consolas"/>
              </a:rPr>
              <a:t>02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450592" y="6254496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12161F"/>
                </a:solidFill>
                <a:latin typeface="Segoe UI"/>
              </a:rPr>
              <a:t>Calibrate the simulator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4096512" y="6281928"/>
            <a:ext cx="100584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4215383" y="6035040"/>
            <a:ext cx="1737360" cy="493776"/>
          </a:xfrm>
          <a:prstGeom prst="rect">
            <a:avLst/>
          </a:prstGeom>
          <a:solidFill>
            <a:srgbClr val="F6F7F9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06823" y="6089904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5309"/>
                </a:solidFill>
                <a:latin typeface="Consolas"/>
              </a:rPr>
              <a:t>03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06823" y="6254496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12161F"/>
                </a:solidFill>
                <a:latin typeface="Segoe UI"/>
              </a:rPr>
              <a:t>Train free-run and residual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952744" y="6281928"/>
            <a:ext cx="100584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6071616" y="6035040"/>
            <a:ext cx="1737360" cy="493776"/>
          </a:xfrm>
          <a:prstGeom prst="rect">
            <a:avLst/>
          </a:prstGeom>
          <a:solidFill>
            <a:srgbClr val="F6F7F9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63055" y="6089904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5309"/>
                </a:solidFill>
                <a:latin typeface="Consolas"/>
              </a:rPr>
              <a:t>04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63055" y="6254496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12161F"/>
                </a:solidFill>
                <a:latin typeface="Segoe UI"/>
              </a:rPr>
              <a:t>Add conformal calibration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7808975" y="6281928"/>
            <a:ext cx="100584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7927848" y="6035040"/>
            <a:ext cx="1737360" cy="493776"/>
          </a:xfrm>
          <a:prstGeom prst="rect">
            <a:avLst/>
          </a:prstGeom>
          <a:solidFill>
            <a:srgbClr val="F6F7F9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19288" y="6089904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5309"/>
                </a:solidFill>
                <a:latin typeface="Consolas"/>
              </a:rPr>
              <a:t>05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19288" y="6254496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12161F"/>
                </a:solidFill>
                <a:latin typeface="Segoe UI"/>
              </a:rPr>
              <a:t>Ship the decision layer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665208" y="6281928"/>
            <a:ext cx="100584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9784080" y="6035040"/>
            <a:ext cx="1737360" cy="493776"/>
          </a:xfrm>
          <a:prstGeom prst="rect">
            <a:avLst/>
          </a:prstGeom>
          <a:solidFill>
            <a:srgbClr val="EFF5F4"/>
          </a:solidFill>
          <a:ln w="1143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875519" y="6089904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5309"/>
                </a:solidFill>
                <a:latin typeface="Consolas"/>
              </a:rPr>
              <a:t>06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875519" y="6254496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12161F"/>
                </a:solidFill>
                <a:latin typeface="Segoe UI"/>
              </a:rPr>
              <a:t>Shadow-mode pilot, then zone by zone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4980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2161F"/>
                </a:solidFill>
                <a:latin typeface="Segoe UI"/>
              </a:rP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Segoe UI"/>
              </a:rPr>
              <a:t>measured on held-out days against a stated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8695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Consolas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24128"/>
            <a:ext cx="11185855" cy="0"/>
          </a:xfrm>
          <a:prstGeom prst="line">
            <a:avLst/>
          </a:prstGeom>
          <a:ln w="1143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188720"/>
            <a:ext cx="2688336" cy="1042415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2688336" cy="320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31673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B45309"/>
                </a:solidFill>
                <a:latin typeface="Segoe UI"/>
              </a:rP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682496"/>
            <a:ext cx="2432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lower mean ETA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883664"/>
            <a:ext cx="2432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5B6472"/>
                </a:solidFill>
                <a:latin typeface="Segoe UI"/>
              </a:rPr>
              <a:t>carry-forward 26.9 min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5B6472"/>
                </a:solidFill>
                <a:latin typeface="Segoe UI"/>
              </a:rPr>
              <a:t>RAILCAST 10.9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188720"/>
            <a:ext cx="2688336" cy="1042415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188720"/>
            <a:ext cx="2688336" cy="320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5576" y="131673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B45309"/>
                </a:solidFill>
                <a:latin typeface="Segoe UI"/>
              </a:rPr>
              <a:t>62%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1682496"/>
            <a:ext cx="2432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lower P90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1883664"/>
            <a:ext cx="2432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5B6472"/>
                </a:solidFill>
                <a:latin typeface="Segoe UI"/>
              </a:rPr>
              <a:t>the bad days: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5B6472"/>
                </a:solidFill>
                <a:latin typeface="Segoe UI"/>
              </a:rPr>
              <a:t>77 min against 29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188720"/>
            <a:ext cx="2688336" cy="1042415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188720"/>
            <a:ext cx="2688336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31673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766E"/>
                </a:solidFill>
                <a:latin typeface="Segoe UI"/>
              </a:rPr>
              <a:t>78.4%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1682496"/>
            <a:ext cx="2432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achieved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1883664"/>
            <a:ext cx="2432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5B6472"/>
                </a:solidFill>
                <a:latin typeface="Segoe UI"/>
              </a:rPr>
              <a:t>of the nominal 80% window,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5B6472"/>
                </a:solidFill>
                <a:latin typeface="Segoe UI"/>
              </a:rPr>
              <a:t>audited per segment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1188720"/>
            <a:ext cx="2688336" cy="1042415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40" y="1188720"/>
            <a:ext cx="2688336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131673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766E"/>
                </a:solidFill>
                <a:latin typeface="Segoe UI"/>
              </a:rPr>
              <a:t>0.006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1682496"/>
            <a:ext cx="2432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reliability error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1883664"/>
            <a:ext cx="2432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5B6472"/>
                </a:solidFill>
                <a:latin typeface="Segoe UI"/>
              </a:rPr>
              <a:t>on connection-make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5B6472"/>
                </a:solidFill>
                <a:latin typeface="Segoe UI"/>
              </a:rPr>
              <a:t>probability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243230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Consolas"/>
              </a:rPr>
              <a:t>ERROR BY HORIZON, NOT ONE POOLED NUMBER</a:t>
            </a:r>
          </a:p>
        </p:txBody>
      </p:sp>
      <p:pic>
        <p:nvPicPr>
          <p:cNvPr id="28" name="Picture 27" descr="01_mae_by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70048"/>
            <a:ext cx="5577840" cy="28396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2920" y="557784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Carry-forward is adequate for the next station and collapses beyond a few hours - which is the horizon passengers actually plan against.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243230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Consolas"/>
              </a:rPr>
              <a:t>WHAT CHANGES AGAINST TODAY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9088" y="2670048"/>
            <a:ext cx="5266944" cy="274320"/>
          </a:xfrm>
          <a:prstGeom prst="rect">
            <a:avLst/>
          </a:prstGeom>
          <a:solidFill>
            <a:srgbClr val="F6F7F9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28816" y="2752344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8A94A3"/>
                </a:solidFill>
                <a:latin typeface="Consolas"/>
              </a:rPr>
              <a:t>PARAMETER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3" y="2752344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8A94A3"/>
                </a:solidFill>
                <a:latin typeface="Consolas"/>
              </a:rPr>
              <a:t>TODAY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0112" y="2752344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45309"/>
                </a:solidFill>
                <a:latin typeface="Consolas"/>
              </a:rPr>
              <a:t>RAILCAST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19088" y="2944368"/>
            <a:ext cx="526694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28816" y="306323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2161F"/>
                </a:solidFill>
                <a:latin typeface="Segoe UI"/>
              </a:rPr>
              <a:t>ETA method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306323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Delay repeated forward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0112" y="3063239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2161F"/>
                </a:solidFill>
                <a:latin typeface="Segoe UI"/>
              </a:rPr>
              <a:t>Per-section forecast, conflicts simulated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19088" y="3346703"/>
            <a:ext cx="526694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8816" y="3465575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2161F"/>
                </a:solidFill>
                <a:latin typeface="Segoe UI"/>
              </a:rPr>
              <a:t>Horizon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4" y="3465575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The next few stops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40112" y="3465575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2161F"/>
                </a:solidFill>
                <a:latin typeface="Segoe UI"/>
              </a:rPr>
              <a:t>The whole run, 40+ hours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19088" y="3749039"/>
            <a:ext cx="526694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28816" y="3867911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2161F"/>
                </a:solidFill>
                <a:latin typeface="Segoe UI"/>
              </a:rPr>
              <a:t>Uncertainty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4464" y="3867911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None stated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40112" y="3867911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2161F"/>
                </a:solidFill>
                <a:latin typeface="Segoe UI"/>
              </a:rPr>
              <a:t>Audited 80% arrival window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19088" y="4151376"/>
            <a:ext cx="526694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28816" y="42702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2161F"/>
                </a:solidFill>
                <a:latin typeface="Segoe UI"/>
              </a:rPr>
              <a:t>Explains cause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42702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40112" y="4270248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2161F"/>
                </a:solidFill>
                <a:latin typeface="Segoe UI"/>
              </a:rPr>
              <a:t>Names the blocking train and section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19088" y="4553712"/>
            <a:ext cx="526694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28816" y="467258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2161F"/>
                </a:solidFill>
                <a:latin typeface="Segoe UI"/>
              </a:rPr>
              <a:t>Between stations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4464" y="467258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Blind for 40-60 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40112" y="4672584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2161F"/>
                </a:solidFill>
                <a:latin typeface="Segoe UI"/>
              </a:rPr>
              <a:t>Phone-sensed stop and crawl events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19088" y="4956048"/>
            <a:ext cx="526694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28816" y="5074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2161F"/>
                </a:solidFill>
                <a:latin typeface="Segoe UI"/>
              </a:rPr>
              <a:t>Disruption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84464" y="5074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Estimate simply breaks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40112" y="5074920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2161F"/>
                </a:solidFill>
                <a:latin typeface="Segoe UI"/>
              </a:rPr>
              <a:t>Remaining route re-planned mid-run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19088" y="5358384"/>
            <a:ext cx="526694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28816" y="54772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2161F"/>
                </a:solidFill>
                <a:latin typeface="Segoe UI"/>
              </a:rPr>
              <a:t>Decision support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84464" y="54772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None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40112" y="5477256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2161F"/>
                </a:solidFill>
                <a:latin typeface="Segoe UI"/>
              </a:rPr>
              <a:t>Connection risk and costed precedence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A94A3"/>
                </a:solidFill>
                <a:latin typeface="Segoe UI"/>
              </a:rPr>
              <a:t>Scored on 73,268 held-out forecasts on the real New Delhi - Mumbai Central working timetable with observed ERA5 weather. How delay arises is still modelled; the calibration loop fits it to live running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4980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2161F"/>
                </a:solidFill>
                <a:latin typeface="Segoe UI"/>
              </a:rPr>
              <a:t>The prototype,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Segoe UI"/>
              </a:rPr>
              <a:t>both clips are the simulator itself - nothing is hand-animated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8695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Consolas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24128"/>
            <a:ext cx="11185855" cy="0"/>
          </a:xfrm>
          <a:prstGeom prst="line">
            <a:avLst/>
          </a:prstGeom>
          <a:ln w="1143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railcast_corridor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920" y="1298448"/>
            <a:ext cx="5431536" cy="30540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498848"/>
            <a:ext cx="5431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The problem — conflict and cascade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91456"/>
            <a:ext cx="54315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Segoe UI"/>
              </a:rPr>
              <a:t>40 trains on the real 1384 km corridor over one day. Captions name the train that actually caused each hold, read out of the run log.</a:t>
            </a:r>
          </a:p>
        </p:txBody>
      </p:sp>
      <p:pic>
        <p:nvPicPr>
          <p:cNvPr id="10" name="railcast_forecast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45352" y="1298448"/>
            <a:ext cx="5431536" cy="30540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45352" y="4498848"/>
            <a:ext cx="5431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The answer — one journey re-forecast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4791456"/>
            <a:ext cx="54315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Segoe UI"/>
              </a:rPr>
              <a:t>The 80% window narrowing from 62 to 21 minutes as actual arrivals come in. Carry-forward 57 min average error against RAILCAST 15.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87568"/>
            <a:ext cx="11185855" cy="658368"/>
          </a:xfrm>
          <a:prstGeom prst="rect">
            <a:avLst/>
          </a:prstGeom>
          <a:solidFill>
            <a:srgbClr val="FDF6EC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5797296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Trains never collide. </a:t>
            </a:r>
            <a:r>
              <a:rPr sz="1000" b="0">
                <a:solidFill>
                  <a:srgbClr val="5B6472"/>
                </a:solidFill>
                <a:latin typeface="Segoe UI"/>
              </a:rPr>
              <a:t>Absolute block working makes that impossible - a train cannot enter a section another train occupies. What costs Indian Railways time is conflict: a faster train closing on a slower one, the hold that follows, and the delay cascading behind it. That is what the left-hand clip shows.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A94A3"/>
                </a:solidFill>
                <a:latin typeface="Segoe UI"/>
              </a:rPr>
              <a:t>Click a clip to play in presentation mode. If the deck is opened somewhere the embedded video will not run, the same files are in outputs/video/ as MP4 and GIF.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4980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2161F"/>
                </a:solidFill>
                <a:latin typeface="Segoe UI"/>
              </a:rP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Segoe UI"/>
              </a:rPr>
              <a:t>what we build on, and where we add to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8695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3"/>
                </a:solidFill>
                <a:latin typeface="Consolas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24128"/>
            <a:ext cx="11185855" cy="0"/>
          </a:xfrm>
          <a:prstGeom prst="line">
            <a:avLst/>
          </a:prstGeom>
          <a:ln w="1143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1887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Consolas"/>
              </a:rPr>
              <a:t>SCALE OF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5394960" cy="676656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32004" cy="67665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2763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B45309"/>
                </a:solidFill>
                <a:latin typeface="Segoe U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7943" y="1591056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2161F"/>
                </a:solidFill>
                <a:latin typeface="Segoe UI"/>
              </a:rPr>
              <a:t>Prototype corridor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37943" y="18105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New Delhi - Mumbai Central, 1384 km, 202 stations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67712"/>
            <a:ext cx="5394960" cy="676656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267712"/>
            <a:ext cx="32004" cy="67665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4140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B45309"/>
                </a:solidFill>
                <a:latin typeface="Segoe UI"/>
              </a:rPr>
              <a:t>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7943" y="23774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2161F"/>
                </a:solidFill>
                <a:latin typeface="Segoe UI"/>
              </a:rPr>
              <a:t>Zonal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37943" y="259689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One zone, one control office, one model shard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054096"/>
            <a:ext cx="5394960" cy="676656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054096"/>
            <a:ext cx="32004" cy="6766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200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F766E"/>
                </a:solidFill>
                <a:latin typeface="Segoe UI"/>
              </a:rPr>
              <a:t>13,000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37943" y="3163824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2161F"/>
                </a:solidFill>
                <a:latin typeface="Segoe UI"/>
              </a:rPr>
              <a:t>National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7943" y="338327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Coaching trains a day, 7,300 stations, 68,000 route km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9319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Consolas"/>
              </a:rPr>
              <a:t>DATA SOURCES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06240"/>
            <a:ext cx="539496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4306824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2161F"/>
                </a:solidFill>
                <a:latin typeface="Segoe UI"/>
              </a:rPr>
              <a:t>National Train Enquiry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4306824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live running position, via FeedAdapter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572000"/>
            <a:ext cx="539496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4672584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2161F"/>
                </a:solidFill>
                <a:latin typeface="Segoe UI"/>
              </a:rPr>
              <a:t>Open Government Data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4672584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schedules and station master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937760"/>
            <a:ext cx="539496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" y="5038344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2161F"/>
                </a:solidFill>
                <a:latin typeface="Segoe UI"/>
              </a:rPr>
              <a:t>OpenStreetMap / Overpass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5038344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block sections, junctions, loops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303520"/>
            <a:ext cx="539496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5404104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2161F"/>
                </a:solidFill>
                <a:latin typeface="Segoe UI"/>
              </a:rPr>
              <a:t>Open-Meteo / ERA5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5404104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historical and forecast weather, no key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669280"/>
            <a:ext cx="539496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" y="5769864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2161F"/>
                </a:solidFill>
                <a:latin typeface="Segoe UI"/>
              </a:rPr>
              <a:t>IR Year Book, WTT, TSR notices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5769864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punctuality returns and restrictions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118872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Consolas"/>
              </a:rPr>
              <a:t>RESEARCH WE BUILD 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1481328"/>
            <a:ext cx="5358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1  R. Oneto et al., Train delay prediction systems: a big data analytics perspective, Big Data Research, vol. 11, 2018.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1847088"/>
            <a:ext cx="5358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2  P. Kecman and R. M. P. Goverde, Predictive modelling of running and dwell times in railway traffic, Public Transport, vol. 7, 2015.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2212848"/>
            <a:ext cx="5358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3  F. Corman and P. Kecman, Stochastic prediction of train delays in real time using Bayesian networks, Transportation Research Part C, 2018.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2578608"/>
            <a:ext cx="5358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4  T. Buker and B. Seybold, Stochastic modelling of delay propagation in large networks, J. Rail Transport Planning and Management, 2012.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2944368"/>
            <a:ext cx="5358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5  Y. Romano, E. Patterson and E. Candes, Conformalized quantile regression, NeurIPS 32, 2019.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7648" y="3310127"/>
            <a:ext cx="5358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6  V. Vovk, A. Gammerman and G. Shafer, Algorithmic Learning in a Random World, Springer, 2005 - Mondrian and conditional validity.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3675887"/>
            <a:ext cx="5358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7  G. Ke et al., LightGBM: a highly efficient gradient boosting decision tree, NeurIPS 30, 2017.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7648" y="4041648"/>
            <a:ext cx="5358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8  The Digital Personal Data Protection Act, 2023 (India).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27648" y="4517136"/>
            <a:ext cx="5358384" cy="950976"/>
          </a:xfrm>
          <a:prstGeom prst="rect">
            <a:avLst/>
          </a:prstGeom>
          <a:solidFill>
            <a:srgbClr val="FDF6EC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3952" y="4626864"/>
            <a:ext cx="5065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Consolas"/>
              </a:rPr>
              <a:t>WHERE WE ADD TO THIS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3952" y="4846320"/>
            <a:ext cx="50657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2161F"/>
                </a:solidFill>
                <a:latin typeface="Segoe UI"/>
              </a:rPr>
              <a:t>None of the above combines a conflict-resolution simulator over the real block-section graph, a direct multi-horizon learned residual, and conditionally calibrated intervals on Indian Railways operating data.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27648" y="5632704"/>
            <a:ext cx="5358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12161F"/>
                </a:solidFill>
                <a:latin typeface="Segoe UI"/>
              </a:rPr>
              <a:t>Project links  </a:t>
            </a:r>
            <a:r>
              <a:rPr sz="900" b="0">
                <a:solidFill>
                  <a:srgbClr val="5B6472"/>
                </a:solidFill>
                <a:latin typeface="Segoe UI"/>
              </a:rPr>
              <a:t>technical documentation · demo video · simulator notes · model results against baseline · GitHub repository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A94A3"/>
                </a:solidFill>
                <a:latin typeface="Segoe UI"/>
              </a:rPr>
              <a:t>Problem Statement SIH26028  ·  Ministry of Railways  ·  sih.gov.in/sih2026PS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