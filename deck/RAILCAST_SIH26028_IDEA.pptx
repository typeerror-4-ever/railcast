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54" y="-1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071248"/>
            <a:ext cx="5898064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SIH26028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Dynamic Forecast of Expected Time of Arrival (ETA) for Coaching Trains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TypeError-4-ever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575369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300140" y="-134072"/>
            <a:ext cx="7120074" cy="825226"/>
          </a:xfrm>
        </p:spPr>
        <p:txBody>
          <a:bodyPr/>
          <a:lstStyle/>
          <a:p>
            <a:pPr eaLnBrk="1" hangingPunct="1"/>
            <a:b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Dynamic Forecast of Expected Time of Arrival (ETA) for Coaching Trains</a:t>
            </a:r>
            <a:endParaRPr lang="en-US" sz="24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53" y="964334"/>
            <a:ext cx="121919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0738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9322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TypeError-4-ever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860" y="1500"/>
            <a:ext cx="2138076" cy="10095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4C91FC-7F18-320B-0C2C-A0BF3BF0CF25}"/>
              </a:ext>
            </a:extLst>
          </p:cNvPr>
          <p:cNvSpPr txBox="1"/>
          <p:nvPr/>
        </p:nvSpPr>
        <p:spPr>
          <a:xfrm>
            <a:off x="2820499" y="1053950"/>
            <a:ext cx="8778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dirty="0">
                <a:solidFill>
                  <a:srgbClr val="5B6472"/>
                </a:solidFill>
                <a:latin typeface="Segoe UI"/>
              </a:rPr>
              <a:t>forecast the cause, not the clock</a:t>
            </a:r>
          </a:p>
        </p:txBody>
      </p:sp>
      <p:cxnSp>
        <p:nvCxnSpPr>
          <p:cNvPr id="3" name="Connector 5">
            <a:extLst>
              <a:ext uri="{FF2B5EF4-FFF2-40B4-BE49-F238E27FC236}">
                <a16:creationId xmlns:a16="http://schemas.microsoft.com/office/drawing/2014/main" id="{31F231C0-F143-A3F5-3C8D-FE8577658421}"/>
              </a:ext>
            </a:extLst>
          </p:cNvPr>
          <p:cNvCxnSpPr/>
          <p:nvPr/>
        </p:nvCxnSpPr>
        <p:spPr>
          <a:xfrm>
            <a:off x="396545" y="994615"/>
            <a:ext cx="11185855" cy="0"/>
          </a:xfrm>
          <a:prstGeom prst="line">
            <a:avLst/>
          </a:prstGeom>
          <a:ln w="1143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0FE2FD3-4B70-C109-95D7-2D2D7F7E0D6A}"/>
              </a:ext>
            </a:extLst>
          </p:cNvPr>
          <p:cNvSpPr txBox="1"/>
          <p:nvPr/>
        </p:nvSpPr>
        <p:spPr>
          <a:xfrm>
            <a:off x="453106" y="1419813"/>
            <a:ext cx="3657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dirty="0">
                <a:solidFill>
                  <a:srgbClr val="B91C1C"/>
                </a:solidFill>
                <a:latin typeface="Consolas"/>
              </a:rPr>
              <a:t>PROBLEM AT HAND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FAC6F0-884C-F436-25A4-D9E1EB9101B1}"/>
              </a:ext>
            </a:extLst>
          </p:cNvPr>
          <p:cNvSpPr/>
          <p:nvPr/>
        </p:nvSpPr>
        <p:spPr>
          <a:xfrm>
            <a:off x="108062" y="1709925"/>
            <a:ext cx="3246120" cy="1042415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8CEE3C-F7C5-A5F9-4C87-84DCABABC95F}"/>
              </a:ext>
            </a:extLst>
          </p:cNvPr>
          <p:cNvSpPr/>
          <p:nvPr/>
        </p:nvSpPr>
        <p:spPr>
          <a:xfrm>
            <a:off x="108062" y="1709925"/>
            <a:ext cx="32004" cy="104241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CDFF2D-95F7-8BAB-7998-0E736334907F}"/>
              </a:ext>
            </a:extLst>
          </p:cNvPr>
          <p:cNvSpPr txBox="1"/>
          <p:nvPr/>
        </p:nvSpPr>
        <p:spPr>
          <a:xfrm>
            <a:off x="236078" y="1819653"/>
            <a:ext cx="299008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dirty="0">
                <a:solidFill>
                  <a:srgbClr val="12161F"/>
                </a:solidFill>
                <a:latin typeface="Segoe UI"/>
              </a:rPr>
              <a:t>Delay is repeated, not forecast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7D19F1-FA6C-C2CE-C910-E8E6D28C25EA}"/>
              </a:ext>
            </a:extLst>
          </p:cNvPr>
          <p:cNvSpPr txBox="1"/>
          <p:nvPr/>
        </p:nvSpPr>
        <p:spPr>
          <a:xfrm>
            <a:off x="236078" y="2075685"/>
            <a:ext cx="2990087" cy="603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dirty="0">
                <a:solidFill>
                  <a:srgbClr val="5B6472"/>
                </a:solidFill>
                <a:latin typeface="Segoe UI"/>
              </a:rPr>
              <a:t>Today's ETA carries the current delay forward and trusts timetable padding. It cannot see congestion building ahead.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E0D231-B78A-781C-B242-493FE4F9435F}"/>
              </a:ext>
            </a:extLst>
          </p:cNvPr>
          <p:cNvSpPr/>
          <p:nvPr/>
        </p:nvSpPr>
        <p:spPr>
          <a:xfrm>
            <a:off x="108062" y="2880357"/>
            <a:ext cx="3246120" cy="1042415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E271D5-06D5-126B-2B8B-82D0D6F15473}"/>
              </a:ext>
            </a:extLst>
          </p:cNvPr>
          <p:cNvSpPr/>
          <p:nvPr/>
        </p:nvSpPr>
        <p:spPr>
          <a:xfrm>
            <a:off x="108062" y="2880357"/>
            <a:ext cx="32004" cy="104241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2375A-3865-F7A5-ACDB-495FA8640E63}"/>
              </a:ext>
            </a:extLst>
          </p:cNvPr>
          <p:cNvSpPr txBox="1"/>
          <p:nvPr/>
        </p:nvSpPr>
        <p:spPr>
          <a:xfrm>
            <a:off x="216413" y="2880357"/>
            <a:ext cx="299008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dirty="0">
                <a:solidFill>
                  <a:srgbClr val="12161F"/>
                </a:solidFill>
                <a:latin typeface="Segoe UI"/>
              </a:rPr>
              <a:t>The network goes blind between stations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498880-27C0-EB6B-4E2C-73FA0086EA17}"/>
              </a:ext>
            </a:extLst>
          </p:cNvPr>
          <p:cNvSpPr txBox="1"/>
          <p:nvPr/>
        </p:nvSpPr>
        <p:spPr>
          <a:xfrm>
            <a:off x="236078" y="3353583"/>
            <a:ext cx="2950758" cy="603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dirty="0">
                <a:solidFill>
                  <a:srgbClr val="5B6472"/>
                </a:solidFill>
                <a:latin typeface="Segoe UI"/>
              </a:rPr>
              <a:t>Position is reported only at instrumented stations </a:t>
            </a:r>
            <a:r>
              <a:rPr lang="en-IN" sz="1200" b="0" dirty="0">
                <a:solidFill>
                  <a:srgbClr val="5B6472"/>
                </a:solidFill>
                <a:latin typeface="Segoe UI"/>
              </a:rPr>
              <a:t>-</a:t>
            </a:r>
            <a:r>
              <a:rPr sz="1200" b="0" dirty="0">
                <a:solidFill>
                  <a:srgbClr val="5B6472"/>
                </a:solidFill>
                <a:latin typeface="Segoe UI"/>
              </a:rPr>
              <a:t> gaps of 40–60 minutes on long sections.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BD6F8D-57FC-109A-E1ED-A81041DA318D}"/>
              </a:ext>
            </a:extLst>
          </p:cNvPr>
          <p:cNvSpPr/>
          <p:nvPr/>
        </p:nvSpPr>
        <p:spPr>
          <a:xfrm>
            <a:off x="108062" y="4050788"/>
            <a:ext cx="3246120" cy="1042415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37D467-0D09-3D34-44C8-9BDF55BF487A}"/>
              </a:ext>
            </a:extLst>
          </p:cNvPr>
          <p:cNvSpPr/>
          <p:nvPr/>
        </p:nvSpPr>
        <p:spPr>
          <a:xfrm>
            <a:off x="108062" y="4050788"/>
            <a:ext cx="32004" cy="104241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1129F9-2909-A3E6-0985-9436314BB548}"/>
              </a:ext>
            </a:extLst>
          </p:cNvPr>
          <p:cNvSpPr txBox="1"/>
          <p:nvPr/>
        </p:nvSpPr>
        <p:spPr>
          <a:xfrm>
            <a:off x="236078" y="4160517"/>
            <a:ext cx="299008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Cascades are invisible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5D1829-97B1-7895-3F6D-AEDCF4948CF7}"/>
              </a:ext>
            </a:extLst>
          </p:cNvPr>
          <p:cNvSpPr txBox="1"/>
          <p:nvPr/>
        </p:nvSpPr>
        <p:spPr>
          <a:xfrm>
            <a:off x="236078" y="4416549"/>
            <a:ext cx="2990087" cy="603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One train held at a junction delays every train behind it, yet no deployed ETA model represents that dependency.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C930C1-1509-8389-651B-7A97DA2D0A20}"/>
              </a:ext>
            </a:extLst>
          </p:cNvPr>
          <p:cNvSpPr/>
          <p:nvPr/>
        </p:nvSpPr>
        <p:spPr>
          <a:xfrm>
            <a:off x="108062" y="5221221"/>
            <a:ext cx="3246120" cy="1042415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767735-645D-CF0D-4D3C-849702CE9F8C}"/>
              </a:ext>
            </a:extLst>
          </p:cNvPr>
          <p:cNvSpPr/>
          <p:nvPr/>
        </p:nvSpPr>
        <p:spPr>
          <a:xfrm>
            <a:off x="108062" y="5221221"/>
            <a:ext cx="32004" cy="104241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340095-1C9E-2831-F427-9DDE5043A9C5}"/>
              </a:ext>
            </a:extLst>
          </p:cNvPr>
          <p:cNvSpPr txBox="1"/>
          <p:nvPr/>
        </p:nvSpPr>
        <p:spPr>
          <a:xfrm>
            <a:off x="236078" y="5330949"/>
            <a:ext cx="299008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One number hides the risk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641DC2-03CB-3D3C-071A-CAC8C75C95D9}"/>
              </a:ext>
            </a:extLst>
          </p:cNvPr>
          <p:cNvSpPr txBox="1"/>
          <p:nvPr/>
        </p:nvSpPr>
        <p:spPr>
          <a:xfrm>
            <a:off x="236078" y="5586981"/>
            <a:ext cx="2990087" cy="603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dirty="0">
                <a:solidFill>
                  <a:srgbClr val="5B6472"/>
                </a:solidFill>
                <a:latin typeface="Segoe UI"/>
              </a:rPr>
              <a:t>No confidence attached, so nobody knows when it is safe to act </a:t>
            </a:r>
            <a:r>
              <a:rPr lang="en-IN" sz="1200" b="0" dirty="0">
                <a:solidFill>
                  <a:srgbClr val="5B6472"/>
                </a:solidFill>
                <a:latin typeface="Segoe UI"/>
              </a:rPr>
              <a:t>-</a:t>
            </a:r>
            <a:r>
              <a:rPr sz="1200" b="0" dirty="0">
                <a:solidFill>
                  <a:srgbClr val="5B6472"/>
                </a:solidFill>
                <a:latin typeface="Segoe UI"/>
              </a:rPr>
              <a:t> and nothing handles a diversion mid-run.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5154EC-7B28-B286-BA65-8AEB3C8CE23D}"/>
              </a:ext>
            </a:extLst>
          </p:cNvPr>
          <p:cNvSpPr txBox="1"/>
          <p:nvPr/>
        </p:nvSpPr>
        <p:spPr>
          <a:xfrm>
            <a:off x="4160672" y="1340544"/>
            <a:ext cx="3657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dirty="0">
                <a:solidFill>
                  <a:srgbClr val="B45309"/>
                </a:solidFill>
                <a:latin typeface="Consolas"/>
              </a:rPr>
              <a:t>HOW ONE FORECAST IS MADE</a:t>
            </a:r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6FD692F9-C836-F5DE-76FD-E8BF88B0326D}"/>
              </a:ext>
            </a:extLst>
          </p:cNvPr>
          <p:cNvSpPr/>
          <p:nvPr/>
        </p:nvSpPr>
        <p:spPr>
          <a:xfrm>
            <a:off x="3683366" y="1691637"/>
            <a:ext cx="3657600" cy="475488"/>
          </a:xfrm>
          <a:prstGeom prst="parallelogram">
            <a:avLst/>
          </a:prstGeom>
          <a:solidFill>
            <a:srgbClr val="EFF5F4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12161F"/>
                </a:solidFill>
                <a:latin typeface="Segoe UI"/>
              </a:rPr>
              <a:t>LIVE STATE</a:t>
            </a:r>
          </a:p>
          <a:p>
            <a:pPr algn="ctr">
              <a:lnSpc>
                <a:spcPct val="95000"/>
              </a:lnSpc>
            </a:pPr>
            <a:r>
              <a:rPr sz="1050">
                <a:solidFill>
                  <a:srgbClr val="5B6472"/>
                </a:solidFill>
                <a:latin typeface="Segoe UI"/>
              </a:rPr>
              <a:t>position, delay, block occupancy, restrictions</a:t>
            </a:r>
          </a:p>
        </p:txBody>
      </p:sp>
      <p:cxnSp>
        <p:nvCxnSpPr>
          <p:cNvPr id="28" name="Connector 25">
            <a:extLst>
              <a:ext uri="{FF2B5EF4-FFF2-40B4-BE49-F238E27FC236}">
                <a16:creationId xmlns:a16="http://schemas.microsoft.com/office/drawing/2014/main" id="{E5E89101-F0B4-0880-006D-9659352382B8}"/>
              </a:ext>
            </a:extLst>
          </p:cNvPr>
          <p:cNvCxnSpPr/>
          <p:nvPr/>
        </p:nvCxnSpPr>
        <p:spPr>
          <a:xfrm>
            <a:off x="5512166" y="2167125"/>
            <a:ext cx="0" cy="201168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5E9F0CD-C588-9916-5131-9AE52B020E38}"/>
              </a:ext>
            </a:extLst>
          </p:cNvPr>
          <p:cNvSpPr/>
          <p:nvPr/>
        </p:nvSpPr>
        <p:spPr>
          <a:xfrm>
            <a:off x="3911966" y="2368293"/>
            <a:ext cx="3200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12161F"/>
                </a:solidFill>
                <a:latin typeface="Segoe UI"/>
              </a:rPr>
              <a:t>A · Free-run time</a:t>
            </a:r>
          </a:p>
          <a:p>
            <a:pPr algn="ctr">
              <a:lnSpc>
                <a:spcPct val="95000"/>
              </a:lnSpc>
            </a:pPr>
            <a:r>
              <a:rPr sz="1050">
                <a:solidFill>
                  <a:srgbClr val="5B6472"/>
                </a:solidFill>
                <a:latin typeface="Segoe UI"/>
              </a:rPr>
              <a:t>the physics of the section</a:t>
            </a:r>
          </a:p>
        </p:txBody>
      </p:sp>
      <p:cxnSp>
        <p:nvCxnSpPr>
          <p:cNvPr id="30" name="Connector 27">
            <a:extLst>
              <a:ext uri="{FF2B5EF4-FFF2-40B4-BE49-F238E27FC236}">
                <a16:creationId xmlns:a16="http://schemas.microsoft.com/office/drawing/2014/main" id="{5B41EF76-E465-26F8-2E18-1BBE93F4DDF5}"/>
              </a:ext>
            </a:extLst>
          </p:cNvPr>
          <p:cNvCxnSpPr/>
          <p:nvPr/>
        </p:nvCxnSpPr>
        <p:spPr>
          <a:xfrm>
            <a:off x="5512166" y="2825493"/>
            <a:ext cx="0" cy="201168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>
            <a:extLst>
              <a:ext uri="{FF2B5EF4-FFF2-40B4-BE49-F238E27FC236}">
                <a16:creationId xmlns:a16="http://schemas.microsoft.com/office/drawing/2014/main" id="{B322D794-F153-254B-21BE-2AF704601673}"/>
              </a:ext>
            </a:extLst>
          </p:cNvPr>
          <p:cNvSpPr/>
          <p:nvPr/>
        </p:nvSpPr>
        <p:spPr>
          <a:xfrm>
            <a:off x="4094846" y="3026661"/>
            <a:ext cx="2834640" cy="786384"/>
          </a:xfrm>
          <a:prstGeom prst="diamond">
            <a:avLst/>
          </a:prstGeom>
          <a:solidFill>
            <a:srgbClr val="FDF6EC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12161F"/>
                </a:solidFill>
                <a:latin typeface="Segoe UI"/>
              </a:rPr>
              <a:t>Conflict on the block ahead?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660BDE-1FCF-FD6C-E859-EA1635212BDC}"/>
              </a:ext>
            </a:extLst>
          </p:cNvPr>
          <p:cNvSpPr txBox="1"/>
          <p:nvPr/>
        </p:nvSpPr>
        <p:spPr>
          <a:xfrm>
            <a:off x="5567030" y="3831333"/>
            <a:ext cx="457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Segoe UI"/>
              </a:rPr>
              <a:t>yes</a:t>
            </a:r>
          </a:p>
        </p:txBody>
      </p:sp>
      <p:cxnSp>
        <p:nvCxnSpPr>
          <p:cNvPr id="33" name="Connector 30">
            <a:extLst>
              <a:ext uri="{FF2B5EF4-FFF2-40B4-BE49-F238E27FC236}">
                <a16:creationId xmlns:a16="http://schemas.microsoft.com/office/drawing/2014/main" id="{97207A8A-9CEA-B3FE-7FF5-CFDD1DAB9B77}"/>
              </a:ext>
            </a:extLst>
          </p:cNvPr>
          <p:cNvCxnSpPr/>
          <p:nvPr/>
        </p:nvCxnSpPr>
        <p:spPr>
          <a:xfrm>
            <a:off x="5512166" y="3813045"/>
            <a:ext cx="0" cy="201167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1">
            <a:extLst>
              <a:ext uri="{FF2B5EF4-FFF2-40B4-BE49-F238E27FC236}">
                <a16:creationId xmlns:a16="http://schemas.microsoft.com/office/drawing/2014/main" id="{EADD168B-5E2C-F20C-799B-086CCC04F9AB}"/>
              </a:ext>
            </a:extLst>
          </p:cNvPr>
          <p:cNvCxnSpPr/>
          <p:nvPr/>
        </p:nvCxnSpPr>
        <p:spPr>
          <a:xfrm flipH="1">
            <a:off x="3518774" y="3419853"/>
            <a:ext cx="576072" cy="0"/>
          </a:xfrm>
          <a:prstGeom prst="line">
            <a:avLst/>
          </a:prstGeom>
          <a:ln w="13970">
            <a:solidFill>
              <a:srgbClr val="8A94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2">
            <a:extLst>
              <a:ext uri="{FF2B5EF4-FFF2-40B4-BE49-F238E27FC236}">
                <a16:creationId xmlns:a16="http://schemas.microsoft.com/office/drawing/2014/main" id="{54471F3D-BF36-B5A5-EBAF-ABCCB6CD7548}"/>
              </a:ext>
            </a:extLst>
          </p:cNvPr>
          <p:cNvCxnSpPr/>
          <p:nvPr/>
        </p:nvCxnSpPr>
        <p:spPr>
          <a:xfrm>
            <a:off x="3518774" y="3419853"/>
            <a:ext cx="0" cy="1783080"/>
          </a:xfrm>
          <a:prstGeom prst="line">
            <a:avLst/>
          </a:prstGeom>
          <a:ln w="13970">
            <a:solidFill>
              <a:srgbClr val="8A94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3">
            <a:extLst>
              <a:ext uri="{FF2B5EF4-FFF2-40B4-BE49-F238E27FC236}">
                <a16:creationId xmlns:a16="http://schemas.microsoft.com/office/drawing/2014/main" id="{8C3DFF4D-3B28-6681-FF46-D26CA918AEB3}"/>
              </a:ext>
            </a:extLst>
          </p:cNvPr>
          <p:cNvCxnSpPr/>
          <p:nvPr/>
        </p:nvCxnSpPr>
        <p:spPr>
          <a:xfrm>
            <a:off x="3518774" y="5202933"/>
            <a:ext cx="393192" cy="0"/>
          </a:xfrm>
          <a:prstGeom prst="line">
            <a:avLst/>
          </a:prstGeom>
          <a:ln w="13970">
            <a:solidFill>
              <a:srgbClr val="8A94A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6AC3EBA-7687-C60E-4984-357C5DCEC66F}"/>
              </a:ext>
            </a:extLst>
          </p:cNvPr>
          <p:cNvSpPr txBox="1"/>
          <p:nvPr/>
        </p:nvSpPr>
        <p:spPr>
          <a:xfrm>
            <a:off x="3537062" y="3209541"/>
            <a:ext cx="5486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5B6472"/>
                </a:solidFill>
                <a:latin typeface="Segoe UI"/>
              </a:rPr>
              <a:t>no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459B04D-6FA6-56A9-1B39-7A05EF4D3537}"/>
              </a:ext>
            </a:extLst>
          </p:cNvPr>
          <p:cNvSpPr/>
          <p:nvPr/>
        </p:nvSpPr>
        <p:spPr>
          <a:xfrm>
            <a:off x="3911966" y="4014212"/>
            <a:ext cx="3200400" cy="512064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12161F"/>
                </a:solidFill>
                <a:latin typeface="Segoe UI"/>
              </a:rPr>
              <a:t>B · Conflict simulation</a:t>
            </a:r>
          </a:p>
          <a:p>
            <a:pPr algn="ctr">
              <a:lnSpc>
                <a:spcPct val="95000"/>
              </a:lnSpc>
            </a:pPr>
            <a:r>
              <a:rPr sz="1050">
                <a:solidFill>
                  <a:srgbClr val="5B6472"/>
                </a:solidFill>
                <a:latin typeface="Segoe UI"/>
              </a:rPr>
              <a:t>advance every train on the block graph</a:t>
            </a:r>
          </a:p>
        </p:txBody>
      </p:sp>
      <p:cxnSp>
        <p:nvCxnSpPr>
          <p:cNvPr id="39" name="Connector 36">
            <a:extLst>
              <a:ext uri="{FF2B5EF4-FFF2-40B4-BE49-F238E27FC236}">
                <a16:creationId xmlns:a16="http://schemas.microsoft.com/office/drawing/2014/main" id="{33384AB8-9514-6E9A-7CC0-8700EC0CB295}"/>
              </a:ext>
            </a:extLst>
          </p:cNvPr>
          <p:cNvCxnSpPr/>
          <p:nvPr/>
        </p:nvCxnSpPr>
        <p:spPr>
          <a:xfrm>
            <a:off x="5512166" y="4526277"/>
            <a:ext cx="0" cy="201168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5FFA200-DA48-56DD-3B56-A6882C2F1ADC}"/>
              </a:ext>
            </a:extLst>
          </p:cNvPr>
          <p:cNvSpPr/>
          <p:nvPr/>
        </p:nvSpPr>
        <p:spPr>
          <a:xfrm>
            <a:off x="3911966" y="4727445"/>
            <a:ext cx="3200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12161F"/>
                </a:solidFill>
                <a:latin typeface="Segoe UI"/>
              </a:rPr>
              <a:t>C · Learned residual</a:t>
            </a:r>
          </a:p>
          <a:p>
            <a:pPr algn="ctr">
              <a:lnSpc>
                <a:spcPct val="95000"/>
              </a:lnSpc>
            </a:pPr>
            <a:r>
              <a:rPr sz="1050">
                <a:solidFill>
                  <a:srgbClr val="5B6472"/>
                </a:solidFill>
                <a:latin typeface="Segoe UI"/>
              </a:rPr>
              <a:t>corrects what the rules cannot</a:t>
            </a:r>
          </a:p>
        </p:txBody>
      </p:sp>
      <p:cxnSp>
        <p:nvCxnSpPr>
          <p:cNvPr id="41" name="Connector 38">
            <a:extLst>
              <a:ext uri="{FF2B5EF4-FFF2-40B4-BE49-F238E27FC236}">
                <a16:creationId xmlns:a16="http://schemas.microsoft.com/office/drawing/2014/main" id="{F6062017-34D3-5632-C7DC-2CBD274019C1}"/>
              </a:ext>
            </a:extLst>
          </p:cNvPr>
          <p:cNvCxnSpPr/>
          <p:nvPr/>
        </p:nvCxnSpPr>
        <p:spPr>
          <a:xfrm>
            <a:off x="5512166" y="5184645"/>
            <a:ext cx="0" cy="201168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8ECE6E2-E16A-3615-D057-4E57CB571D82}"/>
              </a:ext>
            </a:extLst>
          </p:cNvPr>
          <p:cNvSpPr/>
          <p:nvPr/>
        </p:nvSpPr>
        <p:spPr>
          <a:xfrm>
            <a:off x="3911966" y="5385813"/>
            <a:ext cx="32004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12161F"/>
                </a:solidFill>
                <a:latin typeface="Segoe UI"/>
              </a:rPr>
              <a:t>D · Calibrated window</a:t>
            </a:r>
          </a:p>
          <a:p>
            <a:pPr algn="ctr">
              <a:lnSpc>
                <a:spcPct val="95000"/>
              </a:lnSpc>
            </a:pPr>
            <a:r>
              <a:rPr sz="1050">
                <a:solidFill>
                  <a:srgbClr val="5B6472"/>
                </a:solidFill>
                <a:latin typeface="Segoe UI"/>
              </a:rPr>
              <a:t>audited 80% coverage</a:t>
            </a:r>
          </a:p>
        </p:txBody>
      </p:sp>
      <p:cxnSp>
        <p:nvCxnSpPr>
          <p:cNvPr id="43" name="Connector 40">
            <a:extLst>
              <a:ext uri="{FF2B5EF4-FFF2-40B4-BE49-F238E27FC236}">
                <a16:creationId xmlns:a16="http://schemas.microsoft.com/office/drawing/2014/main" id="{160A96D6-EC27-AD5E-494D-654715C2AEFE}"/>
              </a:ext>
            </a:extLst>
          </p:cNvPr>
          <p:cNvCxnSpPr/>
          <p:nvPr/>
        </p:nvCxnSpPr>
        <p:spPr>
          <a:xfrm>
            <a:off x="5512166" y="5843013"/>
            <a:ext cx="0" cy="201168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1">
            <a:extLst>
              <a:ext uri="{FF2B5EF4-FFF2-40B4-BE49-F238E27FC236}">
                <a16:creationId xmlns:a16="http://schemas.microsoft.com/office/drawing/2014/main" id="{BEF5B6C4-4AC3-0BB0-C1E4-451714859956}"/>
              </a:ext>
            </a:extLst>
          </p:cNvPr>
          <p:cNvSpPr/>
          <p:nvPr/>
        </p:nvSpPr>
        <p:spPr>
          <a:xfrm>
            <a:off x="3820526" y="6044181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EFF5F4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0F766E"/>
                </a:solidFill>
                <a:latin typeface="Segoe UI"/>
              </a:rPr>
              <a:t>DECISION SURFACES</a:t>
            </a:r>
          </a:p>
          <a:p>
            <a:pPr algn="ctr">
              <a:lnSpc>
                <a:spcPct val="95000"/>
              </a:lnSpc>
            </a:pPr>
            <a:r>
              <a:rPr sz="1050">
                <a:solidFill>
                  <a:srgbClr val="5B6472"/>
                </a:solidFill>
                <a:latin typeface="Segoe UI"/>
              </a:rPr>
              <a:t>window · connection risk · costed precedence</a:t>
            </a:r>
          </a:p>
        </p:txBody>
      </p:sp>
      <p:cxnSp>
        <p:nvCxnSpPr>
          <p:cNvPr id="45" name="Connector 42">
            <a:extLst>
              <a:ext uri="{FF2B5EF4-FFF2-40B4-BE49-F238E27FC236}">
                <a16:creationId xmlns:a16="http://schemas.microsoft.com/office/drawing/2014/main" id="{F16C7B3F-D940-BC24-B694-26CF8E53FC90}"/>
              </a:ext>
            </a:extLst>
          </p:cNvPr>
          <p:cNvCxnSpPr/>
          <p:nvPr/>
        </p:nvCxnSpPr>
        <p:spPr>
          <a:xfrm>
            <a:off x="7203806" y="6432959"/>
            <a:ext cx="301752" cy="0"/>
          </a:xfrm>
          <a:prstGeom prst="line">
            <a:avLst/>
          </a:prstGeom>
          <a:ln w="1397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3">
            <a:extLst>
              <a:ext uri="{FF2B5EF4-FFF2-40B4-BE49-F238E27FC236}">
                <a16:creationId xmlns:a16="http://schemas.microsoft.com/office/drawing/2014/main" id="{8E42F99E-FAF3-6D5E-8924-9310CD1806D2}"/>
              </a:ext>
            </a:extLst>
          </p:cNvPr>
          <p:cNvCxnSpPr/>
          <p:nvPr/>
        </p:nvCxnSpPr>
        <p:spPr>
          <a:xfrm flipV="1">
            <a:off x="7505558" y="1929381"/>
            <a:ext cx="0" cy="4352544"/>
          </a:xfrm>
          <a:prstGeom prst="line">
            <a:avLst/>
          </a:prstGeom>
          <a:ln w="1397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4">
            <a:extLst>
              <a:ext uri="{FF2B5EF4-FFF2-40B4-BE49-F238E27FC236}">
                <a16:creationId xmlns:a16="http://schemas.microsoft.com/office/drawing/2014/main" id="{8691B304-BFDE-171B-7B8C-2E60C1632D80}"/>
              </a:ext>
            </a:extLst>
          </p:cNvPr>
          <p:cNvCxnSpPr/>
          <p:nvPr/>
        </p:nvCxnSpPr>
        <p:spPr>
          <a:xfrm flipH="1">
            <a:off x="7340966" y="1929381"/>
            <a:ext cx="164592" cy="0"/>
          </a:xfrm>
          <a:prstGeom prst="line">
            <a:avLst/>
          </a:prstGeom>
          <a:ln w="13970">
            <a:solidFill>
              <a:srgbClr val="B4530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D6C6550-9FB3-B773-326A-2AE82A546BB1}"/>
              </a:ext>
            </a:extLst>
          </p:cNvPr>
          <p:cNvSpPr txBox="1"/>
          <p:nvPr/>
        </p:nvSpPr>
        <p:spPr>
          <a:xfrm>
            <a:off x="6960990" y="3213436"/>
            <a:ext cx="833098" cy="634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dirty="0">
                <a:solidFill>
                  <a:srgbClr val="B45309"/>
                </a:solidFill>
                <a:latin typeface="Segoe UI"/>
              </a:rPr>
              <a:t>every actual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dirty="0">
                <a:solidFill>
                  <a:srgbClr val="B45309"/>
                </a:solidFill>
                <a:latin typeface="Segoe UI"/>
              </a:rPr>
              <a:t>arrival re-fits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dirty="0">
                <a:solidFill>
                  <a:srgbClr val="B45309"/>
                </a:solidFill>
                <a:latin typeface="Segoe UI"/>
              </a:rPr>
              <a:t>the rest of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dirty="0">
                <a:solidFill>
                  <a:srgbClr val="B45309"/>
                </a:solidFill>
                <a:latin typeface="Segoe UI"/>
              </a:rPr>
              <a:t>the run</a:t>
            </a:r>
          </a:p>
        </p:txBody>
      </p:sp>
      <p:pic>
        <p:nvPicPr>
          <p:cNvPr id="15403" name="railcast_corridor.mp4">
            <a:hlinkClick r:id="" action="ppaction://media"/>
            <a:extLst>
              <a:ext uri="{FF2B5EF4-FFF2-40B4-BE49-F238E27FC236}">
                <a16:creationId xmlns:a16="http://schemas.microsoft.com/office/drawing/2014/main" id="{D46B97CB-F711-3D0E-44E7-77569ED2D50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953612" y="1417317"/>
            <a:ext cx="4028948" cy="2265436"/>
          </a:xfrm>
          <a:prstGeom prst="rect">
            <a:avLst/>
          </a:prstGeom>
        </p:spPr>
      </p:pic>
      <p:pic>
        <p:nvPicPr>
          <p:cNvPr id="15404" name="railcast_forecast.mp4">
            <a:hlinkClick r:id="" action="ppaction://media"/>
            <a:extLst>
              <a:ext uri="{FF2B5EF4-FFF2-40B4-BE49-F238E27FC236}">
                <a16:creationId xmlns:a16="http://schemas.microsoft.com/office/drawing/2014/main" id="{74836D1C-A1B0-AADB-B384-8A1BC220504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988900" y="3978402"/>
            <a:ext cx="4013450" cy="2256721"/>
          </a:xfrm>
          <a:prstGeom prst="rect">
            <a:avLst/>
          </a:prstGeom>
        </p:spPr>
      </p:pic>
      <p:sp>
        <p:nvSpPr>
          <p:cNvPr id="15406" name="TextBox 15405">
            <a:extLst>
              <a:ext uri="{FF2B5EF4-FFF2-40B4-BE49-F238E27FC236}">
                <a16:creationId xmlns:a16="http://schemas.microsoft.com/office/drawing/2014/main" id="{0D947548-D6A7-F725-82BF-68A703A0C4BC}"/>
              </a:ext>
            </a:extLst>
          </p:cNvPr>
          <p:cNvSpPr txBox="1"/>
          <p:nvPr/>
        </p:nvSpPr>
        <p:spPr>
          <a:xfrm>
            <a:off x="8887367" y="1084345"/>
            <a:ext cx="3657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IN" sz="1600" b="1" dirty="0">
                <a:solidFill>
                  <a:srgbClr val="B45309"/>
                </a:solidFill>
                <a:latin typeface="Consolas"/>
              </a:rPr>
              <a:t>PROTOTYPE (RUNNING)</a:t>
            </a:r>
            <a:endParaRPr sz="1600" b="1" dirty="0">
              <a:solidFill>
                <a:srgbClr val="B45309"/>
              </a:solidFill>
              <a:latin typeface="Consolas"/>
            </a:endParaRPr>
          </a:p>
        </p:txBody>
      </p:sp>
      <p:sp>
        <p:nvSpPr>
          <p:cNvPr id="15409" name="TextBox 15408">
            <a:extLst>
              <a:ext uri="{FF2B5EF4-FFF2-40B4-BE49-F238E27FC236}">
                <a16:creationId xmlns:a16="http://schemas.microsoft.com/office/drawing/2014/main" id="{38DCA4A2-86EF-CCEE-8F46-0166C89EA526}"/>
              </a:ext>
            </a:extLst>
          </p:cNvPr>
          <p:cNvSpPr txBox="1"/>
          <p:nvPr/>
        </p:nvSpPr>
        <p:spPr>
          <a:xfrm>
            <a:off x="8286376" y="3704082"/>
            <a:ext cx="5431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dirty="0">
                <a:solidFill>
                  <a:srgbClr val="12161F"/>
                </a:solidFill>
                <a:latin typeface="Segoe UI"/>
              </a:rPr>
              <a:t>The problem — conflict and cascade</a:t>
            </a:r>
          </a:p>
        </p:txBody>
      </p:sp>
      <p:sp>
        <p:nvSpPr>
          <p:cNvPr id="15411" name="TextBox 15410">
            <a:extLst>
              <a:ext uri="{FF2B5EF4-FFF2-40B4-BE49-F238E27FC236}">
                <a16:creationId xmlns:a16="http://schemas.microsoft.com/office/drawing/2014/main" id="{48E68191-D988-73EE-14AC-8491254B4D1F}"/>
              </a:ext>
            </a:extLst>
          </p:cNvPr>
          <p:cNvSpPr txBox="1"/>
          <p:nvPr/>
        </p:nvSpPr>
        <p:spPr>
          <a:xfrm>
            <a:off x="8286376" y="6267171"/>
            <a:ext cx="54315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dirty="0">
                <a:solidFill>
                  <a:srgbClr val="12161F"/>
                </a:solidFill>
                <a:latin typeface="Segoe UI"/>
              </a:rPr>
              <a:t>The answer — one journey re-forecast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403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540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623632"/>
            <a:ext cx="12192000" cy="25224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891508" y="210917"/>
            <a:ext cx="5754757" cy="645857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2235" y="9356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TypeError-4-ever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489" y="8579"/>
            <a:ext cx="2249850" cy="1062337"/>
          </a:xfrm>
          <a:prstGeom prst="rect">
            <a:avLst/>
          </a:prstGeom>
        </p:spPr>
      </p:pic>
      <p:grpSp>
        <p:nvGrpSpPr>
          <p:cNvPr id="17488" name="Group 17487">
            <a:extLst>
              <a:ext uri="{FF2B5EF4-FFF2-40B4-BE49-F238E27FC236}">
                <a16:creationId xmlns:a16="http://schemas.microsoft.com/office/drawing/2014/main" id="{0E1E913C-EF04-7CA8-293D-265D862A370E}"/>
              </a:ext>
            </a:extLst>
          </p:cNvPr>
          <p:cNvGrpSpPr/>
          <p:nvPr/>
        </p:nvGrpSpPr>
        <p:grpSpPr>
          <a:xfrm>
            <a:off x="596367" y="1144004"/>
            <a:ext cx="10780854" cy="1180661"/>
            <a:chOff x="596367" y="1253986"/>
            <a:chExt cx="10780854" cy="118066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A67368A-82EF-F243-34F8-9143F1CE4427}"/>
                </a:ext>
              </a:extLst>
            </p:cNvPr>
            <p:cNvSpPr/>
            <p:nvPr/>
          </p:nvSpPr>
          <p:spPr>
            <a:xfrm>
              <a:off x="596367" y="1260060"/>
              <a:ext cx="2206752" cy="886792"/>
            </a:xfrm>
            <a:prstGeom prst="rect">
              <a:avLst/>
            </a:prstGeom>
            <a:solidFill>
              <a:srgbClr val="F6F7F9"/>
            </a:solidFill>
            <a:ln w="1143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3E3E7C3-5F78-1CD4-BE74-3E377FD72D6B}"/>
                </a:ext>
              </a:extLst>
            </p:cNvPr>
            <p:cNvSpPr/>
            <p:nvPr/>
          </p:nvSpPr>
          <p:spPr>
            <a:xfrm>
              <a:off x="3454401" y="1260060"/>
              <a:ext cx="2206752" cy="886792"/>
            </a:xfrm>
            <a:prstGeom prst="rect">
              <a:avLst/>
            </a:prstGeom>
            <a:solidFill>
              <a:srgbClr val="F6F7F9"/>
            </a:solidFill>
            <a:ln w="1143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007656-BEEB-F6E6-B0D4-F776D3628B08}"/>
                </a:ext>
              </a:extLst>
            </p:cNvPr>
            <p:cNvSpPr/>
            <p:nvPr/>
          </p:nvSpPr>
          <p:spPr>
            <a:xfrm>
              <a:off x="6312435" y="1253986"/>
              <a:ext cx="2206752" cy="886792"/>
            </a:xfrm>
            <a:prstGeom prst="rect">
              <a:avLst/>
            </a:prstGeom>
            <a:solidFill>
              <a:srgbClr val="F6F7F9"/>
            </a:solidFill>
            <a:ln w="1143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3AA5FB-25AB-C2BE-6575-9602FE491941}"/>
                </a:ext>
              </a:extLst>
            </p:cNvPr>
            <p:cNvSpPr/>
            <p:nvPr/>
          </p:nvSpPr>
          <p:spPr>
            <a:xfrm>
              <a:off x="9170469" y="1260060"/>
              <a:ext cx="2206752" cy="886792"/>
            </a:xfrm>
            <a:prstGeom prst="rect">
              <a:avLst/>
            </a:prstGeom>
            <a:solidFill>
              <a:srgbClr val="F6F7F9"/>
            </a:solidFill>
            <a:ln w="1143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57FF6FE-720D-88CD-58E0-CB6072257101}"/>
                </a:ext>
              </a:extLst>
            </p:cNvPr>
            <p:cNvSpPr txBox="1"/>
            <p:nvPr/>
          </p:nvSpPr>
          <p:spPr>
            <a:xfrm>
              <a:off x="1053002" y="2188426"/>
              <a:ext cx="129348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DATA SOURCES · BUILT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7A5CB9A-22E6-8A08-824A-593B5EAC5B25}"/>
                </a:ext>
              </a:extLst>
            </p:cNvPr>
            <p:cNvSpPr txBox="1"/>
            <p:nvPr/>
          </p:nvSpPr>
          <p:spPr>
            <a:xfrm>
              <a:off x="3999943" y="2184585"/>
              <a:ext cx="111566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DATA LAYER · PLANNED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A2BCB26-43E4-6C84-D3E8-3A6AF62A6FF1}"/>
                </a:ext>
              </a:extLst>
            </p:cNvPr>
            <p:cNvSpPr txBox="1"/>
            <p:nvPr/>
          </p:nvSpPr>
          <p:spPr>
            <a:xfrm>
              <a:off x="6857977" y="2184584"/>
              <a:ext cx="111566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API / SERVING · PLANNED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18AF022-7083-EB51-CCD1-422DCB342112}"/>
                </a:ext>
              </a:extLst>
            </p:cNvPr>
            <p:cNvSpPr txBox="1"/>
            <p:nvPr/>
          </p:nvSpPr>
          <p:spPr>
            <a:xfrm>
              <a:off x="9716011" y="2188426"/>
              <a:ext cx="111566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CLIENTS · PLANNED</a:t>
              </a:r>
            </a:p>
          </p:txBody>
        </p:sp>
        <p:cxnSp>
          <p:nvCxnSpPr>
            <p:cNvPr id="28" name="Connector 19">
              <a:extLst>
                <a:ext uri="{FF2B5EF4-FFF2-40B4-BE49-F238E27FC236}">
                  <a16:creationId xmlns:a16="http://schemas.microsoft.com/office/drawing/2014/main" id="{5ED80A6E-4679-2A2C-959C-B931FD7EA41F}"/>
                </a:ext>
              </a:extLst>
            </p:cNvPr>
            <p:cNvCxnSpPr>
              <a:cxnSpLocks/>
              <a:stCxn id="5" idx="3"/>
              <a:endCxn id="9" idx="1"/>
            </p:cNvCxnSpPr>
            <p:nvPr/>
          </p:nvCxnSpPr>
          <p:spPr>
            <a:xfrm flipV="1">
              <a:off x="5661153" y="1697382"/>
              <a:ext cx="651282" cy="6074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19">
              <a:extLst>
                <a:ext uri="{FF2B5EF4-FFF2-40B4-BE49-F238E27FC236}">
                  <a16:creationId xmlns:a16="http://schemas.microsoft.com/office/drawing/2014/main" id="{B44448F0-6726-8356-5007-2B11437F78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2560" y="1712290"/>
              <a:ext cx="651282" cy="6074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19">
              <a:extLst>
                <a:ext uri="{FF2B5EF4-FFF2-40B4-BE49-F238E27FC236}">
                  <a16:creationId xmlns:a16="http://schemas.microsoft.com/office/drawing/2014/main" id="{EC2ACFF1-1F5C-BC9A-DD73-92A8887A6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0772" y="1718364"/>
              <a:ext cx="651282" cy="6074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63BE0E3-0D83-C41C-7FC5-559FC851D785}"/>
                </a:ext>
              </a:extLst>
            </p:cNvPr>
            <p:cNvSpPr txBox="1"/>
            <p:nvPr/>
          </p:nvSpPr>
          <p:spPr>
            <a:xfrm>
              <a:off x="1082874" y="1493605"/>
              <a:ext cx="1233739" cy="4616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NTES / FOIS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TIMETABLES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OSM + WEATHER</a:t>
              </a:r>
              <a:endParaRPr sz="1000" b="1" dirty="0">
                <a:solidFill>
                  <a:srgbClr val="12161F"/>
                </a:solidFill>
                <a:latin typeface="Segoe UI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0685BD0-8DEA-3FD1-037F-BDD9B7A9DBCB}"/>
                </a:ext>
              </a:extLst>
            </p:cNvPr>
            <p:cNvSpPr txBox="1"/>
            <p:nvPr/>
          </p:nvSpPr>
          <p:spPr>
            <a:xfrm>
              <a:off x="3940907" y="1490568"/>
              <a:ext cx="1233739" cy="4616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PostgreSQL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PostGIS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LIVE STORE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0FE5956-4859-FAB2-6E80-477CF72226BF}"/>
                </a:ext>
              </a:extLst>
            </p:cNvPr>
            <p:cNvSpPr txBox="1"/>
            <p:nvPr/>
          </p:nvSpPr>
          <p:spPr>
            <a:xfrm>
              <a:off x="6798941" y="1487531"/>
              <a:ext cx="1233739" cy="4616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FastAPI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REST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WEBSOCKET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B76A6AC-5F02-F1FD-8F7B-A95CD5E84C87}"/>
                </a:ext>
              </a:extLst>
            </p:cNvPr>
            <p:cNvSpPr txBox="1"/>
            <p:nvPr/>
          </p:nvSpPr>
          <p:spPr>
            <a:xfrm>
              <a:off x="9656975" y="1410587"/>
              <a:ext cx="1233739" cy="6155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Passenger App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Station Displays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SMS</a:t>
              </a:r>
            </a:p>
            <a:p>
              <a:pPr algn="ctr">
                <a:spcAft>
                  <a:spcPts val="0"/>
                </a:spcAft>
              </a:pP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IVR </a:t>
              </a:r>
              <a:r>
                <a:rPr lang="en-IN" sz="1000" dirty="0"/>
                <a:t>• </a:t>
              </a:r>
              <a:r>
                <a:rPr lang="en-IN" sz="1000" b="1" dirty="0">
                  <a:solidFill>
                    <a:srgbClr val="12161F"/>
                  </a:solidFill>
                  <a:latin typeface="Segoe UI"/>
                </a:rPr>
                <a:t>Control</a:t>
              </a:r>
            </a:p>
          </p:txBody>
        </p:sp>
      </p:grpSp>
      <p:grpSp>
        <p:nvGrpSpPr>
          <p:cNvPr id="17439" name="Group 17438">
            <a:extLst>
              <a:ext uri="{FF2B5EF4-FFF2-40B4-BE49-F238E27FC236}">
                <a16:creationId xmlns:a16="http://schemas.microsoft.com/office/drawing/2014/main" id="{E06C864A-74E5-A558-5C37-A0CE2A0DB52B}"/>
              </a:ext>
            </a:extLst>
          </p:cNvPr>
          <p:cNvGrpSpPr/>
          <p:nvPr/>
        </p:nvGrpSpPr>
        <p:grpSpPr>
          <a:xfrm>
            <a:off x="596366" y="2506546"/>
            <a:ext cx="10780855" cy="4063413"/>
            <a:chOff x="502920" y="1280160"/>
            <a:chExt cx="11338560" cy="4681728"/>
          </a:xfrm>
        </p:grpSpPr>
        <p:sp>
          <p:nvSpPr>
            <p:cNvPr id="17440" name="Rounded Rectangle 14">
              <a:extLst>
                <a:ext uri="{FF2B5EF4-FFF2-40B4-BE49-F238E27FC236}">
                  <a16:creationId xmlns:a16="http://schemas.microsoft.com/office/drawing/2014/main" id="{9CAE61B8-F24A-75A4-53BD-8F84CF352A1E}"/>
                </a:ext>
              </a:extLst>
            </p:cNvPr>
            <p:cNvSpPr/>
            <p:nvPr/>
          </p:nvSpPr>
          <p:spPr>
            <a:xfrm>
              <a:off x="502920" y="1371600"/>
              <a:ext cx="1965960" cy="786384"/>
            </a:xfrm>
            <a:prstGeom prst="roundRect">
              <a:avLst>
                <a:gd name="adj" fmla="val 50000"/>
              </a:avLst>
            </a:prstGeom>
            <a:solidFill>
              <a:srgbClr val="EFF5F4"/>
            </a:solidFill>
            <a:ln w="15875">
              <a:solidFill>
                <a:srgbClr val="0F76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150" b="1" dirty="0">
                  <a:solidFill>
                    <a:srgbClr val="0F766E"/>
                  </a:solidFill>
                  <a:latin typeface="Segoe UI"/>
                </a:rPr>
                <a:t>POSITION REPORT</a:t>
              </a:r>
            </a:p>
            <a:p>
              <a:pPr algn="ctr">
                <a:lnSpc>
                  <a:spcPct val="95000"/>
                </a:lnSpc>
              </a:pPr>
              <a:r>
                <a:rPr sz="900" dirty="0">
                  <a:solidFill>
                    <a:srgbClr val="5B6472"/>
                  </a:solidFill>
                  <a:latin typeface="Segoe UI"/>
                </a:rPr>
                <a:t>or the 30 s clock fires</a:t>
              </a:r>
            </a:p>
          </p:txBody>
        </p:sp>
        <p:cxnSp>
          <p:nvCxnSpPr>
            <p:cNvPr id="17441" name="Connector 15">
              <a:extLst>
                <a:ext uri="{FF2B5EF4-FFF2-40B4-BE49-F238E27FC236}">
                  <a16:creationId xmlns:a16="http://schemas.microsoft.com/office/drawing/2014/main" id="{F218528B-5385-CB01-C9D7-9E775DB47FE3}"/>
                </a:ext>
              </a:extLst>
            </p:cNvPr>
            <p:cNvCxnSpPr/>
            <p:nvPr/>
          </p:nvCxnSpPr>
          <p:spPr>
            <a:xfrm>
              <a:off x="2468880" y="1764792"/>
              <a:ext cx="338328" cy="0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42" name="Rectangle 17441">
              <a:extLst>
                <a:ext uri="{FF2B5EF4-FFF2-40B4-BE49-F238E27FC236}">
                  <a16:creationId xmlns:a16="http://schemas.microsoft.com/office/drawing/2014/main" id="{1F193912-3AA6-280B-1FAA-15F0CF58DA90}"/>
                </a:ext>
              </a:extLst>
            </p:cNvPr>
            <p:cNvSpPr/>
            <p:nvPr/>
          </p:nvSpPr>
          <p:spPr>
            <a:xfrm>
              <a:off x="2807208" y="1371600"/>
              <a:ext cx="1965960" cy="78638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216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150" b="1" dirty="0">
                  <a:solidFill>
                    <a:srgbClr val="12161F"/>
                  </a:solidFill>
                  <a:latin typeface="Segoe UI"/>
                </a:rPr>
                <a:t>Update live state</a:t>
              </a:r>
            </a:p>
            <a:p>
              <a:pPr algn="ctr">
                <a:lnSpc>
                  <a:spcPct val="95000"/>
                </a:lnSpc>
              </a:pPr>
              <a:r>
                <a:rPr sz="900" dirty="0">
                  <a:solidFill>
                    <a:srgbClr val="5B6472"/>
                  </a:solidFill>
                  <a:latin typeface="Segoe UI"/>
                </a:rPr>
                <a:t>delay, momentum, block occupancy</a:t>
              </a:r>
            </a:p>
          </p:txBody>
        </p:sp>
        <p:cxnSp>
          <p:nvCxnSpPr>
            <p:cNvPr id="17443" name="Connector 17">
              <a:extLst>
                <a:ext uri="{FF2B5EF4-FFF2-40B4-BE49-F238E27FC236}">
                  <a16:creationId xmlns:a16="http://schemas.microsoft.com/office/drawing/2014/main" id="{ED33F3F6-061A-94CB-1127-12849E8A30A9}"/>
                </a:ext>
              </a:extLst>
            </p:cNvPr>
            <p:cNvCxnSpPr/>
            <p:nvPr/>
          </p:nvCxnSpPr>
          <p:spPr>
            <a:xfrm>
              <a:off x="4773168" y="1764792"/>
              <a:ext cx="338328" cy="0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44" name="Diamond 17443">
              <a:extLst>
                <a:ext uri="{FF2B5EF4-FFF2-40B4-BE49-F238E27FC236}">
                  <a16:creationId xmlns:a16="http://schemas.microsoft.com/office/drawing/2014/main" id="{0717235F-D33B-551D-69D7-01A592502064}"/>
                </a:ext>
              </a:extLst>
            </p:cNvPr>
            <p:cNvSpPr/>
            <p:nvPr/>
          </p:nvSpPr>
          <p:spPr>
            <a:xfrm>
              <a:off x="5111496" y="1280160"/>
              <a:ext cx="1965960" cy="969264"/>
            </a:xfrm>
            <a:prstGeom prst="diamond">
              <a:avLst/>
            </a:prstGeom>
            <a:solidFill>
              <a:srgbClr val="FDF6EC"/>
            </a:solidFill>
            <a:ln w="15875">
              <a:solidFill>
                <a:srgbClr val="B4530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150" b="1" dirty="0">
                  <a:solidFill>
                    <a:srgbClr val="12161F"/>
                  </a:solidFill>
                  <a:latin typeface="Segoe UI"/>
                </a:rPr>
                <a:t>Train running?</a:t>
              </a:r>
            </a:p>
          </p:txBody>
        </p:sp>
        <p:cxnSp>
          <p:nvCxnSpPr>
            <p:cNvPr id="17445" name="Connector 19">
              <a:extLst>
                <a:ext uri="{FF2B5EF4-FFF2-40B4-BE49-F238E27FC236}">
                  <a16:creationId xmlns:a16="http://schemas.microsoft.com/office/drawing/2014/main" id="{67FE4D89-AAD5-7044-8751-BCE90091D2BA}"/>
                </a:ext>
              </a:extLst>
            </p:cNvPr>
            <p:cNvCxnSpPr/>
            <p:nvPr/>
          </p:nvCxnSpPr>
          <p:spPr>
            <a:xfrm>
              <a:off x="7077456" y="1764792"/>
              <a:ext cx="338327" cy="0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46" name="TextBox 17445">
              <a:extLst>
                <a:ext uri="{FF2B5EF4-FFF2-40B4-BE49-F238E27FC236}">
                  <a16:creationId xmlns:a16="http://schemas.microsoft.com/office/drawing/2014/main" id="{4BBEC7DA-C22D-B199-9ACC-CB072D81AE49}"/>
                </a:ext>
              </a:extLst>
            </p:cNvPr>
            <p:cNvSpPr txBox="1"/>
            <p:nvPr/>
          </p:nvSpPr>
          <p:spPr>
            <a:xfrm>
              <a:off x="7095744" y="1563624"/>
              <a:ext cx="36576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0F766E"/>
                  </a:solidFill>
                  <a:latin typeface="Segoe UI"/>
                </a:rPr>
                <a:t>yes</a:t>
              </a:r>
            </a:p>
          </p:txBody>
        </p:sp>
        <p:sp>
          <p:nvSpPr>
            <p:cNvPr id="17447" name="Rectangle 17446">
              <a:extLst>
                <a:ext uri="{FF2B5EF4-FFF2-40B4-BE49-F238E27FC236}">
                  <a16:creationId xmlns:a16="http://schemas.microsoft.com/office/drawing/2014/main" id="{29E5AE23-DE7F-8D6B-CFF4-1AB9517D729D}"/>
                </a:ext>
              </a:extLst>
            </p:cNvPr>
            <p:cNvSpPr/>
            <p:nvPr/>
          </p:nvSpPr>
          <p:spPr>
            <a:xfrm>
              <a:off x="7415783" y="1371600"/>
              <a:ext cx="1965960" cy="78638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216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150" b="1" dirty="0">
                  <a:solidFill>
                    <a:srgbClr val="12161F"/>
                  </a:solidFill>
                  <a:latin typeface="Segoe UI"/>
                </a:rPr>
                <a:t>A · Free-run time</a:t>
              </a:r>
            </a:p>
            <a:p>
              <a:pPr algn="ctr">
                <a:lnSpc>
                  <a:spcPct val="95000"/>
                </a:lnSpc>
              </a:pPr>
              <a:r>
                <a:rPr sz="900" dirty="0">
                  <a:solidFill>
                    <a:srgbClr val="5B6472"/>
                  </a:solidFill>
                  <a:latin typeface="Segoe UI"/>
                </a:rPr>
                <a:t>per remaining section</a:t>
              </a:r>
            </a:p>
          </p:txBody>
        </p:sp>
        <p:cxnSp>
          <p:nvCxnSpPr>
            <p:cNvPr id="17448" name="Connector 22">
              <a:extLst>
                <a:ext uri="{FF2B5EF4-FFF2-40B4-BE49-F238E27FC236}">
                  <a16:creationId xmlns:a16="http://schemas.microsoft.com/office/drawing/2014/main" id="{EB085ED2-6265-A093-BDC7-1353C209973D}"/>
                </a:ext>
              </a:extLst>
            </p:cNvPr>
            <p:cNvCxnSpPr/>
            <p:nvPr/>
          </p:nvCxnSpPr>
          <p:spPr>
            <a:xfrm>
              <a:off x="9381744" y="1764792"/>
              <a:ext cx="338328" cy="0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49" name="Rectangle 17448">
              <a:extLst>
                <a:ext uri="{FF2B5EF4-FFF2-40B4-BE49-F238E27FC236}">
                  <a16:creationId xmlns:a16="http://schemas.microsoft.com/office/drawing/2014/main" id="{7D3E495C-CA16-4468-BACF-08F508031EAE}"/>
                </a:ext>
              </a:extLst>
            </p:cNvPr>
            <p:cNvSpPr/>
            <p:nvPr/>
          </p:nvSpPr>
          <p:spPr>
            <a:xfrm>
              <a:off x="9720072" y="1371600"/>
              <a:ext cx="1965960" cy="78638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216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50" b="1" dirty="0">
                  <a:solidFill>
                    <a:srgbClr val="12161F"/>
                  </a:solidFill>
                  <a:latin typeface="Segoe UI"/>
                </a:rPr>
                <a:t>B · Advance the block graph</a:t>
              </a:r>
            </a:p>
            <a:p>
              <a:pPr algn="ctr">
                <a:lnSpc>
                  <a:spcPct val="95000"/>
                </a:lnSpc>
              </a:pPr>
              <a:r>
                <a:rPr sz="800" dirty="0">
                  <a:solidFill>
                    <a:srgbClr val="5B6472"/>
                  </a:solidFill>
                  <a:latin typeface="Segoe UI"/>
                </a:rPr>
                <a:t>every train, in event order</a:t>
              </a:r>
            </a:p>
          </p:txBody>
        </p:sp>
        <p:cxnSp>
          <p:nvCxnSpPr>
            <p:cNvPr id="17450" name="Connector 24">
              <a:extLst>
                <a:ext uri="{FF2B5EF4-FFF2-40B4-BE49-F238E27FC236}">
                  <a16:creationId xmlns:a16="http://schemas.microsoft.com/office/drawing/2014/main" id="{1306A85A-6945-6CAB-1BD1-F73C0869CCD7}"/>
                </a:ext>
              </a:extLst>
            </p:cNvPr>
            <p:cNvCxnSpPr/>
            <p:nvPr/>
          </p:nvCxnSpPr>
          <p:spPr>
            <a:xfrm>
              <a:off x="6094476" y="2249424"/>
              <a:ext cx="0" cy="182880"/>
            </a:xfrm>
            <a:prstGeom prst="line">
              <a:avLst/>
            </a:prstGeom>
            <a:ln w="13970">
              <a:solidFill>
                <a:srgbClr val="8A94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1" name="Connector 25">
              <a:extLst>
                <a:ext uri="{FF2B5EF4-FFF2-40B4-BE49-F238E27FC236}">
                  <a16:creationId xmlns:a16="http://schemas.microsoft.com/office/drawing/2014/main" id="{D6C7FB4D-AFC8-540C-1476-61A3816B505D}"/>
                </a:ext>
              </a:extLst>
            </p:cNvPr>
            <p:cNvCxnSpPr/>
            <p:nvPr/>
          </p:nvCxnSpPr>
          <p:spPr>
            <a:xfrm flipH="1">
              <a:off x="5605272" y="2432304"/>
              <a:ext cx="489204" cy="0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52" name="Rectangle 17451">
              <a:extLst>
                <a:ext uri="{FF2B5EF4-FFF2-40B4-BE49-F238E27FC236}">
                  <a16:creationId xmlns:a16="http://schemas.microsoft.com/office/drawing/2014/main" id="{65F2AA8B-19C3-20CB-7E3C-4AA12C2BEA8C}"/>
                </a:ext>
              </a:extLst>
            </p:cNvPr>
            <p:cNvSpPr/>
            <p:nvPr/>
          </p:nvSpPr>
          <p:spPr>
            <a:xfrm>
              <a:off x="3374136" y="2249424"/>
              <a:ext cx="2194560" cy="365760"/>
            </a:xfrm>
            <a:prstGeom prst="rect">
              <a:avLst/>
            </a:prstGeom>
            <a:solidFill>
              <a:srgbClr val="F6F7F9"/>
            </a:solidFill>
            <a:ln w="15875">
              <a:solidFill>
                <a:srgbClr val="DDE1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950" b="1" dirty="0">
                  <a:solidFill>
                    <a:srgbClr val="12161F"/>
                  </a:solidFill>
                  <a:latin typeface="Segoe UI"/>
                </a:rPr>
                <a:t>Show booked schedule</a:t>
              </a:r>
            </a:p>
          </p:txBody>
        </p:sp>
        <p:sp>
          <p:nvSpPr>
            <p:cNvPr id="17453" name="TextBox 17452">
              <a:extLst>
                <a:ext uri="{FF2B5EF4-FFF2-40B4-BE49-F238E27FC236}">
                  <a16:creationId xmlns:a16="http://schemas.microsoft.com/office/drawing/2014/main" id="{2795E5F0-DC53-5022-91DA-44D9EC1E5ECF}"/>
                </a:ext>
              </a:extLst>
            </p:cNvPr>
            <p:cNvSpPr txBox="1"/>
            <p:nvPr/>
          </p:nvSpPr>
          <p:spPr>
            <a:xfrm>
              <a:off x="6149340" y="2263044"/>
              <a:ext cx="365761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5B6472"/>
                  </a:solidFill>
                  <a:latin typeface="Segoe UI"/>
                </a:rPr>
                <a:t>no</a:t>
              </a:r>
            </a:p>
          </p:txBody>
        </p:sp>
        <p:cxnSp>
          <p:nvCxnSpPr>
            <p:cNvPr id="17454" name="Connector 28">
              <a:extLst>
                <a:ext uri="{FF2B5EF4-FFF2-40B4-BE49-F238E27FC236}">
                  <a16:creationId xmlns:a16="http://schemas.microsoft.com/office/drawing/2014/main" id="{412A42E1-696C-D039-50DB-1F55FD544969}"/>
                </a:ext>
              </a:extLst>
            </p:cNvPr>
            <p:cNvCxnSpPr/>
            <p:nvPr/>
          </p:nvCxnSpPr>
          <p:spPr>
            <a:xfrm>
              <a:off x="10703052" y="2157984"/>
              <a:ext cx="0" cy="603504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55" name="Diamond 17454">
              <a:extLst>
                <a:ext uri="{FF2B5EF4-FFF2-40B4-BE49-F238E27FC236}">
                  <a16:creationId xmlns:a16="http://schemas.microsoft.com/office/drawing/2014/main" id="{F8740B22-C542-A70F-A6CF-E3EC6917F243}"/>
                </a:ext>
              </a:extLst>
            </p:cNvPr>
            <p:cNvSpPr/>
            <p:nvPr/>
          </p:nvSpPr>
          <p:spPr>
            <a:xfrm>
              <a:off x="9720072" y="2852928"/>
              <a:ext cx="1965960" cy="969264"/>
            </a:xfrm>
            <a:prstGeom prst="diamond">
              <a:avLst/>
            </a:prstGeom>
            <a:solidFill>
              <a:srgbClr val="FDF6EC"/>
            </a:solidFill>
            <a:ln w="15875">
              <a:solidFill>
                <a:srgbClr val="B4530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dirty="0">
                  <a:solidFill>
                    <a:srgbClr val="12161F"/>
                  </a:solidFill>
                  <a:latin typeface="Segoe UI"/>
                </a:rPr>
                <a:t>Block section ahead occupied?</a:t>
              </a:r>
            </a:p>
          </p:txBody>
        </p:sp>
        <p:cxnSp>
          <p:nvCxnSpPr>
            <p:cNvPr id="17456" name="Connector 30">
              <a:extLst>
                <a:ext uri="{FF2B5EF4-FFF2-40B4-BE49-F238E27FC236}">
                  <a16:creationId xmlns:a16="http://schemas.microsoft.com/office/drawing/2014/main" id="{B9AB1525-812A-1075-A1B3-8920E008F7AA}"/>
                </a:ext>
              </a:extLst>
            </p:cNvPr>
            <p:cNvCxnSpPr/>
            <p:nvPr/>
          </p:nvCxnSpPr>
          <p:spPr>
            <a:xfrm flipH="1">
              <a:off x="9381744" y="3337560"/>
              <a:ext cx="338328" cy="0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57" name="TextBox 17456">
              <a:extLst>
                <a:ext uri="{FF2B5EF4-FFF2-40B4-BE49-F238E27FC236}">
                  <a16:creationId xmlns:a16="http://schemas.microsoft.com/office/drawing/2014/main" id="{DE9FC8A2-2115-786A-4B27-D627AD180176}"/>
                </a:ext>
              </a:extLst>
            </p:cNvPr>
            <p:cNvSpPr txBox="1"/>
            <p:nvPr/>
          </p:nvSpPr>
          <p:spPr>
            <a:xfrm>
              <a:off x="9478829" y="3144665"/>
              <a:ext cx="45720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B45309"/>
                  </a:solidFill>
                  <a:latin typeface="Segoe UI"/>
                </a:rPr>
                <a:t>yes</a:t>
              </a:r>
            </a:p>
          </p:txBody>
        </p:sp>
        <p:sp>
          <p:nvSpPr>
            <p:cNvPr id="17458" name="Diamond 17457">
              <a:extLst>
                <a:ext uri="{FF2B5EF4-FFF2-40B4-BE49-F238E27FC236}">
                  <a16:creationId xmlns:a16="http://schemas.microsoft.com/office/drawing/2014/main" id="{CD5C9771-4B14-3967-0804-3149A073A6DB}"/>
                </a:ext>
              </a:extLst>
            </p:cNvPr>
            <p:cNvSpPr/>
            <p:nvPr/>
          </p:nvSpPr>
          <p:spPr>
            <a:xfrm>
              <a:off x="7415783" y="2852928"/>
              <a:ext cx="1965960" cy="969264"/>
            </a:xfrm>
            <a:prstGeom prst="diamond">
              <a:avLst/>
            </a:prstGeom>
            <a:solidFill>
              <a:srgbClr val="FDF6EC"/>
            </a:solidFill>
            <a:ln w="15875">
              <a:solidFill>
                <a:srgbClr val="B4530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dirty="0">
                  <a:solidFill>
                    <a:srgbClr val="12161F"/>
                  </a:solidFill>
                  <a:latin typeface="Segoe UI"/>
                </a:rPr>
                <a:t>Higher-priority train behind?</a:t>
              </a:r>
            </a:p>
          </p:txBody>
        </p:sp>
        <p:sp>
          <p:nvSpPr>
            <p:cNvPr id="17459" name="Rectangle 17458">
              <a:extLst>
                <a:ext uri="{FF2B5EF4-FFF2-40B4-BE49-F238E27FC236}">
                  <a16:creationId xmlns:a16="http://schemas.microsoft.com/office/drawing/2014/main" id="{B3E6EC33-D95C-86F0-007F-9E1515675894}"/>
                </a:ext>
              </a:extLst>
            </p:cNvPr>
            <p:cNvSpPr/>
            <p:nvPr/>
          </p:nvSpPr>
          <p:spPr>
            <a:xfrm>
              <a:off x="5111496" y="2798064"/>
              <a:ext cx="1965960" cy="43891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216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dirty="0">
                  <a:solidFill>
                    <a:srgbClr val="12161F"/>
                  </a:solidFill>
                  <a:latin typeface="Segoe UI"/>
                </a:rPr>
                <a:t>Loop the slower train</a:t>
              </a:r>
            </a:p>
          </p:txBody>
        </p:sp>
        <p:sp>
          <p:nvSpPr>
            <p:cNvPr id="17460" name="Rectangle 17459">
              <a:extLst>
                <a:ext uri="{FF2B5EF4-FFF2-40B4-BE49-F238E27FC236}">
                  <a16:creationId xmlns:a16="http://schemas.microsoft.com/office/drawing/2014/main" id="{8639A77C-B7EF-1B52-34AC-5E578D39317E}"/>
                </a:ext>
              </a:extLst>
            </p:cNvPr>
            <p:cNvSpPr/>
            <p:nvPr/>
          </p:nvSpPr>
          <p:spPr>
            <a:xfrm>
              <a:off x="5111496" y="3401568"/>
              <a:ext cx="1965960" cy="43891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216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dirty="0">
                  <a:solidFill>
                    <a:srgbClr val="12161F"/>
                  </a:solidFill>
                  <a:latin typeface="Segoe UI"/>
                </a:rPr>
                <a:t>Queue behind the block</a:t>
              </a:r>
            </a:p>
          </p:txBody>
        </p:sp>
        <p:cxnSp>
          <p:nvCxnSpPr>
            <p:cNvPr id="17461" name="Connector 35">
              <a:extLst>
                <a:ext uri="{FF2B5EF4-FFF2-40B4-BE49-F238E27FC236}">
                  <a16:creationId xmlns:a16="http://schemas.microsoft.com/office/drawing/2014/main" id="{1E242851-457D-BACB-4CBA-EA828A1339C6}"/>
                </a:ext>
              </a:extLst>
            </p:cNvPr>
            <p:cNvCxnSpPr/>
            <p:nvPr/>
          </p:nvCxnSpPr>
          <p:spPr>
            <a:xfrm flipH="1">
              <a:off x="7077456" y="3017520"/>
              <a:ext cx="338327" cy="0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62" name="Connector 36">
              <a:extLst>
                <a:ext uri="{FF2B5EF4-FFF2-40B4-BE49-F238E27FC236}">
                  <a16:creationId xmlns:a16="http://schemas.microsoft.com/office/drawing/2014/main" id="{C900E409-2E02-4357-FB0A-59465B99E5BF}"/>
                </a:ext>
              </a:extLst>
            </p:cNvPr>
            <p:cNvCxnSpPr/>
            <p:nvPr/>
          </p:nvCxnSpPr>
          <p:spPr>
            <a:xfrm flipH="1">
              <a:off x="7077456" y="3621024"/>
              <a:ext cx="338327" cy="0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63" name="TextBox 17462">
              <a:extLst>
                <a:ext uri="{FF2B5EF4-FFF2-40B4-BE49-F238E27FC236}">
                  <a16:creationId xmlns:a16="http://schemas.microsoft.com/office/drawing/2014/main" id="{1AB88F83-6FBE-5547-39A3-06A6677914CA}"/>
                </a:ext>
              </a:extLst>
            </p:cNvPr>
            <p:cNvSpPr txBox="1"/>
            <p:nvPr/>
          </p:nvSpPr>
          <p:spPr>
            <a:xfrm>
              <a:off x="7227703" y="2852170"/>
              <a:ext cx="310896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800" b="1" dirty="0">
                  <a:solidFill>
                    <a:srgbClr val="B45309"/>
                  </a:solidFill>
                  <a:latin typeface="Segoe UI"/>
                </a:rPr>
                <a:t>yes</a:t>
              </a:r>
            </a:p>
          </p:txBody>
        </p:sp>
        <p:sp>
          <p:nvSpPr>
            <p:cNvPr id="17464" name="TextBox 17463">
              <a:extLst>
                <a:ext uri="{FF2B5EF4-FFF2-40B4-BE49-F238E27FC236}">
                  <a16:creationId xmlns:a16="http://schemas.microsoft.com/office/drawing/2014/main" id="{2F51C9C1-D24F-7431-80D5-325C7AFDDD5D}"/>
                </a:ext>
              </a:extLst>
            </p:cNvPr>
            <p:cNvSpPr txBox="1"/>
            <p:nvPr/>
          </p:nvSpPr>
          <p:spPr>
            <a:xfrm>
              <a:off x="7238157" y="3630168"/>
              <a:ext cx="2743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800" b="1" dirty="0">
                  <a:solidFill>
                    <a:srgbClr val="5B6472"/>
                  </a:solidFill>
                  <a:latin typeface="Segoe UI"/>
                </a:rPr>
                <a:t>no</a:t>
              </a:r>
            </a:p>
          </p:txBody>
        </p:sp>
        <p:cxnSp>
          <p:nvCxnSpPr>
            <p:cNvPr id="17465" name="Connector 39">
              <a:extLst>
                <a:ext uri="{FF2B5EF4-FFF2-40B4-BE49-F238E27FC236}">
                  <a16:creationId xmlns:a16="http://schemas.microsoft.com/office/drawing/2014/main" id="{85F61E5A-EB87-DA97-1F2F-E230A845154F}"/>
                </a:ext>
              </a:extLst>
            </p:cNvPr>
            <p:cNvCxnSpPr/>
            <p:nvPr/>
          </p:nvCxnSpPr>
          <p:spPr>
            <a:xfrm>
              <a:off x="6094476" y="3840480"/>
              <a:ext cx="0" cy="219456"/>
            </a:xfrm>
            <a:prstGeom prst="line">
              <a:avLst/>
            </a:prstGeom>
            <a:ln w="13970">
              <a:solidFill>
                <a:srgbClr val="8A94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66" name="Connector 40">
              <a:extLst>
                <a:ext uri="{FF2B5EF4-FFF2-40B4-BE49-F238E27FC236}">
                  <a16:creationId xmlns:a16="http://schemas.microsoft.com/office/drawing/2014/main" id="{1A35E8A3-22F3-3E71-F520-B6BA3CC88966}"/>
                </a:ext>
              </a:extLst>
            </p:cNvPr>
            <p:cNvCxnSpPr/>
            <p:nvPr/>
          </p:nvCxnSpPr>
          <p:spPr>
            <a:xfrm flipH="1">
              <a:off x="4773168" y="4059936"/>
              <a:ext cx="1321308" cy="0"/>
            </a:xfrm>
            <a:prstGeom prst="line">
              <a:avLst/>
            </a:prstGeom>
            <a:ln w="13970">
              <a:solidFill>
                <a:srgbClr val="8A94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67" name="Connector 41">
              <a:extLst>
                <a:ext uri="{FF2B5EF4-FFF2-40B4-BE49-F238E27FC236}">
                  <a16:creationId xmlns:a16="http://schemas.microsoft.com/office/drawing/2014/main" id="{928044E2-113B-9EAC-2D17-DC019B86DC73}"/>
                </a:ext>
              </a:extLst>
            </p:cNvPr>
            <p:cNvCxnSpPr/>
            <p:nvPr/>
          </p:nvCxnSpPr>
          <p:spPr>
            <a:xfrm flipH="1">
              <a:off x="4773168" y="3337560"/>
              <a:ext cx="338328" cy="0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68" name="Rectangle 17467">
              <a:extLst>
                <a:ext uri="{FF2B5EF4-FFF2-40B4-BE49-F238E27FC236}">
                  <a16:creationId xmlns:a16="http://schemas.microsoft.com/office/drawing/2014/main" id="{C1D9F5C5-3F37-7CB4-2053-A1025E9FFDE8}"/>
                </a:ext>
              </a:extLst>
            </p:cNvPr>
            <p:cNvSpPr/>
            <p:nvPr/>
          </p:nvSpPr>
          <p:spPr>
            <a:xfrm>
              <a:off x="2807208" y="2944368"/>
              <a:ext cx="1965960" cy="78638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216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50" b="1" dirty="0">
                  <a:solidFill>
                    <a:srgbClr val="12161F"/>
                  </a:solidFill>
                  <a:latin typeface="Segoe UI"/>
                </a:rPr>
                <a:t>C · Learned residual</a:t>
              </a:r>
            </a:p>
            <a:p>
              <a:pPr algn="ctr">
                <a:lnSpc>
                  <a:spcPct val="95000"/>
                </a:lnSpc>
              </a:pPr>
              <a:r>
                <a:rPr sz="800" dirty="0">
                  <a:solidFill>
                    <a:srgbClr val="5B6472"/>
                  </a:solidFill>
                  <a:latin typeface="Segoe UI"/>
                </a:rPr>
                <a:t>one shot per horizon, never chained</a:t>
              </a:r>
            </a:p>
          </p:txBody>
        </p:sp>
        <p:cxnSp>
          <p:nvCxnSpPr>
            <p:cNvPr id="17469" name="Connector 43">
              <a:extLst>
                <a:ext uri="{FF2B5EF4-FFF2-40B4-BE49-F238E27FC236}">
                  <a16:creationId xmlns:a16="http://schemas.microsoft.com/office/drawing/2014/main" id="{3838B93C-56D6-D113-AD5E-9134E1314707}"/>
                </a:ext>
              </a:extLst>
            </p:cNvPr>
            <p:cNvCxnSpPr/>
            <p:nvPr/>
          </p:nvCxnSpPr>
          <p:spPr>
            <a:xfrm flipH="1">
              <a:off x="2468880" y="3337560"/>
              <a:ext cx="338328" cy="0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70" name="Rectangle 17469">
              <a:extLst>
                <a:ext uri="{FF2B5EF4-FFF2-40B4-BE49-F238E27FC236}">
                  <a16:creationId xmlns:a16="http://schemas.microsoft.com/office/drawing/2014/main" id="{51E377E9-2454-6D05-7CD8-4C05462BBA15}"/>
                </a:ext>
              </a:extLst>
            </p:cNvPr>
            <p:cNvSpPr/>
            <p:nvPr/>
          </p:nvSpPr>
          <p:spPr>
            <a:xfrm>
              <a:off x="502920" y="2944368"/>
              <a:ext cx="1965960" cy="78638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216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50" b="1" dirty="0">
                  <a:solidFill>
                    <a:srgbClr val="12161F"/>
                  </a:solidFill>
                  <a:latin typeface="Segoe UI"/>
                </a:rPr>
                <a:t>D · Conformal interval</a:t>
              </a:r>
            </a:p>
            <a:p>
              <a:pPr algn="ctr">
                <a:lnSpc>
                  <a:spcPct val="95000"/>
                </a:lnSpc>
              </a:pPr>
              <a:r>
                <a:rPr sz="800" dirty="0">
                  <a:solidFill>
                    <a:srgbClr val="5B6472"/>
                  </a:solidFill>
                  <a:latin typeface="Segoe UI"/>
                </a:rPr>
                <a:t>horizon × segment × time of day</a:t>
              </a:r>
            </a:p>
          </p:txBody>
        </p:sp>
        <p:cxnSp>
          <p:nvCxnSpPr>
            <p:cNvPr id="17471" name="Connector 45">
              <a:extLst>
                <a:ext uri="{FF2B5EF4-FFF2-40B4-BE49-F238E27FC236}">
                  <a16:creationId xmlns:a16="http://schemas.microsoft.com/office/drawing/2014/main" id="{F7951967-D8C5-8582-13B7-47B8A7E00F6A}"/>
                </a:ext>
              </a:extLst>
            </p:cNvPr>
            <p:cNvCxnSpPr/>
            <p:nvPr/>
          </p:nvCxnSpPr>
          <p:spPr>
            <a:xfrm>
              <a:off x="10703052" y="3822192"/>
              <a:ext cx="0" cy="310895"/>
            </a:xfrm>
            <a:prstGeom prst="line">
              <a:avLst/>
            </a:prstGeom>
            <a:ln w="13970">
              <a:solidFill>
                <a:srgbClr val="8A94A3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2" name="Connector 46">
              <a:extLst>
                <a:ext uri="{FF2B5EF4-FFF2-40B4-BE49-F238E27FC236}">
                  <a16:creationId xmlns:a16="http://schemas.microsoft.com/office/drawing/2014/main" id="{FA5FECB1-E176-73B6-ADD3-B674901A2B59}"/>
                </a:ext>
              </a:extLst>
            </p:cNvPr>
            <p:cNvCxnSpPr/>
            <p:nvPr/>
          </p:nvCxnSpPr>
          <p:spPr>
            <a:xfrm flipH="1">
              <a:off x="3790187" y="4133087"/>
              <a:ext cx="6912865" cy="0"/>
            </a:xfrm>
            <a:prstGeom prst="line">
              <a:avLst/>
            </a:prstGeom>
            <a:ln w="13970">
              <a:solidFill>
                <a:srgbClr val="8A94A3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3" name="Connector 47">
              <a:extLst>
                <a:ext uri="{FF2B5EF4-FFF2-40B4-BE49-F238E27FC236}">
                  <a16:creationId xmlns:a16="http://schemas.microsoft.com/office/drawing/2014/main" id="{3733B862-A7E1-738C-DE17-C4B5D0A1A941}"/>
                </a:ext>
              </a:extLst>
            </p:cNvPr>
            <p:cNvCxnSpPr/>
            <p:nvPr/>
          </p:nvCxnSpPr>
          <p:spPr>
            <a:xfrm flipV="1">
              <a:off x="3790187" y="3730752"/>
              <a:ext cx="0" cy="402335"/>
            </a:xfrm>
            <a:prstGeom prst="line">
              <a:avLst/>
            </a:prstGeom>
            <a:ln w="13970">
              <a:solidFill>
                <a:srgbClr val="8A94A3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4" name="Connector 49">
              <a:extLst>
                <a:ext uri="{FF2B5EF4-FFF2-40B4-BE49-F238E27FC236}">
                  <a16:creationId xmlns:a16="http://schemas.microsoft.com/office/drawing/2014/main" id="{FC9833DE-D610-1E40-973A-CBA7B6E71FE5}"/>
                </a:ext>
              </a:extLst>
            </p:cNvPr>
            <p:cNvCxnSpPr/>
            <p:nvPr/>
          </p:nvCxnSpPr>
          <p:spPr>
            <a:xfrm>
              <a:off x="1485900" y="3730752"/>
              <a:ext cx="0" cy="603504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75" name="Diamond 17474">
              <a:extLst>
                <a:ext uri="{FF2B5EF4-FFF2-40B4-BE49-F238E27FC236}">
                  <a16:creationId xmlns:a16="http://schemas.microsoft.com/office/drawing/2014/main" id="{78BAA51B-4A4E-7903-E13C-117DF08DDB05}"/>
                </a:ext>
              </a:extLst>
            </p:cNvPr>
            <p:cNvSpPr/>
            <p:nvPr/>
          </p:nvSpPr>
          <p:spPr>
            <a:xfrm>
              <a:off x="502920" y="4425696"/>
              <a:ext cx="1965960" cy="969264"/>
            </a:xfrm>
            <a:prstGeom prst="diamond">
              <a:avLst/>
            </a:prstGeom>
            <a:solidFill>
              <a:srgbClr val="FDF6EC"/>
            </a:solidFill>
            <a:ln w="15875">
              <a:solidFill>
                <a:srgbClr val="B4530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dirty="0">
                  <a:solidFill>
                    <a:srgbClr val="12161F"/>
                  </a:solidFill>
                  <a:latin typeface="Segoe UI"/>
                </a:rPr>
                <a:t>Coverage on target for this group?</a:t>
              </a:r>
            </a:p>
          </p:txBody>
        </p:sp>
        <p:cxnSp>
          <p:nvCxnSpPr>
            <p:cNvPr id="17476" name="Connector 51">
              <a:extLst>
                <a:ext uri="{FF2B5EF4-FFF2-40B4-BE49-F238E27FC236}">
                  <a16:creationId xmlns:a16="http://schemas.microsoft.com/office/drawing/2014/main" id="{FCFB6834-D1B8-1ACA-88F3-FA26D443C2FA}"/>
                </a:ext>
              </a:extLst>
            </p:cNvPr>
            <p:cNvCxnSpPr/>
            <p:nvPr/>
          </p:nvCxnSpPr>
          <p:spPr>
            <a:xfrm>
              <a:off x="2468880" y="4910328"/>
              <a:ext cx="338328" cy="0"/>
            </a:xfrm>
            <a:prstGeom prst="line">
              <a:avLst/>
            </a:prstGeom>
            <a:ln w="13970">
              <a:solidFill>
                <a:srgbClr val="8A94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77" name="TextBox 17476">
              <a:extLst>
                <a:ext uri="{FF2B5EF4-FFF2-40B4-BE49-F238E27FC236}">
                  <a16:creationId xmlns:a16="http://schemas.microsoft.com/office/drawing/2014/main" id="{D9ED02C7-6D04-2E07-A2CF-A2C1EE0860CF}"/>
                </a:ext>
              </a:extLst>
            </p:cNvPr>
            <p:cNvSpPr txBox="1"/>
            <p:nvPr/>
          </p:nvSpPr>
          <p:spPr>
            <a:xfrm>
              <a:off x="2487168" y="4681728"/>
              <a:ext cx="36576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0F766E"/>
                  </a:solidFill>
                  <a:latin typeface="Segoe UI"/>
                </a:rPr>
                <a:t>yes</a:t>
              </a:r>
            </a:p>
          </p:txBody>
        </p:sp>
        <p:sp>
          <p:nvSpPr>
            <p:cNvPr id="17478" name="Rounded Rectangle 53">
              <a:extLst>
                <a:ext uri="{FF2B5EF4-FFF2-40B4-BE49-F238E27FC236}">
                  <a16:creationId xmlns:a16="http://schemas.microsoft.com/office/drawing/2014/main" id="{CCF78A08-1C26-3084-5297-138C073A1364}"/>
                </a:ext>
              </a:extLst>
            </p:cNvPr>
            <p:cNvSpPr/>
            <p:nvPr/>
          </p:nvSpPr>
          <p:spPr>
            <a:xfrm>
              <a:off x="2807208" y="4517136"/>
              <a:ext cx="4270248" cy="786384"/>
            </a:xfrm>
            <a:prstGeom prst="roundRect">
              <a:avLst>
                <a:gd name="adj" fmla="val 50000"/>
              </a:avLst>
            </a:prstGeom>
            <a:solidFill>
              <a:srgbClr val="EFF5F4"/>
            </a:solidFill>
            <a:ln w="15875">
              <a:solidFill>
                <a:srgbClr val="0F76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150" b="1" dirty="0">
                  <a:solidFill>
                    <a:srgbClr val="0F766E"/>
                  </a:solidFill>
                  <a:latin typeface="Segoe UI"/>
                </a:rPr>
                <a:t>PUBLISH THE ARRIVAL WINDOW</a:t>
              </a:r>
            </a:p>
            <a:p>
              <a:pPr algn="ctr">
                <a:lnSpc>
                  <a:spcPct val="95000"/>
                </a:lnSpc>
              </a:pPr>
              <a:r>
                <a:rPr sz="900" dirty="0">
                  <a:solidFill>
                    <a:srgbClr val="5B6472"/>
                  </a:solidFill>
                  <a:latin typeface="Segoe UI"/>
                </a:rPr>
                <a:t>monotone arrivals · attribution · connection risk</a:t>
              </a:r>
            </a:p>
          </p:txBody>
        </p:sp>
        <p:cxnSp>
          <p:nvCxnSpPr>
            <p:cNvPr id="17479" name="Connector 54">
              <a:extLst>
                <a:ext uri="{FF2B5EF4-FFF2-40B4-BE49-F238E27FC236}">
                  <a16:creationId xmlns:a16="http://schemas.microsoft.com/office/drawing/2014/main" id="{BFB648D7-5D14-C117-5378-111247B59411}"/>
                </a:ext>
              </a:extLst>
            </p:cNvPr>
            <p:cNvCxnSpPr/>
            <p:nvPr/>
          </p:nvCxnSpPr>
          <p:spPr>
            <a:xfrm>
              <a:off x="1485900" y="5394960"/>
              <a:ext cx="0" cy="365760"/>
            </a:xfrm>
            <a:prstGeom prst="line">
              <a:avLst/>
            </a:prstGeom>
            <a:ln w="13970">
              <a:solidFill>
                <a:srgbClr val="B4530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80" name="Connector 55">
              <a:extLst>
                <a:ext uri="{FF2B5EF4-FFF2-40B4-BE49-F238E27FC236}">
                  <a16:creationId xmlns:a16="http://schemas.microsoft.com/office/drawing/2014/main" id="{842F1BB6-3137-9F4E-FA75-AE3932C582AA}"/>
                </a:ext>
              </a:extLst>
            </p:cNvPr>
            <p:cNvCxnSpPr/>
            <p:nvPr/>
          </p:nvCxnSpPr>
          <p:spPr>
            <a:xfrm>
              <a:off x="1485900" y="5760720"/>
              <a:ext cx="6185915" cy="0"/>
            </a:xfrm>
            <a:prstGeom prst="line">
              <a:avLst/>
            </a:prstGeom>
            <a:ln w="13970">
              <a:solidFill>
                <a:srgbClr val="B45309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81" name="TextBox 17480">
              <a:extLst>
                <a:ext uri="{FF2B5EF4-FFF2-40B4-BE49-F238E27FC236}">
                  <a16:creationId xmlns:a16="http://schemas.microsoft.com/office/drawing/2014/main" id="{C70F6A61-B74D-C015-2671-EFB400E78986}"/>
                </a:ext>
              </a:extLst>
            </p:cNvPr>
            <p:cNvSpPr txBox="1"/>
            <p:nvPr/>
          </p:nvSpPr>
          <p:spPr>
            <a:xfrm>
              <a:off x="1540764" y="5522976"/>
              <a:ext cx="36576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B45309"/>
                  </a:solidFill>
                  <a:latin typeface="Segoe UI"/>
                </a:rPr>
                <a:t>no</a:t>
              </a:r>
            </a:p>
          </p:txBody>
        </p:sp>
        <p:sp>
          <p:nvSpPr>
            <p:cNvPr id="17482" name="Rectangle 17481">
              <a:extLst>
                <a:ext uri="{FF2B5EF4-FFF2-40B4-BE49-F238E27FC236}">
                  <a16:creationId xmlns:a16="http://schemas.microsoft.com/office/drawing/2014/main" id="{064D5F78-D702-613F-EFED-9E5E14D5E6A1}"/>
                </a:ext>
              </a:extLst>
            </p:cNvPr>
            <p:cNvSpPr/>
            <p:nvPr/>
          </p:nvSpPr>
          <p:spPr>
            <a:xfrm>
              <a:off x="7690104" y="5559552"/>
              <a:ext cx="2377440" cy="402336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216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dirty="0">
                  <a:solidFill>
                    <a:srgbClr val="12161F"/>
                  </a:solidFill>
                  <a:latin typeface="Segoe UI"/>
                </a:rPr>
                <a:t>Re-fit the quantiles</a:t>
              </a:r>
            </a:p>
          </p:txBody>
        </p:sp>
        <p:cxnSp>
          <p:nvCxnSpPr>
            <p:cNvPr id="17483" name="Connector 58">
              <a:extLst>
                <a:ext uri="{FF2B5EF4-FFF2-40B4-BE49-F238E27FC236}">
                  <a16:creationId xmlns:a16="http://schemas.microsoft.com/office/drawing/2014/main" id="{1360FFC2-0D63-BCF2-C080-7249BE9787E1}"/>
                </a:ext>
              </a:extLst>
            </p:cNvPr>
            <p:cNvCxnSpPr/>
            <p:nvPr/>
          </p:nvCxnSpPr>
          <p:spPr>
            <a:xfrm>
              <a:off x="10085832" y="5760720"/>
              <a:ext cx="1755648" cy="0"/>
            </a:xfrm>
            <a:prstGeom prst="line">
              <a:avLst/>
            </a:prstGeom>
            <a:ln w="13970">
              <a:solidFill>
                <a:srgbClr val="B4530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84" name="Connector 59">
              <a:extLst>
                <a:ext uri="{FF2B5EF4-FFF2-40B4-BE49-F238E27FC236}">
                  <a16:creationId xmlns:a16="http://schemas.microsoft.com/office/drawing/2014/main" id="{78ACF1BE-7685-168E-C25D-110C2B6CF565}"/>
                </a:ext>
              </a:extLst>
            </p:cNvPr>
            <p:cNvCxnSpPr/>
            <p:nvPr/>
          </p:nvCxnSpPr>
          <p:spPr>
            <a:xfrm flipV="1">
              <a:off x="11841480" y="3127248"/>
              <a:ext cx="0" cy="2633472"/>
            </a:xfrm>
            <a:prstGeom prst="line">
              <a:avLst/>
            </a:prstGeom>
            <a:ln w="13970">
              <a:solidFill>
                <a:srgbClr val="B4530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85" name="Connector 60">
              <a:extLst>
                <a:ext uri="{FF2B5EF4-FFF2-40B4-BE49-F238E27FC236}">
                  <a16:creationId xmlns:a16="http://schemas.microsoft.com/office/drawing/2014/main" id="{37A1B3EB-79AF-9F79-6B7D-5B9065069491}"/>
                </a:ext>
              </a:extLst>
            </p:cNvPr>
            <p:cNvCxnSpPr/>
            <p:nvPr/>
          </p:nvCxnSpPr>
          <p:spPr>
            <a:xfrm flipH="1">
              <a:off x="2468880" y="3127248"/>
              <a:ext cx="9372600" cy="0"/>
            </a:xfrm>
            <a:prstGeom prst="line">
              <a:avLst/>
            </a:prstGeom>
            <a:ln w="13970">
              <a:solidFill>
                <a:srgbClr val="B45309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486" name="Connector 5">
            <a:extLst>
              <a:ext uri="{FF2B5EF4-FFF2-40B4-BE49-F238E27FC236}">
                <a16:creationId xmlns:a16="http://schemas.microsoft.com/office/drawing/2014/main" id="{63A9ABFB-E92A-58A8-032A-79CF74E83108}"/>
              </a:ext>
            </a:extLst>
          </p:cNvPr>
          <p:cNvCxnSpPr>
            <a:cxnSpLocks/>
          </p:cNvCxnSpPr>
          <p:nvPr/>
        </p:nvCxnSpPr>
        <p:spPr>
          <a:xfrm>
            <a:off x="534621" y="2415605"/>
            <a:ext cx="10860873" cy="0"/>
          </a:xfrm>
          <a:prstGeom prst="line">
            <a:avLst/>
          </a:prstGeom>
          <a:ln w="1143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5F4D56D-547C-C3CF-8650-767C52F9E96C}"/>
              </a:ext>
            </a:extLst>
          </p:cNvPr>
          <p:cNvSpPr txBox="1"/>
          <p:nvPr/>
        </p:nvSpPr>
        <p:spPr>
          <a:xfrm>
            <a:off x="11229419" y="654418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384" y="6602209"/>
            <a:ext cx="12191999" cy="41251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773" y="-5789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3708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0706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TypeError-4-ever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18" y="1500"/>
            <a:ext cx="2154417" cy="1017275"/>
          </a:xfrm>
          <a:prstGeom prst="rect">
            <a:avLst/>
          </a:prstGeom>
        </p:spPr>
      </p:pic>
      <p:cxnSp>
        <p:nvCxnSpPr>
          <p:cNvPr id="3" name="Connector 5">
            <a:extLst>
              <a:ext uri="{FF2B5EF4-FFF2-40B4-BE49-F238E27FC236}">
                <a16:creationId xmlns:a16="http://schemas.microsoft.com/office/drawing/2014/main" id="{6726C394-2749-602E-2AA6-FD40A88BEB80}"/>
              </a:ext>
            </a:extLst>
          </p:cNvPr>
          <p:cNvCxnSpPr/>
          <p:nvPr/>
        </p:nvCxnSpPr>
        <p:spPr>
          <a:xfrm>
            <a:off x="502920" y="984372"/>
            <a:ext cx="11185855" cy="0"/>
          </a:xfrm>
          <a:prstGeom prst="line">
            <a:avLst/>
          </a:prstGeom>
          <a:ln w="1143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BBC2BD-8617-D07D-4F0C-C87B9EA1F42F}"/>
              </a:ext>
            </a:extLst>
          </p:cNvPr>
          <p:cNvSpPr txBox="1"/>
          <p:nvPr/>
        </p:nvSpPr>
        <p:spPr>
          <a:xfrm>
            <a:off x="502920" y="1188720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Consolas"/>
              </a:rPr>
              <a:t>TECHNICAL FEASIBILITY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23EAB9-07A5-1332-B15C-79867D65A262}"/>
              </a:ext>
            </a:extLst>
          </p:cNvPr>
          <p:cNvSpPr/>
          <p:nvPr/>
        </p:nvSpPr>
        <p:spPr>
          <a:xfrm>
            <a:off x="502920" y="1481328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0ECFCA-349B-7853-26EB-92253826D7BC}"/>
              </a:ext>
            </a:extLst>
          </p:cNvPr>
          <p:cNvSpPr/>
          <p:nvPr/>
        </p:nvSpPr>
        <p:spPr>
          <a:xfrm>
            <a:off x="502920" y="1481328"/>
            <a:ext cx="32004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AD0625-C58A-B64B-C0CE-84382D61C886}"/>
              </a:ext>
            </a:extLst>
          </p:cNvPr>
          <p:cNvSpPr txBox="1"/>
          <p:nvPr/>
        </p:nvSpPr>
        <p:spPr>
          <a:xfrm>
            <a:off x="630936" y="1591056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dirty="0">
                <a:solidFill>
                  <a:srgbClr val="12161F"/>
                </a:solidFill>
                <a:latin typeface="Segoe UI"/>
              </a:rPr>
              <a:t>Every component is mature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EC637C-38FA-39E3-F704-8FEB93E2F2BA}"/>
              </a:ext>
            </a:extLst>
          </p:cNvPr>
          <p:cNvSpPr txBox="1"/>
          <p:nvPr/>
        </p:nvSpPr>
        <p:spPr>
          <a:xfrm>
            <a:off x="630936" y="1847088"/>
            <a:ext cx="3310128" cy="396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dirty="0" err="1">
                <a:solidFill>
                  <a:srgbClr val="5B6472"/>
                </a:solidFill>
                <a:latin typeface="Segoe UI"/>
              </a:rPr>
              <a:t>LightGBM</a:t>
            </a:r>
            <a:r>
              <a:rPr sz="1200" b="0" dirty="0">
                <a:solidFill>
                  <a:srgbClr val="5B6472"/>
                </a:solidFill>
                <a:latin typeface="Segoe UI"/>
              </a:rPr>
              <a:t> and conformal prediction are established open source.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DB6E78-3CAF-3E31-5EB9-D7B7B40013FB}"/>
              </a:ext>
            </a:extLst>
          </p:cNvPr>
          <p:cNvSpPr/>
          <p:nvPr/>
        </p:nvSpPr>
        <p:spPr>
          <a:xfrm>
            <a:off x="502920" y="2322576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44EBE0-81D1-1107-DD83-031B2E7F437B}"/>
              </a:ext>
            </a:extLst>
          </p:cNvPr>
          <p:cNvSpPr/>
          <p:nvPr/>
        </p:nvSpPr>
        <p:spPr>
          <a:xfrm>
            <a:off x="502920" y="2322576"/>
            <a:ext cx="32004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F13AA7-1EB3-B808-E311-08331050E17D}"/>
              </a:ext>
            </a:extLst>
          </p:cNvPr>
          <p:cNvSpPr txBox="1"/>
          <p:nvPr/>
        </p:nvSpPr>
        <p:spPr>
          <a:xfrm>
            <a:off x="630936" y="2432304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No new trackside hardware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403F7B-707D-B767-C8D7-840411A564F6}"/>
              </a:ext>
            </a:extLst>
          </p:cNvPr>
          <p:cNvSpPr txBox="1"/>
          <p:nvPr/>
        </p:nvSpPr>
        <p:spPr>
          <a:xfrm>
            <a:off x="630936" y="2688336"/>
            <a:ext cx="3310128" cy="396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dirty="0">
                <a:solidFill>
                  <a:srgbClr val="5B6472"/>
                </a:solidFill>
                <a:latin typeface="Segoe UI"/>
              </a:rPr>
              <a:t>Consumes position feeds IR already produces, via a swappable adapter.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F7807B-218A-3E4C-70A6-6791495062F6}"/>
              </a:ext>
            </a:extLst>
          </p:cNvPr>
          <p:cNvSpPr/>
          <p:nvPr/>
        </p:nvSpPr>
        <p:spPr>
          <a:xfrm>
            <a:off x="502920" y="3163824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80F553-BA50-1CF4-FD78-0C3D33C34622}"/>
              </a:ext>
            </a:extLst>
          </p:cNvPr>
          <p:cNvSpPr/>
          <p:nvPr/>
        </p:nvSpPr>
        <p:spPr>
          <a:xfrm>
            <a:off x="502920" y="3163824"/>
            <a:ext cx="32004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43B9F-7295-1B18-1979-857C7782C36F}"/>
              </a:ext>
            </a:extLst>
          </p:cNvPr>
          <p:cNvSpPr txBox="1"/>
          <p:nvPr/>
        </p:nvSpPr>
        <p:spPr>
          <a:xfrm>
            <a:off x="630936" y="3273552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Cheap at national scale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25A78-C144-BE74-F3E6-02592A98EE2F}"/>
              </a:ext>
            </a:extLst>
          </p:cNvPr>
          <p:cNvSpPr txBox="1"/>
          <p:nvPr/>
        </p:nvSpPr>
        <p:spPr>
          <a:xfrm>
            <a:off x="630936" y="3529584"/>
            <a:ext cx="3310128" cy="396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One commodity node per zone; no GPU at serving time.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CF2CB5-6338-174A-0D6E-7B22D6D949D3}"/>
              </a:ext>
            </a:extLst>
          </p:cNvPr>
          <p:cNvSpPr/>
          <p:nvPr/>
        </p:nvSpPr>
        <p:spPr>
          <a:xfrm>
            <a:off x="502920" y="4005072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9FBF75-3F44-132C-1DCD-239318E6AC17}"/>
              </a:ext>
            </a:extLst>
          </p:cNvPr>
          <p:cNvSpPr/>
          <p:nvPr/>
        </p:nvSpPr>
        <p:spPr>
          <a:xfrm>
            <a:off x="502920" y="4005072"/>
            <a:ext cx="32004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973A3F-3EE4-781A-7A31-13887936E729}"/>
              </a:ext>
            </a:extLst>
          </p:cNvPr>
          <p:cNvSpPr txBox="1"/>
          <p:nvPr/>
        </p:nvSpPr>
        <p:spPr>
          <a:xfrm>
            <a:off x="630936" y="4114800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The simulator is its own fallback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32CB25-4D6A-C1A0-9BC1-5B5390E134E0}"/>
              </a:ext>
            </a:extLst>
          </p:cNvPr>
          <p:cNvSpPr txBox="1"/>
          <p:nvPr/>
        </p:nvSpPr>
        <p:spPr>
          <a:xfrm>
            <a:off x="630936" y="4370832"/>
            <a:ext cx="3310128" cy="396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With the learned layer off, rules still beat carry-forward past 3 hours.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235824-C389-682E-D450-57FDB210CA80}"/>
              </a:ext>
            </a:extLst>
          </p:cNvPr>
          <p:cNvSpPr/>
          <p:nvPr/>
        </p:nvSpPr>
        <p:spPr>
          <a:xfrm>
            <a:off x="502920" y="4846320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AC5FB5-AD48-DC20-E7E1-BA4E85385FB0}"/>
              </a:ext>
            </a:extLst>
          </p:cNvPr>
          <p:cNvSpPr/>
          <p:nvPr/>
        </p:nvSpPr>
        <p:spPr>
          <a:xfrm>
            <a:off x="502920" y="4846320"/>
            <a:ext cx="32004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5D12C3-A387-C52F-FF72-E7B9CF704A63}"/>
              </a:ext>
            </a:extLst>
          </p:cNvPr>
          <p:cNvSpPr txBox="1"/>
          <p:nvPr/>
        </p:nvSpPr>
        <p:spPr>
          <a:xfrm>
            <a:off x="630936" y="4956048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Validated against live running 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EF2B6D-590D-EA7C-1BA4-A3F83DC88ABE}"/>
              </a:ext>
            </a:extLst>
          </p:cNvPr>
          <p:cNvSpPr txBox="1"/>
          <p:nvPr/>
        </p:nvSpPr>
        <p:spPr>
          <a:xfrm>
            <a:off x="630936" y="5212080"/>
            <a:ext cx="3310128" cy="189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499 real arrivals collected from a live feed, compared station by station.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0FBFE7-292A-E831-2F4F-930ADFBCF04D}"/>
              </a:ext>
            </a:extLst>
          </p:cNvPr>
          <p:cNvSpPr txBox="1"/>
          <p:nvPr/>
        </p:nvSpPr>
        <p:spPr>
          <a:xfrm>
            <a:off x="4315968" y="1188720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B45309"/>
                </a:solidFill>
                <a:latin typeface="Consolas"/>
              </a:rPr>
              <a:t>HOW WE PROVE IT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7FFD47-659C-9DA7-0ED9-AD98CE6AE973}"/>
              </a:ext>
            </a:extLst>
          </p:cNvPr>
          <p:cNvSpPr/>
          <p:nvPr/>
        </p:nvSpPr>
        <p:spPr>
          <a:xfrm>
            <a:off x="4315968" y="1481328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392886-352D-B887-F47C-B599CE6E5299}"/>
              </a:ext>
            </a:extLst>
          </p:cNvPr>
          <p:cNvSpPr/>
          <p:nvPr/>
        </p:nvSpPr>
        <p:spPr>
          <a:xfrm>
            <a:off x="4315968" y="1481328"/>
            <a:ext cx="32004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69B0D7-2693-CE38-6EA4-E122C9AB37A3}"/>
              </a:ext>
            </a:extLst>
          </p:cNvPr>
          <p:cNvSpPr txBox="1"/>
          <p:nvPr/>
        </p:nvSpPr>
        <p:spPr>
          <a:xfrm>
            <a:off x="4443983" y="1591056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1  Baseline stated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E056A7-42D6-803C-277E-A73FF2EDDB78}"/>
              </a:ext>
            </a:extLst>
          </p:cNvPr>
          <p:cNvSpPr txBox="1"/>
          <p:nvPr/>
        </p:nvSpPr>
        <p:spPr>
          <a:xfrm>
            <a:off x="4443983" y="1807332"/>
            <a:ext cx="3310128" cy="396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dirty="0">
                <a:solidFill>
                  <a:srgbClr val="5B6472"/>
                </a:solidFill>
                <a:latin typeface="Segoe UI"/>
              </a:rPr>
              <a:t>Current delay carried forward, on exactly the same rows.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CCE351-EC25-F11B-BA8B-D2E5F8669346}"/>
              </a:ext>
            </a:extLst>
          </p:cNvPr>
          <p:cNvSpPr/>
          <p:nvPr/>
        </p:nvSpPr>
        <p:spPr>
          <a:xfrm>
            <a:off x="4315968" y="2322576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CCB52D-B59C-252F-4742-467FA6278562}"/>
              </a:ext>
            </a:extLst>
          </p:cNvPr>
          <p:cNvSpPr/>
          <p:nvPr/>
        </p:nvSpPr>
        <p:spPr>
          <a:xfrm>
            <a:off x="4315968" y="2322576"/>
            <a:ext cx="32004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EA21AE-DBA2-D616-40CE-9018B2924DF1}"/>
              </a:ext>
            </a:extLst>
          </p:cNvPr>
          <p:cNvSpPr txBox="1"/>
          <p:nvPr/>
        </p:nvSpPr>
        <p:spPr>
          <a:xfrm>
            <a:off x="4443983" y="2432304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2  Temporal holdout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A81625-2FAF-470E-E466-8F63EE25B978}"/>
              </a:ext>
            </a:extLst>
          </p:cNvPr>
          <p:cNvSpPr txBox="1"/>
          <p:nvPr/>
        </p:nvSpPr>
        <p:spPr>
          <a:xfrm>
            <a:off x="4443983" y="2658519"/>
            <a:ext cx="3310128" cy="396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Train on earlier months, test on later. A random split leaks.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A1A1EE2-BA17-5909-7180-F40092A43C7D}"/>
              </a:ext>
            </a:extLst>
          </p:cNvPr>
          <p:cNvSpPr/>
          <p:nvPr/>
        </p:nvSpPr>
        <p:spPr>
          <a:xfrm>
            <a:off x="4315968" y="3163824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60A57E-3979-9BCC-D8CD-AF26E71E0D6D}"/>
              </a:ext>
            </a:extLst>
          </p:cNvPr>
          <p:cNvSpPr/>
          <p:nvPr/>
        </p:nvSpPr>
        <p:spPr>
          <a:xfrm>
            <a:off x="4315968" y="3163824"/>
            <a:ext cx="32004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4EB97E-9BBC-CBC6-83FA-F034D40109F4}"/>
              </a:ext>
            </a:extLst>
          </p:cNvPr>
          <p:cNvSpPr txBox="1"/>
          <p:nvPr/>
        </p:nvSpPr>
        <p:spPr>
          <a:xfrm>
            <a:off x="4443983" y="3273552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3  Error by horizon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BA34BC-E404-7725-64B0-480AC7959F90}"/>
              </a:ext>
            </a:extLst>
          </p:cNvPr>
          <p:cNvSpPr txBox="1"/>
          <p:nvPr/>
        </p:nvSpPr>
        <p:spPr>
          <a:xfrm>
            <a:off x="4443983" y="3529584"/>
            <a:ext cx="3310128" cy="189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Next station, 1-3 h, 3-8 h, 8-24 h, beyond 24 h.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F051785-51E8-3F44-3AE7-CE11F8C98AEB}"/>
              </a:ext>
            </a:extLst>
          </p:cNvPr>
          <p:cNvSpPr/>
          <p:nvPr/>
        </p:nvSpPr>
        <p:spPr>
          <a:xfrm>
            <a:off x="4315968" y="4005072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81B8D5-D594-B545-6887-6DF703594494}"/>
              </a:ext>
            </a:extLst>
          </p:cNvPr>
          <p:cNvSpPr/>
          <p:nvPr/>
        </p:nvSpPr>
        <p:spPr>
          <a:xfrm>
            <a:off x="4315968" y="4005072"/>
            <a:ext cx="32004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F3091D-0F12-43B0-17EA-2DF00C987FD0}"/>
              </a:ext>
            </a:extLst>
          </p:cNvPr>
          <p:cNvSpPr txBox="1"/>
          <p:nvPr/>
        </p:nvSpPr>
        <p:spPr>
          <a:xfrm>
            <a:off x="4443983" y="4114800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4  Coverage audited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C3D9C9-9F3C-F61B-E9CC-933D6D581718}"/>
              </a:ext>
            </a:extLst>
          </p:cNvPr>
          <p:cNvSpPr txBox="1"/>
          <p:nvPr/>
        </p:nvSpPr>
        <p:spPr>
          <a:xfrm>
            <a:off x="4443983" y="4331076"/>
            <a:ext cx="3310128" cy="396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Against nominal 80%, by segment, horizon and time of day.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013528A-B689-B390-6415-8B8B48A3EA23}"/>
              </a:ext>
            </a:extLst>
          </p:cNvPr>
          <p:cNvSpPr/>
          <p:nvPr/>
        </p:nvSpPr>
        <p:spPr>
          <a:xfrm>
            <a:off x="4315968" y="4846320"/>
            <a:ext cx="356616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8465887-120A-4387-4FC3-43A48ABB561F}"/>
              </a:ext>
            </a:extLst>
          </p:cNvPr>
          <p:cNvSpPr/>
          <p:nvPr/>
        </p:nvSpPr>
        <p:spPr>
          <a:xfrm>
            <a:off x="4315968" y="4846320"/>
            <a:ext cx="32004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C8B68F-1228-2959-D5BA-046ADC2DBB61}"/>
              </a:ext>
            </a:extLst>
          </p:cNvPr>
          <p:cNvSpPr txBox="1"/>
          <p:nvPr/>
        </p:nvSpPr>
        <p:spPr>
          <a:xfrm>
            <a:off x="4443983" y="4956048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5  Shadow mode — planned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7FC7A2-99B0-52CC-8589-20CE7086B216}"/>
              </a:ext>
            </a:extLst>
          </p:cNvPr>
          <p:cNvSpPr txBox="1"/>
          <p:nvPr/>
        </p:nvSpPr>
        <p:spPr>
          <a:xfrm>
            <a:off x="4443983" y="5172324"/>
            <a:ext cx="3310128" cy="396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Run live beside the existing ETA before a passenger sees it.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82D56EF-0F70-DB6D-9DE4-3B7FD798C05B}"/>
              </a:ext>
            </a:extLst>
          </p:cNvPr>
          <p:cNvSpPr txBox="1"/>
          <p:nvPr/>
        </p:nvSpPr>
        <p:spPr>
          <a:xfrm>
            <a:off x="8119872" y="1188720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B91C1C"/>
                </a:solidFill>
                <a:latin typeface="Consolas"/>
              </a:rPr>
              <a:t>RISKS AND HOW WE RETIRE THEM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52D54C6-4FF6-0156-D83E-33EEFC868ADC}"/>
              </a:ext>
            </a:extLst>
          </p:cNvPr>
          <p:cNvSpPr/>
          <p:nvPr/>
        </p:nvSpPr>
        <p:spPr>
          <a:xfrm>
            <a:off x="8119872" y="1481328"/>
            <a:ext cx="3566160" cy="731520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2CDC24-A549-C1FE-449E-2078B2A2E11D}"/>
              </a:ext>
            </a:extLst>
          </p:cNvPr>
          <p:cNvSpPr/>
          <p:nvPr/>
        </p:nvSpPr>
        <p:spPr>
          <a:xfrm>
            <a:off x="8119872" y="1481328"/>
            <a:ext cx="32004" cy="7315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4D139A-25DF-2DCE-9DF9-9FFACB2AC9D8}"/>
              </a:ext>
            </a:extLst>
          </p:cNvPr>
          <p:cNvSpPr txBox="1"/>
          <p:nvPr/>
        </p:nvSpPr>
        <p:spPr>
          <a:xfrm>
            <a:off x="8247888" y="1591056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Delay model not yet fitted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4DA0F5-556F-42C6-C10C-1BEF4B2B7347}"/>
              </a:ext>
            </a:extLst>
          </p:cNvPr>
          <p:cNvSpPr txBox="1"/>
          <p:nvPr/>
        </p:nvSpPr>
        <p:spPr>
          <a:xfrm>
            <a:off x="8247888" y="1807332"/>
            <a:ext cx="3310128" cy="396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Validated on 499 live arrivals: the tail is too heavy. Refit as data accumulates.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921B61F-5A1E-13EA-A7B5-F1B9DFCE8CA2}"/>
              </a:ext>
            </a:extLst>
          </p:cNvPr>
          <p:cNvSpPr/>
          <p:nvPr/>
        </p:nvSpPr>
        <p:spPr>
          <a:xfrm>
            <a:off x="8119872" y="2322576"/>
            <a:ext cx="3566160" cy="731520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5B2C3E5-5C2D-DEFA-6FC0-C8B6FF2662D6}"/>
              </a:ext>
            </a:extLst>
          </p:cNvPr>
          <p:cNvSpPr/>
          <p:nvPr/>
        </p:nvSpPr>
        <p:spPr>
          <a:xfrm>
            <a:off x="8119872" y="2322576"/>
            <a:ext cx="32004" cy="7315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5E7BF5-B747-2A69-1199-CD9DEBBF328F}"/>
              </a:ext>
            </a:extLst>
          </p:cNvPr>
          <p:cNvSpPr txBox="1"/>
          <p:nvPr/>
        </p:nvSpPr>
        <p:spPr>
          <a:xfrm>
            <a:off x="8247888" y="2432304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Error compounds over a 40-hour run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58B804-68F4-7C47-4875-7B7845F772B8}"/>
              </a:ext>
            </a:extLst>
          </p:cNvPr>
          <p:cNvSpPr txBox="1"/>
          <p:nvPr/>
        </p:nvSpPr>
        <p:spPr>
          <a:xfrm>
            <a:off x="8247888" y="2688336"/>
            <a:ext cx="3310128" cy="189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Direct multi-horizon residual - never chained.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91DAEE5-FE7B-FF16-9949-9B9E8931A895}"/>
              </a:ext>
            </a:extLst>
          </p:cNvPr>
          <p:cNvSpPr/>
          <p:nvPr/>
        </p:nvSpPr>
        <p:spPr>
          <a:xfrm>
            <a:off x="8119872" y="3163824"/>
            <a:ext cx="3566160" cy="731520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D65C739-E885-EDAE-FBD2-B52D142BD5A7}"/>
              </a:ext>
            </a:extLst>
          </p:cNvPr>
          <p:cNvSpPr/>
          <p:nvPr/>
        </p:nvSpPr>
        <p:spPr>
          <a:xfrm>
            <a:off x="8119872" y="3163824"/>
            <a:ext cx="32004" cy="7315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E85680-E8E5-C805-8275-5B5669521677}"/>
              </a:ext>
            </a:extLst>
          </p:cNvPr>
          <p:cNvSpPr txBox="1"/>
          <p:nvPr/>
        </p:nvSpPr>
        <p:spPr>
          <a:xfrm>
            <a:off x="8247888" y="3273552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Coverage fails in the monsoon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78DE7C-428A-4E03-6A27-F64CA762E404}"/>
              </a:ext>
            </a:extLst>
          </p:cNvPr>
          <p:cNvSpPr txBox="1"/>
          <p:nvPr/>
        </p:nvSpPr>
        <p:spPr>
          <a:xfrm>
            <a:off x="8247888" y="3489828"/>
            <a:ext cx="3310128" cy="396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Mondrian calibration by segment and season, alarmed not assumed.</a:t>
            </a:r>
          </a:p>
        </p:txBody>
      </p:sp>
      <p:sp>
        <p:nvSpPr>
          <p:cNvPr id="17408" name="Rectangle 17407">
            <a:extLst>
              <a:ext uri="{FF2B5EF4-FFF2-40B4-BE49-F238E27FC236}">
                <a16:creationId xmlns:a16="http://schemas.microsoft.com/office/drawing/2014/main" id="{E1E08807-B2E9-F2C3-7604-C2419FF6B0E5}"/>
              </a:ext>
            </a:extLst>
          </p:cNvPr>
          <p:cNvSpPr/>
          <p:nvPr/>
        </p:nvSpPr>
        <p:spPr>
          <a:xfrm>
            <a:off x="8119872" y="4005072"/>
            <a:ext cx="3566160" cy="731520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17411" name="Rectangle 17410">
            <a:extLst>
              <a:ext uri="{FF2B5EF4-FFF2-40B4-BE49-F238E27FC236}">
                <a16:creationId xmlns:a16="http://schemas.microsoft.com/office/drawing/2014/main" id="{069FB835-6D5A-1750-8862-799D8851E3FE}"/>
              </a:ext>
            </a:extLst>
          </p:cNvPr>
          <p:cNvSpPr/>
          <p:nvPr/>
        </p:nvSpPr>
        <p:spPr>
          <a:xfrm>
            <a:off x="8119872" y="4005072"/>
            <a:ext cx="32004" cy="7315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275276B8-B492-1E54-9A40-C79CEAC190BF}"/>
              </a:ext>
            </a:extLst>
          </p:cNvPr>
          <p:cNvSpPr txBox="1"/>
          <p:nvPr/>
        </p:nvSpPr>
        <p:spPr>
          <a:xfrm>
            <a:off x="8247888" y="4114800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Controllers distrust a black box</a:t>
            </a:r>
          </a:p>
        </p:txBody>
      </p:sp>
      <p:sp>
        <p:nvSpPr>
          <p:cNvPr id="17413" name="TextBox 17412">
            <a:extLst>
              <a:ext uri="{FF2B5EF4-FFF2-40B4-BE49-F238E27FC236}">
                <a16:creationId xmlns:a16="http://schemas.microsoft.com/office/drawing/2014/main" id="{1EBC6B29-004C-03D7-E20B-9B1D487E85F7}"/>
              </a:ext>
            </a:extLst>
          </p:cNvPr>
          <p:cNvSpPr txBox="1"/>
          <p:nvPr/>
        </p:nvSpPr>
        <p:spPr>
          <a:xfrm>
            <a:off x="8247888" y="4331076"/>
            <a:ext cx="3310128" cy="396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Per-section attribution; advisory only, never a movement order.</a:t>
            </a:r>
          </a:p>
        </p:txBody>
      </p:sp>
      <p:sp>
        <p:nvSpPr>
          <p:cNvPr id="17414" name="Rectangle 17413">
            <a:extLst>
              <a:ext uri="{FF2B5EF4-FFF2-40B4-BE49-F238E27FC236}">
                <a16:creationId xmlns:a16="http://schemas.microsoft.com/office/drawing/2014/main" id="{A9CF6F39-F916-AE07-F145-8DDC5E5F5EF5}"/>
              </a:ext>
            </a:extLst>
          </p:cNvPr>
          <p:cNvSpPr/>
          <p:nvPr/>
        </p:nvSpPr>
        <p:spPr>
          <a:xfrm>
            <a:off x="8119872" y="4846320"/>
            <a:ext cx="3566160" cy="731520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17415" name="Rectangle 17414">
            <a:extLst>
              <a:ext uri="{FF2B5EF4-FFF2-40B4-BE49-F238E27FC236}">
                <a16:creationId xmlns:a16="http://schemas.microsoft.com/office/drawing/2014/main" id="{E815C3F8-10BE-0765-7632-5DFD005F4B8D}"/>
              </a:ext>
            </a:extLst>
          </p:cNvPr>
          <p:cNvSpPr/>
          <p:nvPr/>
        </p:nvSpPr>
        <p:spPr>
          <a:xfrm>
            <a:off x="8119872" y="4846320"/>
            <a:ext cx="32004" cy="7315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800"/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3FD57BA6-0051-CFBA-ED84-9585B6DAF592}"/>
              </a:ext>
            </a:extLst>
          </p:cNvPr>
          <p:cNvSpPr txBox="1"/>
          <p:nvPr/>
        </p:nvSpPr>
        <p:spPr>
          <a:xfrm>
            <a:off x="8247888" y="4956048"/>
            <a:ext cx="331012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No public archive of past arrivals</a:t>
            </a:r>
          </a:p>
        </p:txBody>
      </p:sp>
      <p:sp>
        <p:nvSpPr>
          <p:cNvPr id="17417" name="TextBox 17416">
            <a:extLst>
              <a:ext uri="{FF2B5EF4-FFF2-40B4-BE49-F238E27FC236}">
                <a16:creationId xmlns:a16="http://schemas.microsoft.com/office/drawing/2014/main" id="{D4BD0099-C8B5-4275-07A7-4956B1F8C429}"/>
              </a:ext>
            </a:extLst>
          </p:cNvPr>
          <p:cNvSpPr txBox="1"/>
          <p:nvPr/>
        </p:nvSpPr>
        <p:spPr>
          <a:xfrm>
            <a:off x="8247888" y="5172324"/>
            <a:ext cx="3310128" cy="396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None exists, so history is accumulated by polling a live feed — already collecting.</a:t>
            </a:r>
          </a:p>
        </p:txBody>
      </p:sp>
      <p:sp>
        <p:nvSpPr>
          <p:cNvPr id="17418" name="TextBox 17417">
            <a:extLst>
              <a:ext uri="{FF2B5EF4-FFF2-40B4-BE49-F238E27FC236}">
                <a16:creationId xmlns:a16="http://schemas.microsoft.com/office/drawing/2014/main" id="{C1CC87BB-C5EA-C550-1463-38ABA958509E}"/>
              </a:ext>
            </a:extLst>
          </p:cNvPr>
          <p:cNvSpPr txBox="1"/>
          <p:nvPr/>
        </p:nvSpPr>
        <p:spPr>
          <a:xfrm>
            <a:off x="502920" y="5659740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B45309"/>
                </a:solidFill>
                <a:latin typeface="Consolas"/>
              </a:rPr>
              <a:t>IMPLEMENTATION ROADMAP</a:t>
            </a:r>
          </a:p>
        </p:txBody>
      </p:sp>
      <p:sp>
        <p:nvSpPr>
          <p:cNvPr id="17419" name="Rectangle 17418">
            <a:extLst>
              <a:ext uri="{FF2B5EF4-FFF2-40B4-BE49-F238E27FC236}">
                <a16:creationId xmlns:a16="http://schemas.microsoft.com/office/drawing/2014/main" id="{23915F34-9CF0-9F3C-6B0C-5B86972A86C0}"/>
              </a:ext>
            </a:extLst>
          </p:cNvPr>
          <p:cNvSpPr/>
          <p:nvPr/>
        </p:nvSpPr>
        <p:spPr>
          <a:xfrm>
            <a:off x="502920" y="5915771"/>
            <a:ext cx="1737360" cy="583731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17420" name="TextBox 17419">
            <a:extLst>
              <a:ext uri="{FF2B5EF4-FFF2-40B4-BE49-F238E27FC236}">
                <a16:creationId xmlns:a16="http://schemas.microsoft.com/office/drawing/2014/main" id="{7E7A462C-533C-7DFF-B5EF-FF0B27FCD8EB}"/>
              </a:ext>
            </a:extLst>
          </p:cNvPr>
          <p:cNvSpPr txBox="1"/>
          <p:nvPr/>
        </p:nvSpPr>
        <p:spPr>
          <a:xfrm>
            <a:off x="594360" y="5970636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45309"/>
                </a:solidFill>
                <a:latin typeface="Consolas"/>
              </a:rPr>
              <a:t>01</a:t>
            </a:r>
          </a:p>
        </p:txBody>
      </p:sp>
      <p:sp>
        <p:nvSpPr>
          <p:cNvPr id="17421" name="TextBox 17420">
            <a:extLst>
              <a:ext uri="{FF2B5EF4-FFF2-40B4-BE49-F238E27FC236}">
                <a16:creationId xmlns:a16="http://schemas.microsoft.com/office/drawing/2014/main" id="{6D817384-E4F6-28FF-6079-CAF2F64EDF2D}"/>
              </a:ext>
            </a:extLst>
          </p:cNvPr>
          <p:cNvSpPr txBox="1"/>
          <p:nvPr/>
        </p:nvSpPr>
        <p:spPr>
          <a:xfrm>
            <a:off x="594360" y="6135228"/>
            <a:ext cx="1554480" cy="342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dirty="0">
                <a:solidFill>
                  <a:srgbClr val="12161F"/>
                </a:solidFill>
                <a:latin typeface="Segoe UI"/>
              </a:rPr>
              <a:t>Build the block-section graph</a:t>
            </a:r>
          </a:p>
        </p:txBody>
      </p:sp>
      <p:cxnSp>
        <p:nvCxnSpPr>
          <p:cNvPr id="17422" name="Connector 73">
            <a:extLst>
              <a:ext uri="{FF2B5EF4-FFF2-40B4-BE49-F238E27FC236}">
                <a16:creationId xmlns:a16="http://schemas.microsoft.com/office/drawing/2014/main" id="{48BC5214-D53B-4AE0-9D6E-4C299B505F68}"/>
              </a:ext>
            </a:extLst>
          </p:cNvPr>
          <p:cNvCxnSpPr/>
          <p:nvPr/>
        </p:nvCxnSpPr>
        <p:spPr>
          <a:xfrm>
            <a:off x="2240280" y="6162660"/>
            <a:ext cx="100584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ectangle 17422">
            <a:extLst>
              <a:ext uri="{FF2B5EF4-FFF2-40B4-BE49-F238E27FC236}">
                <a16:creationId xmlns:a16="http://schemas.microsoft.com/office/drawing/2014/main" id="{A2DD564C-1A6F-A1CC-79AC-928CFF402355}"/>
              </a:ext>
            </a:extLst>
          </p:cNvPr>
          <p:cNvSpPr/>
          <p:nvPr/>
        </p:nvSpPr>
        <p:spPr>
          <a:xfrm>
            <a:off x="2359152" y="5915771"/>
            <a:ext cx="1737360" cy="583731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17424" name="TextBox 17423">
            <a:extLst>
              <a:ext uri="{FF2B5EF4-FFF2-40B4-BE49-F238E27FC236}">
                <a16:creationId xmlns:a16="http://schemas.microsoft.com/office/drawing/2014/main" id="{D0E46FF3-5430-7CC0-A03B-711C03B486A4}"/>
              </a:ext>
            </a:extLst>
          </p:cNvPr>
          <p:cNvSpPr txBox="1"/>
          <p:nvPr/>
        </p:nvSpPr>
        <p:spPr>
          <a:xfrm>
            <a:off x="2450592" y="5970636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45309"/>
                </a:solidFill>
                <a:latin typeface="Consolas"/>
              </a:rPr>
              <a:t>02</a:t>
            </a:r>
          </a:p>
        </p:txBody>
      </p:sp>
      <p:sp>
        <p:nvSpPr>
          <p:cNvPr id="17425" name="TextBox 17424">
            <a:extLst>
              <a:ext uri="{FF2B5EF4-FFF2-40B4-BE49-F238E27FC236}">
                <a16:creationId xmlns:a16="http://schemas.microsoft.com/office/drawing/2014/main" id="{6C4F65F7-46E0-1AAF-AA51-BD0F6A4245FE}"/>
              </a:ext>
            </a:extLst>
          </p:cNvPr>
          <p:cNvSpPr txBox="1"/>
          <p:nvPr/>
        </p:nvSpPr>
        <p:spPr>
          <a:xfrm>
            <a:off x="2450592" y="6135228"/>
            <a:ext cx="1554480" cy="165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2161F"/>
                </a:solidFill>
                <a:latin typeface="Segoe UI"/>
              </a:rPr>
              <a:t>Calibrate the simulator</a:t>
            </a:r>
          </a:p>
        </p:txBody>
      </p:sp>
      <p:cxnSp>
        <p:nvCxnSpPr>
          <p:cNvPr id="17426" name="Connector 77">
            <a:extLst>
              <a:ext uri="{FF2B5EF4-FFF2-40B4-BE49-F238E27FC236}">
                <a16:creationId xmlns:a16="http://schemas.microsoft.com/office/drawing/2014/main" id="{0326D9D9-FC9A-1911-0019-2069140B2CE3}"/>
              </a:ext>
            </a:extLst>
          </p:cNvPr>
          <p:cNvCxnSpPr/>
          <p:nvPr/>
        </p:nvCxnSpPr>
        <p:spPr>
          <a:xfrm>
            <a:off x="4096512" y="6162660"/>
            <a:ext cx="100584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ectangle 17426">
            <a:extLst>
              <a:ext uri="{FF2B5EF4-FFF2-40B4-BE49-F238E27FC236}">
                <a16:creationId xmlns:a16="http://schemas.microsoft.com/office/drawing/2014/main" id="{41D4548B-EE9A-3AD0-EB57-3E628F2D3171}"/>
              </a:ext>
            </a:extLst>
          </p:cNvPr>
          <p:cNvSpPr/>
          <p:nvPr/>
        </p:nvSpPr>
        <p:spPr>
          <a:xfrm>
            <a:off x="4215383" y="5915771"/>
            <a:ext cx="1737360" cy="583731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17428" name="TextBox 17427">
            <a:extLst>
              <a:ext uri="{FF2B5EF4-FFF2-40B4-BE49-F238E27FC236}">
                <a16:creationId xmlns:a16="http://schemas.microsoft.com/office/drawing/2014/main" id="{3A77B4DF-6C90-604D-5DB8-85922B06410A}"/>
              </a:ext>
            </a:extLst>
          </p:cNvPr>
          <p:cNvSpPr txBox="1"/>
          <p:nvPr/>
        </p:nvSpPr>
        <p:spPr>
          <a:xfrm>
            <a:off x="4306823" y="5970636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45309"/>
                </a:solidFill>
                <a:latin typeface="Consolas"/>
              </a:rPr>
              <a:t>03</a:t>
            </a:r>
          </a:p>
        </p:txBody>
      </p:sp>
      <p:sp>
        <p:nvSpPr>
          <p:cNvPr id="17429" name="TextBox 17428">
            <a:extLst>
              <a:ext uri="{FF2B5EF4-FFF2-40B4-BE49-F238E27FC236}">
                <a16:creationId xmlns:a16="http://schemas.microsoft.com/office/drawing/2014/main" id="{30E05FBF-6ADC-25F2-35FC-A8232CAE9574}"/>
              </a:ext>
            </a:extLst>
          </p:cNvPr>
          <p:cNvSpPr txBox="1"/>
          <p:nvPr/>
        </p:nvSpPr>
        <p:spPr>
          <a:xfrm>
            <a:off x="4306822" y="6135228"/>
            <a:ext cx="1645921" cy="165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dirty="0">
                <a:solidFill>
                  <a:srgbClr val="12161F"/>
                </a:solidFill>
                <a:latin typeface="Segoe UI"/>
              </a:rPr>
              <a:t>Train free-run and residual</a:t>
            </a:r>
          </a:p>
        </p:txBody>
      </p:sp>
      <p:cxnSp>
        <p:nvCxnSpPr>
          <p:cNvPr id="17430" name="Connector 81">
            <a:extLst>
              <a:ext uri="{FF2B5EF4-FFF2-40B4-BE49-F238E27FC236}">
                <a16:creationId xmlns:a16="http://schemas.microsoft.com/office/drawing/2014/main" id="{8145412D-84C8-945B-FB6E-59636B31F5A8}"/>
              </a:ext>
            </a:extLst>
          </p:cNvPr>
          <p:cNvCxnSpPr/>
          <p:nvPr/>
        </p:nvCxnSpPr>
        <p:spPr>
          <a:xfrm>
            <a:off x="5952744" y="6162660"/>
            <a:ext cx="100584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ectangle 17430">
            <a:extLst>
              <a:ext uri="{FF2B5EF4-FFF2-40B4-BE49-F238E27FC236}">
                <a16:creationId xmlns:a16="http://schemas.microsoft.com/office/drawing/2014/main" id="{E36D37CA-7877-6DA8-1A08-71EA1DD6CB9B}"/>
              </a:ext>
            </a:extLst>
          </p:cNvPr>
          <p:cNvSpPr/>
          <p:nvPr/>
        </p:nvSpPr>
        <p:spPr>
          <a:xfrm>
            <a:off x="6071616" y="5915771"/>
            <a:ext cx="1737360" cy="583731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17432" name="TextBox 17431">
            <a:extLst>
              <a:ext uri="{FF2B5EF4-FFF2-40B4-BE49-F238E27FC236}">
                <a16:creationId xmlns:a16="http://schemas.microsoft.com/office/drawing/2014/main" id="{1D06A80F-88E8-601E-E626-0F245859BAA5}"/>
              </a:ext>
            </a:extLst>
          </p:cNvPr>
          <p:cNvSpPr txBox="1"/>
          <p:nvPr/>
        </p:nvSpPr>
        <p:spPr>
          <a:xfrm>
            <a:off x="6163055" y="5970636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45309"/>
                </a:solidFill>
                <a:latin typeface="Consolas"/>
              </a:rPr>
              <a:t>04</a:t>
            </a:r>
          </a:p>
        </p:txBody>
      </p:sp>
      <p:sp>
        <p:nvSpPr>
          <p:cNvPr id="17433" name="TextBox 17432">
            <a:extLst>
              <a:ext uri="{FF2B5EF4-FFF2-40B4-BE49-F238E27FC236}">
                <a16:creationId xmlns:a16="http://schemas.microsoft.com/office/drawing/2014/main" id="{3DCAAF00-F30A-3976-D8D8-1125AFAC5ADF}"/>
              </a:ext>
            </a:extLst>
          </p:cNvPr>
          <p:cNvSpPr txBox="1"/>
          <p:nvPr/>
        </p:nvSpPr>
        <p:spPr>
          <a:xfrm>
            <a:off x="6163055" y="6135228"/>
            <a:ext cx="1554480" cy="342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2161F"/>
                </a:solidFill>
                <a:latin typeface="Segoe UI"/>
              </a:rPr>
              <a:t>Add conformal calibration</a:t>
            </a:r>
          </a:p>
        </p:txBody>
      </p:sp>
      <p:cxnSp>
        <p:nvCxnSpPr>
          <p:cNvPr id="17434" name="Connector 85">
            <a:extLst>
              <a:ext uri="{FF2B5EF4-FFF2-40B4-BE49-F238E27FC236}">
                <a16:creationId xmlns:a16="http://schemas.microsoft.com/office/drawing/2014/main" id="{79985228-CE49-8A0A-8A32-D8D0439C0DA6}"/>
              </a:ext>
            </a:extLst>
          </p:cNvPr>
          <p:cNvCxnSpPr/>
          <p:nvPr/>
        </p:nvCxnSpPr>
        <p:spPr>
          <a:xfrm>
            <a:off x="7808975" y="6162660"/>
            <a:ext cx="100584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ectangle 17434">
            <a:extLst>
              <a:ext uri="{FF2B5EF4-FFF2-40B4-BE49-F238E27FC236}">
                <a16:creationId xmlns:a16="http://schemas.microsoft.com/office/drawing/2014/main" id="{5E05E980-4F9C-5D07-D899-7280888F62F1}"/>
              </a:ext>
            </a:extLst>
          </p:cNvPr>
          <p:cNvSpPr/>
          <p:nvPr/>
        </p:nvSpPr>
        <p:spPr>
          <a:xfrm>
            <a:off x="7927848" y="5915771"/>
            <a:ext cx="1737360" cy="583731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17436" name="TextBox 17435">
            <a:extLst>
              <a:ext uri="{FF2B5EF4-FFF2-40B4-BE49-F238E27FC236}">
                <a16:creationId xmlns:a16="http://schemas.microsoft.com/office/drawing/2014/main" id="{26C1A7E7-F42A-F3F2-03B5-5FC2D79168AC}"/>
              </a:ext>
            </a:extLst>
          </p:cNvPr>
          <p:cNvSpPr txBox="1"/>
          <p:nvPr/>
        </p:nvSpPr>
        <p:spPr>
          <a:xfrm>
            <a:off x="8019288" y="5970636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45309"/>
                </a:solidFill>
                <a:latin typeface="Consolas"/>
              </a:rPr>
              <a:t>05</a:t>
            </a:r>
          </a:p>
        </p:txBody>
      </p:sp>
      <p:sp>
        <p:nvSpPr>
          <p:cNvPr id="17437" name="TextBox 17436">
            <a:extLst>
              <a:ext uri="{FF2B5EF4-FFF2-40B4-BE49-F238E27FC236}">
                <a16:creationId xmlns:a16="http://schemas.microsoft.com/office/drawing/2014/main" id="{422E6060-1154-4611-951F-240D231DB08A}"/>
              </a:ext>
            </a:extLst>
          </p:cNvPr>
          <p:cNvSpPr txBox="1"/>
          <p:nvPr/>
        </p:nvSpPr>
        <p:spPr>
          <a:xfrm>
            <a:off x="8019288" y="6135228"/>
            <a:ext cx="1554480" cy="165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2161F"/>
                </a:solidFill>
                <a:latin typeface="Segoe UI"/>
              </a:rPr>
              <a:t>Ship the decision layer</a:t>
            </a:r>
          </a:p>
        </p:txBody>
      </p:sp>
      <p:cxnSp>
        <p:nvCxnSpPr>
          <p:cNvPr id="17438" name="Connector 89">
            <a:extLst>
              <a:ext uri="{FF2B5EF4-FFF2-40B4-BE49-F238E27FC236}">
                <a16:creationId xmlns:a16="http://schemas.microsoft.com/office/drawing/2014/main" id="{DD6A262E-889C-F4E1-587D-B14572A64395}"/>
              </a:ext>
            </a:extLst>
          </p:cNvPr>
          <p:cNvCxnSpPr/>
          <p:nvPr/>
        </p:nvCxnSpPr>
        <p:spPr>
          <a:xfrm>
            <a:off x="9665208" y="6162660"/>
            <a:ext cx="100584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ectangle 17438">
            <a:extLst>
              <a:ext uri="{FF2B5EF4-FFF2-40B4-BE49-F238E27FC236}">
                <a16:creationId xmlns:a16="http://schemas.microsoft.com/office/drawing/2014/main" id="{BFCA2A85-9D91-D5AB-373A-2B1DFF291741}"/>
              </a:ext>
            </a:extLst>
          </p:cNvPr>
          <p:cNvSpPr/>
          <p:nvPr/>
        </p:nvSpPr>
        <p:spPr>
          <a:xfrm>
            <a:off x="9784079" y="5915771"/>
            <a:ext cx="2162755" cy="583731"/>
          </a:xfrm>
          <a:prstGeom prst="rect">
            <a:avLst/>
          </a:prstGeom>
          <a:solidFill>
            <a:srgbClr val="EFF5F4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17440" name="TextBox 17439">
            <a:extLst>
              <a:ext uri="{FF2B5EF4-FFF2-40B4-BE49-F238E27FC236}">
                <a16:creationId xmlns:a16="http://schemas.microsoft.com/office/drawing/2014/main" id="{B0C1C578-E05D-2800-F12E-541A9573BC00}"/>
              </a:ext>
            </a:extLst>
          </p:cNvPr>
          <p:cNvSpPr txBox="1"/>
          <p:nvPr/>
        </p:nvSpPr>
        <p:spPr>
          <a:xfrm>
            <a:off x="9875519" y="5950758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45309"/>
                </a:solidFill>
                <a:latin typeface="Consolas"/>
              </a:rPr>
              <a:t>06</a:t>
            </a:r>
          </a:p>
        </p:txBody>
      </p:sp>
      <p:sp>
        <p:nvSpPr>
          <p:cNvPr id="17441" name="TextBox 17440">
            <a:extLst>
              <a:ext uri="{FF2B5EF4-FFF2-40B4-BE49-F238E27FC236}">
                <a16:creationId xmlns:a16="http://schemas.microsoft.com/office/drawing/2014/main" id="{1156622D-FCA2-A629-A8DF-E4B9A778218F}"/>
              </a:ext>
            </a:extLst>
          </p:cNvPr>
          <p:cNvSpPr txBox="1"/>
          <p:nvPr/>
        </p:nvSpPr>
        <p:spPr>
          <a:xfrm>
            <a:off x="9875518" y="6085095"/>
            <a:ext cx="2071315" cy="342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dirty="0">
                <a:solidFill>
                  <a:srgbClr val="12161F"/>
                </a:solidFill>
                <a:latin typeface="Segoe UI"/>
              </a:rPr>
              <a:t>Shadow-mode pilot, then zone by zone</a:t>
            </a:r>
          </a:p>
        </p:txBody>
      </p:sp>
      <p:sp>
        <p:nvSpPr>
          <p:cNvPr id="17486" name="TextBox 17485">
            <a:extLst>
              <a:ext uri="{FF2B5EF4-FFF2-40B4-BE49-F238E27FC236}">
                <a16:creationId xmlns:a16="http://schemas.microsoft.com/office/drawing/2014/main" id="{EBEB302C-C2B7-EB24-80EB-94AE0395CD53}"/>
              </a:ext>
            </a:extLst>
          </p:cNvPr>
          <p:cNvSpPr txBox="1"/>
          <p:nvPr/>
        </p:nvSpPr>
        <p:spPr>
          <a:xfrm>
            <a:off x="11229419" y="654418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11480" y="-1671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TypeError-4-ever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68" name="Rectangle 17467">
            <a:extLst>
              <a:ext uri="{FF2B5EF4-FFF2-40B4-BE49-F238E27FC236}">
                <a16:creationId xmlns:a16="http://schemas.microsoft.com/office/drawing/2014/main" id="{4D317E5E-050D-5C85-4D1C-50DFB2FDC1AB}"/>
              </a:ext>
            </a:extLst>
          </p:cNvPr>
          <p:cNvSpPr/>
          <p:nvPr/>
        </p:nvSpPr>
        <p:spPr>
          <a:xfrm>
            <a:off x="502920" y="1188720"/>
            <a:ext cx="2688336" cy="1042415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70" name="Rectangle 17469">
            <a:extLst>
              <a:ext uri="{FF2B5EF4-FFF2-40B4-BE49-F238E27FC236}">
                <a16:creationId xmlns:a16="http://schemas.microsoft.com/office/drawing/2014/main" id="{5AF7585B-0F57-8D6C-9D0C-8E60A4B4436A}"/>
              </a:ext>
            </a:extLst>
          </p:cNvPr>
          <p:cNvSpPr/>
          <p:nvPr/>
        </p:nvSpPr>
        <p:spPr>
          <a:xfrm>
            <a:off x="502920" y="1188720"/>
            <a:ext cx="2688336" cy="320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72" name="TextBox 17471">
            <a:extLst>
              <a:ext uri="{FF2B5EF4-FFF2-40B4-BE49-F238E27FC236}">
                <a16:creationId xmlns:a16="http://schemas.microsoft.com/office/drawing/2014/main" id="{6FF6A31B-276A-CE02-F20A-9EC50C10DAB9}"/>
              </a:ext>
            </a:extLst>
          </p:cNvPr>
          <p:cNvSpPr txBox="1"/>
          <p:nvPr/>
        </p:nvSpPr>
        <p:spPr>
          <a:xfrm>
            <a:off x="630936" y="1267041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B45309"/>
                </a:solidFill>
                <a:latin typeface="Segoe UI"/>
              </a:rPr>
              <a:t>60%</a:t>
            </a:r>
          </a:p>
        </p:txBody>
      </p:sp>
      <p:sp>
        <p:nvSpPr>
          <p:cNvPr id="17474" name="TextBox 17473">
            <a:extLst>
              <a:ext uri="{FF2B5EF4-FFF2-40B4-BE49-F238E27FC236}">
                <a16:creationId xmlns:a16="http://schemas.microsoft.com/office/drawing/2014/main" id="{AD560D46-2A3A-2D3C-D610-DCDC18EC97F1}"/>
              </a:ext>
            </a:extLst>
          </p:cNvPr>
          <p:cNvSpPr txBox="1"/>
          <p:nvPr/>
        </p:nvSpPr>
        <p:spPr>
          <a:xfrm>
            <a:off x="630936" y="1632801"/>
            <a:ext cx="243230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lower mean ETA error</a:t>
            </a:r>
          </a:p>
        </p:txBody>
      </p:sp>
      <p:sp>
        <p:nvSpPr>
          <p:cNvPr id="17476" name="TextBox 17475">
            <a:extLst>
              <a:ext uri="{FF2B5EF4-FFF2-40B4-BE49-F238E27FC236}">
                <a16:creationId xmlns:a16="http://schemas.microsoft.com/office/drawing/2014/main" id="{5E0764E9-1931-18B6-D54F-9C59F6C56905}"/>
              </a:ext>
            </a:extLst>
          </p:cNvPr>
          <p:cNvSpPr txBox="1"/>
          <p:nvPr/>
        </p:nvSpPr>
        <p:spPr>
          <a:xfrm>
            <a:off x="630936" y="1833969"/>
            <a:ext cx="2432304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dirty="0">
                <a:solidFill>
                  <a:srgbClr val="5B6472"/>
                </a:solidFill>
                <a:latin typeface="Segoe UI"/>
              </a:rPr>
              <a:t>carry-forward 26.9 min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dirty="0">
                <a:solidFill>
                  <a:srgbClr val="5B6472"/>
                </a:solidFill>
                <a:latin typeface="Segoe UI"/>
              </a:rPr>
              <a:t>RAILCAST 10.9 min</a:t>
            </a:r>
          </a:p>
        </p:txBody>
      </p:sp>
      <p:sp>
        <p:nvSpPr>
          <p:cNvPr id="17478" name="Rectangle 17477">
            <a:extLst>
              <a:ext uri="{FF2B5EF4-FFF2-40B4-BE49-F238E27FC236}">
                <a16:creationId xmlns:a16="http://schemas.microsoft.com/office/drawing/2014/main" id="{F258108D-9811-29FA-4570-FAC77D562D16}"/>
              </a:ext>
            </a:extLst>
          </p:cNvPr>
          <p:cNvSpPr/>
          <p:nvPr/>
        </p:nvSpPr>
        <p:spPr>
          <a:xfrm>
            <a:off x="3337560" y="1188720"/>
            <a:ext cx="2688336" cy="1042415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80" name="Rectangle 17479">
            <a:extLst>
              <a:ext uri="{FF2B5EF4-FFF2-40B4-BE49-F238E27FC236}">
                <a16:creationId xmlns:a16="http://schemas.microsoft.com/office/drawing/2014/main" id="{1DB4F87A-AEDF-F4FC-7E82-F0FBB0C95F87}"/>
              </a:ext>
            </a:extLst>
          </p:cNvPr>
          <p:cNvSpPr/>
          <p:nvPr/>
        </p:nvSpPr>
        <p:spPr>
          <a:xfrm>
            <a:off x="3337560" y="1188720"/>
            <a:ext cx="2688336" cy="320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82" name="TextBox 17481">
            <a:extLst>
              <a:ext uri="{FF2B5EF4-FFF2-40B4-BE49-F238E27FC236}">
                <a16:creationId xmlns:a16="http://schemas.microsoft.com/office/drawing/2014/main" id="{C1D22ECA-E6CA-3DA6-1F33-0809E3AE4CFD}"/>
              </a:ext>
            </a:extLst>
          </p:cNvPr>
          <p:cNvSpPr txBox="1"/>
          <p:nvPr/>
        </p:nvSpPr>
        <p:spPr>
          <a:xfrm>
            <a:off x="3465576" y="1286919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B45309"/>
                </a:solidFill>
                <a:latin typeface="Segoe UI"/>
              </a:rPr>
              <a:t>62%</a:t>
            </a:r>
          </a:p>
        </p:txBody>
      </p:sp>
      <p:sp>
        <p:nvSpPr>
          <p:cNvPr id="17484" name="TextBox 17483">
            <a:extLst>
              <a:ext uri="{FF2B5EF4-FFF2-40B4-BE49-F238E27FC236}">
                <a16:creationId xmlns:a16="http://schemas.microsoft.com/office/drawing/2014/main" id="{B6CB1241-7DD2-5BD5-0410-7B2D152B3B03}"/>
              </a:ext>
            </a:extLst>
          </p:cNvPr>
          <p:cNvSpPr txBox="1"/>
          <p:nvPr/>
        </p:nvSpPr>
        <p:spPr>
          <a:xfrm>
            <a:off x="3465576" y="1652679"/>
            <a:ext cx="243230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lower P90 error</a:t>
            </a:r>
          </a:p>
        </p:txBody>
      </p:sp>
      <p:sp>
        <p:nvSpPr>
          <p:cNvPr id="17486" name="TextBox 17485">
            <a:extLst>
              <a:ext uri="{FF2B5EF4-FFF2-40B4-BE49-F238E27FC236}">
                <a16:creationId xmlns:a16="http://schemas.microsoft.com/office/drawing/2014/main" id="{25DC8DBE-13AF-48BD-1D14-54BE5CEDBBA3}"/>
              </a:ext>
            </a:extLst>
          </p:cNvPr>
          <p:cNvSpPr txBox="1"/>
          <p:nvPr/>
        </p:nvSpPr>
        <p:spPr>
          <a:xfrm>
            <a:off x="3465576" y="1933881"/>
            <a:ext cx="2432304" cy="187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dirty="0">
                <a:solidFill>
                  <a:srgbClr val="5B6472"/>
                </a:solidFill>
                <a:latin typeface="Segoe UI"/>
              </a:rPr>
              <a:t>the bad days:</a:t>
            </a:r>
            <a:r>
              <a:rPr lang="en-IN" sz="1200" b="0" dirty="0">
                <a:solidFill>
                  <a:srgbClr val="5B6472"/>
                </a:solidFill>
                <a:latin typeface="Segoe UI"/>
              </a:rPr>
              <a:t> </a:t>
            </a:r>
            <a:r>
              <a:rPr sz="1200" b="0" dirty="0">
                <a:solidFill>
                  <a:srgbClr val="5B6472"/>
                </a:solidFill>
                <a:latin typeface="Segoe UI"/>
              </a:rPr>
              <a:t>77 min against 29</a:t>
            </a:r>
          </a:p>
        </p:txBody>
      </p:sp>
      <p:sp>
        <p:nvSpPr>
          <p:cNvPr id="17488" name="Rectangle 17487">
            <a:extLst>
              <a:ext uri="{FF2B5EF4-FFF2-40B4-BE49-F238E27FC236}">
                <a16:creationId xmlns:a16="http://schemas.microsoft.com/office/drawing/2014/main" id="{132DF012-7C30-9C62-8725-99F0327312B7}"/>
              </a:ext>
            </a:extLst>
          </p:cNvPr>
          <p:cNvSpPr/>
          <p:nvPr/>
        </p:nvSpPr>
        <p:spPr>
          <a:xfrm>
            <a:off x="6172200" y="1188720"/>
            <a:ext cx="2688336" cy="1042415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90" name="Rectangle 17489">
            <a:extLst>
              <a:ext uri="{FF2B5EF4-FFF2-40B4-BE49-F238E27FC236}">
                <a16:creationId xmlns:a16="http://schemas.microsoft.com/office/drawing/2014/main" id="{735F27EF-86B5-823B-D012-748319DD6105}"/>
              </a:ext>
            </a:extLst>
          </p:cNvPr>
          <p:cNvSpPr/>
          <p:nvPr/>
        </p:nvSpPr>
        <p:spPr>
          <a:xfrm>
            <a:off x="6172200" y="1188720"/>
            <a:ext cx="2688336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92" name="TextBox 17491">
            <a:extLst>
              <a:ext uri="{FF2B5EF4-FFF2-40B4-BE49-F238E27FC236}">
                <a16:creationId xmlns:a16="http://schemas.microsoft.com/office/drawing/2014/main" id="{7D9D3983-2635-C558-F9FA-24D381D31C40}"/>
              </a:ext>
            </a:extLst>
          </p:cNvPr>
          <p:cNvSpPr txBox="1"/>
          <p:nvPr/>
        </p:nvSpPr>
        <p:spPr>
          <a:xfrm>
            <a:off x="6300216" y="1286919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766E"/>
                </a:solidFill>
                <a:latin typeface="Segoe UI"/>
              </a:rPr>
              <a:t>78.4%</a:t>
            </a:r>
          </a:p>
        </p:txBody>
      </p:sp>
      <p:sp>
        <p:nvSpPr>
          <p:cNvPr id="17494" name="TextBox 17493">
            <a:extLst>
              <a:ext uri="{FF2B5EF4-FFF2-40B4-BE49-F238E27FC236}">
                <a16:creationId xmlns:a16="http://schemas.microsoft.com/office/drawing/2014/main" id="{D3732F13-EE28-0E28-1334-3492DBCCC880}"/>
              </a:ext>
            </a:extLst>
          </p:cNvPr>
          <p:cNvSpPr txBox="1"/>
          <p:nvPr/>
        </p:nvSpPr>
        <p:spPr>
          <a:xfrm>
            <a:off x="6300216" y="1652679"/>
            <a:ext cx="243230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achieved coverage</a:t>
            </a:r>
          </a:p>
        </p:txBody>
      </p:sp>
      <p:sp>
        <p:nvSpPr>
          <p:cNvPr id="17496" name="TextBox 17495">
            <a:extLst>
              <a:ext uri="{FF2B5EF4-FFF2-40B4-BE49-F238E27FC236}">
                <a16:creationId xmlns:a16="http://schemas.microsoft.com/office/drawing/2014/main" id="{75CE6E65-0A69-049A-0686-C90B96A0A7F0}"/>
              </a:ext>
            </a:extLst>
          </p:cNvPr>
          <p:cNvSpPr txBox="1"/>
          <p:nvPr/>
        </p:nvSpPr>
        <p:spPr>
          <a:xfrm>
            <a:off x="6300216" y="1853847"/>
            <a:ext cx="256032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dirty="0">
                <a:solidFill>
                  <a:srgbClr val="5B6472"/>
                </a:solidFill>
                <a:latin typeface="Segoe UI"/>
              </a:rPr>
              <a:t>of the nominal 80% window,</a:t>
            </a:r>
            <a:r>
              <a:rPr lang="en-IN" sz="1100" b="0" dirty="0">
                <a:solidFill>
                  <a:srgbClr val="5B6472"/>
                </a:solidFill>
                <a:latin typeface="Segoe UI"/>
              </a:rPr>
              <a:t> a</a:t>
            </a:r>
            <a:r>
              <a:rPr sz="1100" b="0" dirty="0" err="1">
                <a:solidFill>
                  <a:srgbClr val="5B6472"/>
                </a:solidFill>
                <a:latin typeface="Segoe UI"/>
              </a:rPr>
              <a:t>udited</a:t>
            </a:r>
            <a:r>
              <a:rPr sz="1100" b="0" dirty="0">
                <a:solidFill>
                  <a:srgbClr val="5B6472"/>
                </a:solidFill>
                <a:latin typeface="Segoe UI"/>
              </a:rPr>
              <a:t> per segment</a:t>
            </a:r>
          </a:p>
        </p:txBody>
      </p:sp>
      <p:sp>
        <p:nvSpPr>
          <p:cNvPr id="17498" name="Rectangle 17497">
            <a:extLst>
              <a:ext uri="{FF2B5EF4-FFF2-40B4-BE49-F238E27FC236}">
                <a16:creationId xmlns:a16="http://schemas.microsoft.com/office/drawing/2014/main" id="{11EB4B2A-092A-D7B4-0F39-D2F98D20C93A}"/>
              </a:ext>
            </a:extLst>
          </p:cNvPr>
          <p:cNvSpPr/>
          <p:nvPr/>
        </p:nvSpPr>
        <p:spPr>
          <a:xfrm>
            <a:off x="9006840" y="1188720"/>
            <a:ext cx="2688336" cy="1042415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00" name="Rectangle 17499">
            <a:extLst>
              <a:ext uri="{FF2B5EF4-FFF2-40B4-BE49-F238E27FC236}">
                <a16:creationId xmlns:a16="http://schemas.microsoft.com/office/drawing/2014/main" id="{2D44FAEA-A0FF-AF32-747B-4542DC6F268B}"/>
              </a:ext>
            </a:extLst>
          </p:cNvPr>
          <p:cNvSpPr/>
          <p:nvPr/>
        </p:nvSpPr>
        <p:spPr>
          <a:xfrm>
            <a:off x="9006840" y="1188720"/>
            <a:ext cx="2688336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02" name="TextBox 17501">
            <a:extLst>
              <a:ext uri="{FF2B5EF4-FFF2-40B4-BE49-F238E27FC236}">
                <a16:creationId xmlns:a16="http://schemas.microsoft.com/office/drawing/2014/main" id="{634F4ACA-EFA6-9279-2473-531A126CF020}"/>
              </a:ext>
            </a:extLst>
          </p:cNvPr>
          <p:cNvSpPr txBox="1"/>
          <p:nvPr/>
        </p:nvSpPr>
        <p:spPr>
          <a:xfrm>
            <a:off x="9134856" y="1286919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F766E"/>
                </a:solidFill>
                <a:latin typeface="Segoe UI"/>
              </a:rPr>
              <a:t>0.006</a:t>
            </a:r>
          </a:p>
        </p:txBody>
      </p:sp>
      <p:sp>
        <p:nvSpPr>
          <p:cNvPr id="17504" name="TextBox 17503">
            <a:extLst>
              <a:ext uri="{FF2B5EF4-FFF2-40B4-BE49-F238E27FC236}">
                <a16:creationId xmlns:a16="http://schemas.microsoft.com/office/drawing/2014/main" id="{AE1B0CD5-E868-7727-2A9D-15EBD0AC9E7D}"/>
              </a:ext>
            </a:extLst>
          </p:cNvPr>
          <p:cNvSpPr txBox="1"/>
          <p:nvPr/>
        </p:nvSpPr>
        <p:spPr>
          <a:xfrm>
            <a:off x="9134856" y="1652679"/>
            <a:ext cx="243230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2161F"/>
                </a:solidFill>
                <a:latin typeface="Segoe UI"/>
              </a:rPr>
              <a:t>reliability error</a:t>
            </a:r>
          </a:p>
        </p:txBody>
      </p:sp>
      <p:sp>
        <p:nvSpPr>
          <p:cNvPr id="17506" name="TextBox 17505">
            <a:extLst>
              <a:ext uri="{FF2B5EF4-FFF2-40B4-BE49-F238E27FC236}">
                <a16:creationId xmlns:a16="http://schemas.microsoft.com/office/drawing/2014/main" id="{F4303D50-C61C-6C4B-A41E-F452E472CCBE}"/>
              </a:ext>
            </a:extLst>
          </p:cNvPr>
          <p:cNvSpPr txBox="1"/>
          <p:nvPr/>
        </p:nvSpPr>
        <p:spPr>
          <a:xfrm>
            <a:off x="9134856" y="1893603"/>
            <a:ext cx="2432304" cy="187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dirty="0">
                <a:solidFill>
                  <a:srgbClr val="5B6472"/>
                </a:solidFill>
                <a:latin typeface="Segoe UI"/>
              </a:rPr>
              <a:t>on connection-make</a:t>
            </a:r>
            <a:r>
              <a:rPr lang="en-IN" sz="1200" b="0" dirty="0">
                <a:solidFill>
                  <a:srgbClr val="5B6472"/>
                </a:solidFill>
                <a:latin typeface="Segoe UI"/>
              </a:rPr>
              <a:t> </a:t>
            </a:r>
            <a:r>
              <a:rPr sz="1200" b="0" dirty="0">
                <a:solidFill>
                  <a:srgbClr val="5B6472"/>
                </a:solidFill>
                <a:latin typeface="Segoe UI"/>
              </a:rPr>
              <a:t>probability</a:t>
            </a:r>
          </a:p>
        </p:txBody>
      </p:sp>
      <p:sp>
        <p:nvSpPr>
          <p:cNvPr id="17508" name="TextBox 17507">
            <a:extLst>
              <a:ext uri="{FF2B5EF4-FFF2-40B4-BE49-F238E27FC236}">
                <a16:creationId xmlns:a16="http://schemas.microsoft.com/office/drawing/2014/main" id="{86969B47-5DFD-C2D3-42E7-A2DE276DD2EB}"/>
              </a:ext>
            </a:extLst>
          </p:cNvPr>
          <p:cNvSpPr txBox="1"/>
          <p:nvPr/>
        </p:nvSpPr>
        <p:spPr>
          <a:xfrm>
            <a:off x="502920" y="2382305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B45309"/>
                </a:solidFill>
                <a:latin typeface="Consolas"/>
              </a:rPr>
              <a:t>ERROR BY HORIZON, NOT ONE POOLED NUMBER</a:t>
            </a:r>
          </a:p>
        </p:txBody>
      </p:sp>
      <p:pic>
        <p:nvPicPr>
          <p:cNvPr id="17510" name="Picture 17509" descr="01_mae_by_horizon.png">
            <a:extLst>
              <a:ext uri="{FF2B5EF4-FFF2-40B4-BE49-F238E27FC236}">
                <a16:creationId xmlns:a16="http://schemas.microsoft.com/office/drawing/2014/main" id="{7AB1FF09-D236-548A-C94A-BFFEC887F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70048"/>
            <a:ext cx="5577840" cy="2839628"/>
          </a:xfrm>
          <a:prstGeom prst="rect">
            <a:avLst/>
          </a:prstGeom>
        </p:spPr>
      </p:pic>
      <p:sp>
        <p:nvSpPr>
          <p:cNvPr id="17512" name="TextBox 17511">
            <a:extLst>
              <a:ext uri="{FF2B5EF4-FFF2-40B4-BE49-F238E27FC236}">
                <a16:creationId xmlns:a16="http://schemas.microsoft.com/office/drawing/2014/main" id="{6CEE9A73-C3E1-A3F7-A4C7-4C57EE09A1AC}"/>
              </a:ext>
            </a:extLst>
          </p:cNvPr>
          <p:cNvSpPr txBox="1"/>
          <p:nvPr/>
        </p:nvSpPr>
        <p:spPr>
          <a:xfrm>
            <a:off x="301354" y="5509676"/>
            <a:ext cx="5980971" cy="825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dirty="0">
                <a:solidFill>
                  <a:srgbClr val="5B6472"/>
                </a:solidFill>
                <a:latin typeface="Segoe UI"/>
              </a:rPr>
              <a:t>Carry-forward is adequate for the next station and collapses beyond a few hours - which is the horizon passengers actually plan against.</a:t>
            </a:r>
          </a:p>
        </p:txBody>
      </p:sp>
      <p:sp>
        <p:nvSpPr>
          <p:cNvPr id="17514" name="TextBox 17513">
            <a:extLst>
              <a:ext uri="{FF2B5EF4-FFF2-40B4-BE49-F238E27FC236}">
                <a16:creationId xmlns:a16="http://schemas.microsoft.com/office/drawing/2014/main" id="{E36090A8-76A3-8FFD-8AAE-1D5A50E5CB0D}"/>
              </a:ext>
            </a:extLst>
          </p:cNvPr>
          <p:cNvSpPr txBox="1"/>
          <p:nvPr/>
        </p:nvSpPr>
        <p:spPr>
          <a:xfrm>
            <a:off x="6419088" y="2382305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F766E"/>
                </a:solidFill>
                <a:latin typeface="Consolas"/>
              </a:rPr>
              <a:t>WHAT CHANGES AGAINST TODAY</a:t>
            </a:r>
          </a:p>
        </p:txBody>
      </p:sp>
      <p:sp>
        <p:nvSpPr>
          <p:cNvPr id="17516" name="Rectangle 17515">
            <a:extLst>
              <a:ext uri="{FF2B5EF4-FFF2-40B4-BE49-F238E27FC236}">
                <a16:creationId xmlns:a16="http://schemas.microsoft.com/office/drawing/2014/main" id="{15C23298-D3B7-93D3-03B5-259524B21EA5}"/>
              </a:ext>
            </a:extLst>
          </p:cNvPr>
          <p:cNvSpPr/>
          <p:nvPr/>
        </p:nvSpPr>
        <p:spPr>
          <a:xfrm>
            <a:off x="6419088" y="2670048"/>
            <a:ext cx="5266944" cy="274320"/>
          </a:xfrm>
          <a:prstGeom prst="rect">
            <a:avLst/>
          </a:prstGeom>
          <a:solidFill>
            <a:srgbClr val="F6F7F9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17518" name="TextBox 17517">
            <a:extLst>
              <a:ext uri="{FF2B5EF4-FFF2-40B4-BE49-F238E27FC236}">
                <a16:creationId xmlns:a16="http://schemas.microsoft.com/office/drawing/2014/main" id="{F369C981-9194-81B9-765E-F8B35661EE24}"/>
              </a:ext>
            </a:extLst>
          </p:cNvPr>
          <p:cNvSpPr txBox="1"/>
          <p:nvPr/>
        </p:nvSpPr>
        <p:spPr>
          <a:xfrm>
            <a:off x="6528816" y="2752344"/>
            <a:ext cx="16916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A94A3"/>
                </a:solidFill>
                <a:latin typeface="Consolas"/>
              </a:rPr>
              <a:t>PARAMETER</a:t>
            </a:r>
          </a:p>
        </p:txBody>
      </p:sp>
      <p:sp>
        <p:nvSpPr>
          <p:cNvPr id="17520" name="TextBox 17519">
            <a:extLst>
              <a:ext uri="{FF2B5EF4-FFF2-40B4-BE49-F238E27FC236}">
                <a16:creationId xmlns:a16="http://schemas.microsoft.com/office/drawing/2014/main" id="{3DBBB9AA-0C81-3AAC-6E85-94971507CA46}"/>
              </a:ext>
            </a:extLst>
          </p:cNvPr>
          <p:cNvSpPr txBox="1"/>
          <p:nvPr/>
        </p:nvSpPr>
        <p:spPr>
          <a:xfrm>
            <a:off x="8284463" y="2752344"/>
            <a:ext cx="16916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A94A3"/>
                </a:solidFill>
                <a:latin typeface="Consolas"/>
              </a:rPr>
              <a:t>TODAY</a:t>
            </a:r>
          </a:p>
        </p:txBody>
      </p:sp>
      <p:sp>
        <p:nvSpPr>
          <p:cNvPr id="17522" name="TextBox 17521">
            <a:extLst>
              <a:ext uri="{FF2B5EF4-FFF2-40B4-BE49-F238E27FC236}">
                <a16:creationId xmlns:a16="http://schemas.microsoft.com/office/drawing/2014/main" id="{B2B0FD34-E572-04C0-CC11-4B181B54C4BE}"/>
              </a:ext>
            </a:extLst>
          </p:cNvPr>
          <p:cNvSpPr txBox="1"/>
          <p:nvPr/>
        </p:nvSpPr>
        <p:spPr>
          <a:xfrm>
            <a:off x="10040112" y="2752344"/>
            <a:ext cx="16916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Consolas"/>
              </a:rPr>
              <a:t>RAILCAST</a:t>
            </a:r>
          </a:p>
        </p:txBody>
      </p:sp>
      <p:sp>
        <p:nvSpPr>
          <p:cNvPr id="17524" name="Rectangle 17523">
            <a:extLst>
              <a:ext uri="{FF2B5EF4-FFF2-40B4-BE49-F238E27FC236}">
                <a16:creationId xmlns:a16="http://schemas.microsoft.com/office/drawing/2014/main" id="{DD1C1777-35F6-5A4B-19E1-B630A5C3660E}"/>
              </a:ext>
            </a:extLst>
          </p:cNvPr>
          <p:cNvSpPr/>
          <p:nvPr/>
        </p:nvSpPr>
        <p:spPr>
          <a:xfrm>
            <a:off x="6419088" y="2944368"/>
            <a:ext cx="526694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17526" name="TextBox 17525">
            <a:extLst>
              <a:ext uri="{FF2B5EF4-FFF2-40B4-BE49-F238E27FC236}">
                <a16:creationId xmlns:a16="http://schemas.microsoft.com/office/drawing/2014/main" id="{C813AE1D-34DE-17F7-48BD-6B859CC60CDA}"/>
              </a:ext>
            </a:extLst>
          </p:cNvPr>
          <p:cNvSpPr txBox="1"/>
          <p:nvPr/>
        </p:nvSpPr>
        <p:spPr>
          <a:xfrm>
            <a:off x="6528816" y="3063239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2161F"/>
                </a:solidFill>
                <a:latin typeface="Segoe UI"/>
              </a:rPr>
              <a:t>ETA method</a:t>
            </a:r>
          </a:p>
        </p:txBody>
      </p:sp>
      <p:sp>
        <p:nvSpPr>
          <p:cNvPr id="17528" name="TextBox 17527">
            <a:extLst>
              <a:ext uri="{FF2B5EF4-FFF2-40B4-BE49-F238E27FC236}">
                <a16:creationId xmlns:a16="http://schemas.microsoft.com/office/drawing/2014/main" id="{BD43EF7F-D26A-0994-9D23-805A84C3BF3E}"/>
              </a:ext>
            </a:extLst>
          </p:cNvPr>
          <p:cNvSpPr txBox="1"/>
          <p:nvPr/>
        </p:nvSpPr>
        <p:spPr>
          <a:xfrm>
            <a:off x="8284464" y="3063239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Delay repeated forward</a:t>
            </a:r>
          </a:p>
        </p:txBody>
      </p:sp>
      <p:sp>
        <p:nvSpPr>
          <p:cNvPr id="17530" name="TextBox 17529">
            <a:extLst>
              <a:ext uri="{FF2B5EF4-FFF2-40B4-BE49-F238E27FC236}">
                <a16:creationId xmlns:a16="http://schemas.microsoft.com/office/drawing/2014/main" id="{72C192EE-FEE1-64F5-A2C6-794BC6B209A6}"/>
              </a:ext>
            </a:extLst>
          </p:cNvPr>
          <p:cNvSpPr txBox="1"/>
          <p:nvPr/>
        </p:nvSpPr>
        <p:spPr>
          <a:xfrm>
            <a:off x="10050051" y="3003605"/>
            <a:ext cx="15910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2161F"/>
                </a:solidFill>
                <a:latin typeface="Segoe UI"/>
              </a:rPr>
              <a:t>Per-section forecast, conflicts simulated</a:t>
            </a:r>
          </a:p>
        </p:txBody>
      </p:sp>
      <p:sp>
        <p:nvSpPr>
          <p:cNvPr id="17532" name="Rectangle 17531">
            <a:extLst>
              <a:ext uri="{FF2B5EF4-FFF2-40B4-BE49-F238E27FC236}">
                <a16:creationId xmlns:a16="http://schemas.microsoft.com/office/drawing/2014/main" id="{AA88C912-5A72-BD84-D85D-60DA1ED0F287}"/>
              </a:ext>
            </a:extLst>
          </p:cNvPr>
          <p:cNvSpPr/>
          <p:nvPr/>
        </p:nvSpPr>
        <p:spPr>
          <a:xfrm>
            <a:off x="6419088" y="3346703"/>
            <a:ext cx="526694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17534" name="TextBox 17533">
            <a:extLst>
              <a:ext uri="{FF2B5EF4-FFF2-40B4-BE49-F238E27FC236}">
                <a16:creationId xmlns:a16="http://schemas.microsoft.com/office/drawing/2014/main" id="{C8579E52-1D7D-929A-2BF8-D3C5965863AB}"/>
              </a:ext>
            </a:extLst>
          </p:cNvPr>
          <p:cNvSpPr txBox="1"/>
          <p:nvPr/>
        </p:nvSpPr>
        <p:spPr>
          <a:xfrm>
            <a:off x="6528816" y="3465575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2161F"/>
                </a:solidFill>
                <a:latin typeface="Segoe UI"/>
              </a:rPr>
              <a:t>Horizon</a:t>
            </a:r>
          </a:p>
        </p:txBody>
      </p:sp>
      <p:sp>
        <p:nvSpPr>
          <p:cNvPr id="17536" name="TextBox 17535">
            <a:extLst>
              <a:ext uri="{FF2B5EF4-FFF2-40B4-BE49-F238E27FC236}">
                <a16:creationId xmlns:a16="http://schemas.microsoft.com/office/drawing/2014/main" id="{928002C1-44C0-3FCF-0781-2C79313460CB}"/>
              </a:ext>
            </a:extLst>
          </p:cNvPr>
          <p:cNvSpPr txBox="1"/>
          <p:nvPr/>
        </p:nvSpPr>
        <p:spPr>
          <a:xfrm>
            <a:off x="8284464" y="3465575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The next few stops</a:t>
            </a:r>
          </a:p>
        </p:txBody>
      </p:sp>
      <p:sp>
        <p:nvSpPr>
          <p:cNvPr id="17538" name="TextBox 17537">
            <a:extLst>
              <a:ext uri="{FF2B5EF4-FFF2-40B4-BE49-F238E27FC236}">
                <a16:creationId xmlns:a16="http://schemas.microsoft.com/office/drawing/2014/main" id="{C69469DF-1465-44EB-F22F-DCB42A891444}"/>
              </a:ext>
            </a:extLst>
          </p:cNvPr>
          <p:cNvSpPr txBox="1"/>
          <p:nvPr/>
        </p:nvSpPr>
        <p:spPr>
          <a:xfrm>
            <a:off x="10050051" y="3405941"/>
            <a:ext cx="159105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2161F"/>
                </a:solidFill>
                <a:latin typeface="Segoe UI"/>
              </a:rPr>
              <a:t>The whole run, 40+ hours</a:t>
            </a:r>
          </a:p>
        </p:txBody>
      </p:sp>
      <p:sp>
        <p:nvSpPr>
          <p:cNvPr id="17540" name="Rectangle 17539">
            <a:extLst>
              <a:ext uri="{FF2B5EF4-FFF2-40B4-BE49-F238E27FC236}">
                <a16:creationId xmlns:a16="http://schemas.microsoft.com/office/drawing/2014/main" id="{4A10FEAF-906C-AD77-B6B7-FA96448B154B}"/>
              </a:ext>
            </a:extLst>
          </p:cNvPr>
          <p:cNvSpPr/>
          <p:nvPr/>
        </p:nvSpPr>
        <p:spPr>
          <a:xfrm>
            <a:off x="6419088" y="3749039"/>
            <a:ext cx="526694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17542" name="TextBox 17541">
            <a:extLst>
              <a:ext uri="{FF2B5EF4-FFF2-40B4-BE49-F238E27FC236}">
                <a16:creationId xmlns:a16="http://schemas.microsoft.com/office/drawing/2014/main" id="{2C39B6B9-8C39-666C-F7B7-F7C92D23C8C0}"/>
              </a:ext>
            </a:extLst>
          </p:cNvPr>
          <p:cNvSpPr txBox="1"/>
          <p:nvPr/>
        </p:nvSpPr>
        <p:spPr>
          <a:xfrm>
            <a:off x="6528816" y="3867911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2161F"/>
                </a:solidFill>
                <a:latin typeface="Segoe UI"/>
              </a:rPr>
              <a:t>Uncertainty</a:t>
            </a:r>
          </a:p>
        </p:txBody>
      </p:sp>
      <p:sp>
        <p:nvSpPr>
          <p:cNvPr id="17544" name="TextBox 17543">
            <a:extLst>
              <a:ext uri="{FF2B5EF4-FFF2-40B4-BE49-F238E27FC236}">
                <a16:creationId xmlns:a16="http://schemas.microsoft.com/office/drawing/2014/main" id="{CB84F254-37A4-3616-8894-51179DE8B42B}"/>
              </a:ext>
            </a:extLst>
          </p:cNvPr>
          <p:cNvSpPr txBox="1"/>
          <p:nvPr/>
        </p:nvSpPr>
        <p:spPr>
          <a:xfrm>
            <a:off x="8284464" y="3867911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None stated</a:t>
            </a:r>
          </a:p>
        </p:txBody>
      </p:sp>
      <p:sp>
        <p:nvSpPr>
          <p:cNvPr id="17546" name="TextBox 17545">
            <a:extLst>
              <a:ext uri="{FF2B5EF4-FFF2-40B4-BE49-F238E27FC236}">
                <a16:creationId xmlns:a16="http://schemas.microsoft.com/office/drawing/2014/main" id="{D8A8C2AC-E26B-415C-3E1D-5DD01F524B05}"/>
              </a:ext>
            </a:extLst>
          </p:cNvPr>
          <p:cNvSpPr txBox="1"/>
          <p:nvPr/>
        </p:nvSpPr>
        <p:spPr>
          <a:xfrm>
            <a:off x="10050051" y="3808277"/>
            <a:ext cx="15910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2161F"/>
                </a:solidFill>
                <a:latin typeface="Segoe UI"/>
              </a:rPr>
              <a:t>Audited 80% arrival window</a:t>
            </a:r>
          </a:p>
        </p:txBody>
      </p:sp>
      <p:sp>
        <p:nvSpPr>
          <p:cNvPr id="17548" name="Rectangle 17547">
            <a:extLst>
              <a:ext uri="{FF2B5EF4-FFF2-40B4-BE49-F238E27FC236}">
                <a16:creationId xmlns:a16="http://schemas.microsoft.com/office/drawing/2014/main" id="{DF3D5788-1395-ADF0-EEAE-DE9FAB3DB83B}"/>
              </a:ext>
            </a:extLst>
          </p:cNvPr>
          <p:cNvSpPr/>
          <p:nvPr/>
        </p:nvSpPr>
        <p:spPr>
          <a:xfrm>
            <a:off x="6419088" y="4151376"/>
            <a:ext cx="526694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17550" name="TextBox 17549">
            <a:extLst>
              <a:ext uri="{FF2B5EF4-FFF2-40B4-BE49-F238E27FC236}">
                <a16:creationId xmlns:a16="http://schemas.microsoft.com/office/drawing/2014/main" id="{2E30A46B-BF28-CB73-6EF0-F8CA6EAE1D5B}"/>
              </a:ext>
            </a:extLst>
          </p:cNvPr>
          <p:cNvSpPr txBox="1"/>
          <p:nvPr/>
        </p:nvSpPr>
        <p:spPr>
          <a:xfrm>
            <a:off x="6528816" y="4270248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2161F"/>
                </a:solidFill>
                <a:latin typeface="Segoe UI"/>
              </a:rPr>
              <a:t>Explains cause</a:t>
            </a:r>
          </a:p>
        </p:txBody>
      </p:sp>
      <p:sp>
        <p:nvSpPr>
          <p:cNvPr id="17552" name="TextBox 17551">
            <a:extLst>
              <a:ext uri="{FF2B5EF4-FFF2-40B4-BE49-F238E27FC236}">
                <a16:creationId xmlns:a16="http://schemas.microsoft.com/office/drawing/2014/main" id="{34FE9178-4CB3-B74C-9219-EBDA8DA2CA99}"/>
              </a:ext>
            </a:extLst>
          </p:cNvPr>
          <p:cNvSpPr txBox="1"/>
          <p:nvPr/>
        </p:nvSpPr>
        <p:spPr>
          <a:xfrm>
            <a:off x="8284464" y="4270248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No</a:t>
            </a:r>
          </a:p>
        </p:txBody>
      </p:sp>
      <p:sp>
        <p:nvSpPr>
          <p:cNvPr id="17554" name="TextBox 17553">
            <a:extLst>
              <a:ext uri="{FF2B5EF4-FFF2-40B4-BE49-F238E27FC236}">
                <a16:creationId xmlns:a16="http://schemas.microsoft.com/office/drawing/2014/main" id="{390179E4-ADD9-514B-8332-587F02D4E7AA}"/>
              </a:ext>
            </a:extLst>
          </p:cNvPr>
          <p:cNvSpPr txBox="1"/>
          <p:nvPr/>
        </p:nvSpPr>
        <p:spPr>
          <a:xfrm>
            <a:off x="10050051" y="4210614"/>
            <a:ext cx="15910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2161F"/>
                </a:solidFill>
                <a:latin typeface="Segoe UI"/>
              </a:rPr>
              <a:t>Names the blocking train and section</a:t>
            </a:r>
          </a:p>
        </p:txBody>
      </p:sp>
      <p:sp>
        <p:nvSpPr>
          <p:cNvPr id="17556" name="Rectangle 17555">
            <a:extLst>
              <a:ext uri="{FF2B5EF4-FFF2-40B4-BE49-F238E27FC236}">
                <a16:creationId xmlns:a16="http://schemas.microsoft.com/office/drawing/2014/main" id="{5F9AC5F1-0A65-C91E-4DCF-10F2BD64D427}"/>
              </a:ext>
            </a:extLst>
          </p:cNvPr>
          <p:cNvSpPr/>
          <p:nvPr/>
        </p:nvSpPr>
        <p:spPr>
          <a:xfrm>
            <a:off x="6419088" y="4553712"/>
            <a:ext cx="526694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17558" name="TextBox 17557">
            <a:extLst>
              <a:ext uri="{FF2B5EF4-FFF2-40B4-BE49-F238E27FC236}">
                <a16:creationId xmlns:a16="http://schemas.microsoft.com/office/drawing/2014/main" id="{259E86CA-358D-6402-7B3D-B29798C06295}"/>
              </a:ext>
            </a:extLst>
          </p:cNvPr>
          <p:cNvSpPr txBox="1"/>
          <p:nvPr/>
        </p:nvSpPr>
        <p:spPr>
          <a:xfrm>
            <a:off x="6528816" y="4672584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2161F"/>
                </a:solidFill>
                <a:latin typeface="Segoe UI"/>
              </a:rPr>
              <a:t>Between stations</a:t>
            </a:r>
          </a:p>
        </p:txBody>
      </p:sp>
      <p:sp>
        <p:nvSpPr>
          <p:cNvPr id="17560" name="TextBox 17559">
            <a:extLst>
              <a:ext uri="{FF2B5EF4-FFF2-40B4-BE49-F238E27FC236}">
                <a16:creationId xmlns:a16="http://schemas.microsoft.com/office/drawing/2014/main" id="{008EAB4D-42D7-528A-3FDA-775CB00F0899}"/>
              </a:ext>
            </a:extLst>
          </p:cNvPr>
          <p:cNvSpPr txBox="1"/>
          <p:nvPr/>
        </p:nvSpPr>
        <p:spPr>
          <a:xfrm>
            <a:off x="8284464" y="4672584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Blind for 40-60 min</a:t>
            </a:r>
          </a:p>
        </p:txBody>
      </p:sp>
      <p:sp>
        <p:nvSpPr>
          <p:cNvPr id="17562" name="TextBox 17561">
            <a:extLst>
              <a:ext uri="{FF2B5EF4-FFF2-40B4-BE49-F238E27FC236}">
                <a16:creationId xmlns:a16="http://schemas.microsoft.com/office/drawing/2014/main" id="{96E6BCBF-D842-2D11-5154-033059BC9DFA}"/>
              </a:ext>
            </a:extLst>
          </p:cNvPr>
          <p:cNvSpPr txBox="1"/>
          <p:nvPr/>
        </p:nvSpPr>
        <p:spPr>
          <a:xfrm>
            <a:off x="10050051" y="4612950"/>
            <a:ext cx="15910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2161F"/>
                </a:solidFill>
                <a:latin typeface="Segoe UI"/>
              </a:rPr>
              <a:t>Position inferred between stations by block-graph replay</a:t>
            </a:r>
          </a:p>
        </p:txBody>
      </p:sp>
      <p:sp>
        <p:nvSpPr>
          <p:cNvPr id="17564" name="Rectangle 17563">
            <a:extLst>
              <a:ext uri="{FF2B5EF4-FFF2-40B4-BE49-F238E27FC236}">
                <a16:creationId xmlns:a16="http://schemas.microsoft.com/office/drawing/2014/main" id="{18DD7DC6-EA40-E224-1AB1-D219663242A1}"/>
              </a:ext>
            </a:extLst>
          </p:cNvPr>
          <p:cNvSpPr/>
          <p:nvPr/>
        </p:nvSpPr>
        <p:spPr>
          <a:xfrm>
            <a:off x="6419088" y="4956048"/>
            <a:ext cx="526694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17566" name="TextBox 17565">
            <a:extLst>
              <a:ext uri="{FF2B5EF4-FFF2-40B4-BE49-F238E27FC236}">
                <a16:creationId xmlns:a16="http://schemas.microsoft.com/office/drawing/2014/main" id="{E2D90394-746D-52AC-47D7-21D8FA9580AD}"/>
              </a:ext>
            </a:extLst>
          </p:cNvPr>
          <p:cNvSpPr txBox="1"/>
          <p:nvPr/>
        </p:nvSpPr>
        <p:spPr>
          <a:xfrm>
            <a:off x="6528816" y="5074920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2161F"/>
                </a:solidFill>
                <a:latin typeface="Segoe UI"/>
              </a:rPr>
              <a:t>Disruption</a:t>
            </a:r>
          </a:p>
        </p:txBody>
      </p:sp>
      <p:sp>
        <p:nvSpPr>
          <p:cNvPr id="17568" name="TextBox 17567">
            <a:extLst>
              <a:ext uri="{FF2B5EF4-FFF2-40B4-BE49-F238E27FC236}">
                <a16:creationId xmlns:a16="http://schemas.microsoft.com/office/drawing/2014/main" id="{498C2D27-4DE7-5E9D-8429-C40B2AB80DC3}"/>
              </a:ext>
            </a:extLst>
          </p:cNvPr>
          <p:cNvSpPr txBox="1"/>
          <p:nvPr/>
        </p:nvSpPr>
        <p:spPr>
          <a:xfrm>
            <a:off x="8284464" y="5074920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Estimate simply breaks</a:t>
            </a:r>
          </a:p>
        </p:txBody>
      </p:sp>
      <p:sp>
        <p:nvSpPr>
          <p:cNvPr id="17570" name="TextBox 17569">
            <a:extLst>
              <a:ext uri="{FF2B5EF4-FFF2-40B4-BE49-F238E27FC236}">
                <a16:creationId xmlns:a16="http://schemas.microsoft.com/office/drawing/2014/main" id="{0999A4AB-1B88-DE83-6270-21414C717BAA}"/>
              </a:ext>
            </a:extLst>
          </p:cNvPr>
          <p:cNvSpPr txBox="1"/>
          <p:nvPr/>
        </p:nvSpPr>
        <p:spPr>
          <a:xfrm>
            <a:off x="10050051" y="5015286"/>
            <a:ext cx="15910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2161F"/>
                </a:solidFill>
                <a:latin typeface="Segoe UI"/>
              </a:rPr>
              <a:t>Re-forecast every 30 s from the current state</a:t>
            </a:r>
          </a:p>
        </p:txBody>
      </p:sp>
      <p:sp>
        <p:nvSpPr>
          <p:cNvPr id="17572" name="Rectangle 17571">
            <a:extLst>
              <a:ext uri="{FF2B5EF4-FFF2-40B4-BE49-F238E27FC236}">
                <a16:creationId xmlns:a16="http://schemas.microsoft.com/office/drawing/2014/main" id="{D9A67C2D-126A-7ADA-14A6-D281B1677CB3}"/>
              </a:ext>
            </a:extLst>
          </p:cNvPr>
          <p:cNvSpPr/>
          <p:nvPr/>
        </p:nvSpPr>
        <p:spPr>
          <a:xfrm>
            <a:off x="6419088" y="5358384"/>
            <a:ext cx="526694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3200"/>
          </a:p>
        </p:txBody>
      </p:sp>
      <p:sp>
        <p:nvSpPr>
          <p:cNvPr id="17574" name="TextBox 17573">
            <a:extLst>
              <a:ext uri="{FF2B5EF4-FFF2-40B4-BE49-F238E27FC236}">
                <a16:creationId xmlns:a16="http://schemas.microsoft.com/office/drawing/2014/main" id="{83B44C60-9B57-3533-55FE-2B10111F0832}"/>
              </a:ext>
            </a:extLst>
          </p:cNvPr>
          <p:cNvSpPr txBox="1"/>
          <p:nvPr/>
        </p:nvSpPr>
        <p:spPr>
          <a:xfrm>
            <a:off x="6528816" y="5477256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2161F"/>
                </a:solidFill>
                <a:latin typeface="Segoe UI"/>
              </a:rPr>
              <a:t>Decision support</a:t>
            </a:r>
          </a:p>
        </p:txBody>
      </p:sp>
      <p:sp>
        <p:nvSpPr>
          <p:cNvPr id="17576" name="TextBox 17575">
            <a:extLst>
              <a:ext uri="{FF2B5EF4-FFF2-40B4-BE49-F238E27FC236}">
                <a16:creationId xmlns:a16="http://schemas.microsoft.com/office/drawing/2014/main" id="{4D2DFF4D-7C35-7C10-F33E-5B18D8E5E869}"/>
              </a:ext>
            </a:extLst>
          </p:cNvPr>
          <p:cNvSpPr txBox="1"/>
          <p:nvPr/>
        </p:nvSpPr>
        <p:spPr>
          <a:xfrm>
            <a:off x="8284464" y="5477256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6472"/>
                </a:solidFill>
                <a:latin typeface="Segoe UI"/>
              </a:rPr>
              <a:t>None</a:t>
            </a:r>
          </a:p>
        </p:txBody>
      </p:sp>
      <p:sp>
        <p:nvSpPr>
          <p:cNvPr id="17578" name="TextBox 17577">
            <a:extLst>
              <a:ext uri="{FF2B5EF4-FFF2-40B4-BE49-F238E27FC236}">
                <a16:creationId xmlns:a16="http://schemas.microsoft.com/office/drawing/2014/main" id="{02A95135-A58D-082B-172F-2E3CBA14A5D4}"/>
              </a:ext>
            </a:extLst>
          </p:cNvPr>
          <p:cNvSpPr txBox="1"/>
          <p:nvPr/>
        </p:nvSpPr>
        <p:spPr>
          <a:xfrm>
            <a:off x="10050051" y="5417622"/>
            <a:ext cx="15910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2161F"/>
                </a:solidFill>
                <a:latin typeface="Segoe UI"/>
              </a:rPr>
              <a:t>Connection risk and costed precedence</a:t>
            </a:r>
          </a:p>
        </p:txBody>
      </p:sp>
      <p:sp>
        <p:nvSpPr>
          <p:cNvPr id="17580" name="TextBox 17579">
            <a:extLst>
              <a:ext uri="{FF2B5EF4-FFF2-40B4-BE49-F238E27FC236}">
                <a16:creationId xmlns:a16="http://schemas.microsoft.com/office/drawing/2014/main" id="{82B7F2F1-A25D-9C31-674B-E21CF010E18D}"/>
              </a:ext>
            </a:extLst>
          </p:cNvPr>
          <p:cNvSpPr txBox="1"/>
          <p:nvPr/>
        </p:nvSpPr>
        <p:spPr>
          <a:xfrm>
            <a:off x="250088" y="6385818"/>
            <a:ext cx="1118585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chemeClr val="bg1"/>
                </a:solidFill>
                <a:latin typeface="Segoe UI"/>
              </a:rPr>
              <a:t>Scored on 73,268 held-out forecasts on the real New Delhi - Mumbai Central working timetable with observed ERA5 weather. How delay arises is still modelled; the calibration loop fits it to live running data.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5415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17113" y="6485690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0316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TypeError-4-ever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2" name="Connector 5">
            <a:extLst>
              <a:ext uri="{FF2B5EF4-FFF2-40B4-BE49-F238E27FC236}">
                <a16:creationId xmlns:a16="http://schemas.microsoft.com/office/drawing/2014/main" id="{8FF9B8D9-9809-AAE4-D4DD-7F5F0300A4C4}"/>
              </a:ext>
            </a:extLst>
          </p:cNvPr>
          <p:cNvCxnSpPr/>
          <p:nvPr/>
        </p:nvCxnSpPr>
        <p:spPr>
          <a:xfrm>
            <a:off x="502920" y="1024128"/>
            <a:ext cx="11185855" cy="0"/>
          </a:xfrm>
          <a:prstGeom prst="line">
            <a:avLst/>
          </a:prstGeom>
          <a:ln w="1143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2D67714-C489-E985-CABC-6803886AE06E}"/>
              </a:ext>
            </a:extLst>
          </p:cNvPr>
          <p:cNvSpPr txBox="1"/>
          <p:nvPr/>
        </p:nvSpPr>
        <p:spPr>
          <a:xfrm>
            <a:off x="502920" y="1188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SCALE OF DEPLOYMENT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F71A8A-1B11-5FD8-9C7A-E7AEE02BBC27}"/>
              </a:ext>
            </a:extLst>
          </p:cNvPr>
          <p:cNvSpPr/>
          <p:nvPr/>
        </p:nvSpPr>
        <p:spPr>
          <a:xfrm>
            <a:off x="502920" y="1481328"/>
            <a:ext cx="5394960" cy="67665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086771-BEDB-ADEC-6820-9E6FEA40DDBD}"/>
              </a:ext>
            </a:extLst>
          </p:cNvPr>
          <p:cNvSpPr/>
          <p:nvPr/>
        </p:nvSpPr>
        <p:spPr>
          <a:xfrm>
            <a:off x="502920" y="1481328"/>
            <a:ext cx="32004" cy="67665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FF66E-EF90-8F64-1009-52ED2FE9CE74}"/>
              </a:ext>
            </a:extLst>
          </p:cNvPr>
          <p:cNvSpPr txBox="1"/>
          <p:nvPr/>
        </p:nvSpPr>
        <p:spPr>
          <a:xfrm>
            <a:off x="667512" y="162763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E340EB-DDF6-AF9D-901A-8C83149158AA}"/>
              </a:ext>
            </a:extLst>
          </p:cNvPr>
          <p:cNvSpPr txBox="1"/>
          <p:nvPr/>
        </p:nvSpPr>
        <p:spPr>
          <a:xfrm>
            <a:off x="1837943" y="1591056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Prototype corridor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164BA9-0091-3738-EAC6-9C0841987EAD}"/>
              </a:ext>
            </a:extLst>
          </p:cNvPr>
          <p:cNvSpPr txBox="1"/>
          <p:nvPr/>
        </p:nvSpPr>
        <p:spPr>
          <a:xfrm>
            <a:off x="1837943" y="181051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New Delhi - Mumbai Central, 1384 km, 202 stations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0F2500-6CD7-940E-7C8A-4A97D02D5FB3}"/>
              </a:ext>
            </a:extLst>
          </p:cNvPr>
          <p:cNvSpPr/>
          <p:nvPr/>
        </p:nvSpPr>
        <p:spPr>
          <a:xfrm>
            <a:off x="502920" y="2267712"/>
            <a:ext cx="5394960" cy="67665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34E939-706D-5A45-8BBD-D801A8F4B02E}"/>
              </a:ext>
            </a:extLst>
          </p:cNvPr>
          <p:cNvSpPr/>
          <p:nvPr/>
        </p:nvSpPr>
        <p:spPr>
          <a:xfrm>
            <a:off x="502920" y="2267712"/>
            <a:ext cx="32004" cy="67665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E02637-8B10-E1E2-1785-77F610991072}"/>
              </a:ext>
            </a:extLst>
          </p:cNvPr>
          <p:cNvSpPr txBox="1"/>
          <p:nvPr/>
        </p:nvSpPr>
        <p:spPr>
          <a:xfrm>
            <a:off x="667512" y="241401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800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CFC543-A1E3-1D48-B86C-A732A66697EB}"/>
              </a:ext>
            </a:extLst>
          </p:cNvPr>
          <p:cNvSpPr txBox="1"/>
          <p:nvPr/>
        </p:nvSpPr>
        <p:spPr>
          <a:xfrm>
            <a:off x="1837943" y="237744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Zonal pilot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E4E270-6188-6BCC-CE03-FC4504A4417C}"/>
              </a:ext>
            </a:extLst>
          </p:cNvPr>
          <p:cNvSpPr txBox="1"/>
          <p:nvPr/>
        </p:nvSpPr>
        <p:spPr>
          <a:xfrm>
            <a:off x="1837943" y="259689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One zone, one control office, one model shard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D37F60-2EF4-D775-2F62-D5D309CFB5A0}"/>
              </a:ext>
            </a:extLst>
          </p:cNvPr>
          <p:cNvSpPr/>
          <p:nvPr/>
        </p:nvSpPr>
        <p:spPr>
          <a:xfrm>
            <a:off x="502920" y="3054096"/>
            <a:ext cx="5394960" cy="67665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936B23-75BE-01E5-CB7B-B13E032AD161}"/>
              </a:ext>
            </a:extLst>
          </p:cNvPr>
          <p:cNvSpPr/>
          <p:nvPr/>
        </p:nvSpPr>
        <p:spPr>
          <a:xfrm>
            <a:off x="502920" y="3054096"/>
            <a:ext cx="32004" cy="6766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2AA2A2-E940-A702-1990-DE635F87A1B8}"/>
              </a:ext>
            </a:extLst>
          </p:cNvPr>
          <p:cNvSpPr txBox="1"/>
          <p:nvPr/>
        </p:nvSpPr>
        <p:spPr>
          <a:xfrm>
            <a:off x="667512" y="32004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Segoe UI"/>
              </a:rPr>
              <a:t>13,000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099B41-4B04-5DFE-5F20-F07EAED77E85}"/>
              </a:ext>
            </a:extLst>
          </p:cNvPr>
          <p:cNvSpPr txBox="1"/>
          <p:nvPr/>
        </p:nvSpPr>
        <p:spPr>
          <a:xfrm>
            <a:off x="1837943" y="3163824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National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9CB1FF-8F3C-D63C-E641-A9D008397B7C}"/>
              </a:ext>
            </a:extLst>
          </p:cNvPr>
          <p:cNvSpPr txBox="1"/>
          <p:nvPr/>
        </p:nvSpPr>
        <p:spPr>
          <a:xfrm>
            <a:off x="1837943" y="3383279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Coaching trains a day, 7,300 stations, 68,000 route km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5D586F-2358-F807-CCFB-83E1630549BA}"/>
              </a:ext>
            </a:extLst>
          </p:cNvPr>
          <p:cNvSpPr txBox="1"/>
          <p:nvPr/>
        </p:nvSpPr>
        <p:spPr>
          <a:xfrm>
            <a:off x="502920" y="39319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Consolas"/>
              </a:rPr>
              <a:t>DATA SOURCES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3C2DBE-2AFB-05CD-EFFB-D5BA3CC8F454}"/>
              </a:ext>
            </a:extLst>
          </p:cNvPr>
          <p:cNvSpPr/>
          <p:nvPr/>
        </p:nvSpPr>
        <p:spPr>
          <a:xfrm>
            <a:off x="502920" y="4206240"/>
            <a:ext cx="539496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BC8A51-8E68-28CD-B60D-A420BB87D99F}"/>
              </a:ext>
            </a:extLst>
          </p:cNvPr>
          <p:cNvSpPr txBox="1"/>
          <p:nvPr/>
        </p:nvSpPr>
        <p:spPr>
          <a:xfrm>
            <a:off x="630936" y="4306824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161F"/>
                </a:solidFill>
                <a:latin typeface="Segoe UI"/>
              </a:rPr>
              <a:t>National Train Enquiry System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52B420-D20E-5C66-FA7A-70F81EDC4B83}"/>
              </a:ext>
            </a:extLst>
          </p:cNvPr>
          <p:cNvSpPr txBox="1"/>
          <p:nvPr/>
        </p:nvSpPr>
        <p:spPr>
          <a:xfrm>
            <a:off x="3246120" y="430682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live running position, via FeedAdapter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5F306F-BA30-86AB-7B2A-F16FCC30054E}"/>
              </a:ext>
            </a:extLst>
          </p:cNvPr>
          <p:cNvSpPr/>
          <p:nvPr/>
        </p:nvSpPr>
        <p:spPr>
          <a:xfrm>
            <a:off x="502920" y="4572000"/>
            <a:ext cx="539496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2B62A3-16FC-850F-185B-13FD2BF34260}"/>
              </a:ext>
            </a:extLst>
          </p:cNvPr>
          <p:cNvSpPr txBox="1"/>
          <p:nvPr/>
        </p:nvSpPr>
        <p:spPr>
          <a:xfrm>
            <a:off x="630936" y="4672584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161F"/>
                </a:solidFill>
                <a:latin typeface="Segoe UI"/>
              </a:rPr>
              <a:t>Open Government Data Platform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FC6349-169A-D034-5F14-A599E81D65BE}"/>
              </a:ext>
            </a:extLst>
          </p:cNvPr>
          <p:cNvSpPr txBox="1"/>
          <p:nvPr/>
        </p:nvSpPr>
        <p:spPr>
          <a:xfrm>
            <a:off x="3246120" y="467258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schedules and station master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62C126-3D08-009D-379C-3AE391F59A99}"/>
              </a:ext>
            </a:extLst>
          </p:cNvPr>
          <p:cNvSpPr/>
          <p:nvPr/>
        </p:nvSpPr>
        <p:spPr>
          <a:xfrm>
            <a:off x="502920" y="4937760"/>
            <a:ext cx="539496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274179-026E-3BEA-29B0-60154D88C4BC}"/>
              </a:ext>
            </a:extLst>
          </p:cNvPr>
          <p:cNvSpPr txBox="1"/>
          <p:nvPr/>
        </p:nvSpPr>
        <p:spPr>
          <a:xfrm>
            <a:off x="630936" y="5038344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161F"/>
                </a:solidFill>
                <a:latin typeface="Segoe UI"/>
              </a:rPr>
              <a:t>OpenStreetMap / Overpass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6BD29F-4227-6DBA-E039-749B71E6EA69}"/>
              </a:ext>
            </a:extLst>
          </p:cNvPr>
          <p:cNvSpPr txBox="1"/>
          <p:nvPr/>
        </p:nvSpPr>
        <p:spPr>
          <a:xfrm>
            <a:off x="3246120" y="503834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block sections, junctions, loops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8802A0-A53A-044B-8CCB-B71033938C2F}"/>
              </a:ext>
            </a:extLst>
          </p:cNvPr>
          <p:cNvSpPr/>
          <p:nvPr/>
        </p:nvSpPr>
        <p:spPr>
          <a:xfrm>
            <a:off x="502920" y="5303520"/>
            <a:ext cx="539496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7C0571-FF09-4A23-A768-0E23F7C3D341}"/>
              </a:ext>
            </a:extLst>
          </p:cNvPr>
          <p:cNvSpPr txBox="1"/>
          <p:nvPr/>
        </p:nvSpPr>
        <p:spPr>
          <a:xfrm>
            <a:off x="630936" y="5404104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161F"/>
                </a:solidFill>
                <a:latin typeface="Segoe UI"/>
              </a:rPr>
              <a:t>Open-Meteo / ERA5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193EB5-9180-CE14-3375-FE64B923E452}"/>
              </a:ext>
            </a:extLst>
          </p:cNvPr>
          <p:cNvSpPr txBox="1"/>
          <p:nvPr/>
        </p:nvSpPr>
        <p:spPr>
          <a:xfrm>
            <a:off x="3246120" y="540410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historical and forecast weather, no key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71F07E4-4CB0-ABF9-FC50-C8168485CF7A}"/>
              </a:ext>
            </a:extLst>
          </p:cNvPr>
          <p:cNvSpPr/>
          <p:nvPr/>
        </p:nvSpPr>
        <p:spPr>
          <a:xfrm>
            <a:off x="502920" y="5669280"/>
            <a:ext cx="539496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1A2C22-82EF-34E2-F66A-CD4570A4F6FA}"/>
              </a:ext>
            </a:extLst>
          </p:cNvPr>
          <p:cNvSpPr txBox="1"/>
          <p:nvPr/>
        </p:nvSpPr>
        <p:spPr>
          <a:xfrm>
            <a:off x="630936" y="5769864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2161F"/>
                </a:solidFill>
                <a:latin typeface="Segoe UI"/>
              </a:rPr>
              <a:t>IR Year Book, WTT, TSR notices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9191F8-BE1B-90AC-967A-E7CE5378DA98}"/>
              </a:ext>
            </a:extLst>
          </p:cNvPr>
          <p:cNvSpPr txBox="1"/>
          <p:nvPr/>
        </p:nvSpPr>
        <p:spPr>
          <a:xfrm>
            <a:off x="3246120" y="576986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punctuality returns and restrictions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12A831-D67E-590C-7004-EFDF61D0F5EB}"/>
              </a:ext>
            </a:extLst>
          </p:cNvPr>
          <p:cNvSpPr txBox="1"/>
          <p:nvPr/>
        </p:nvSpPr>
        <p:spPr>
          <a:xfrm>
            <a:off x="6327648" y="11887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RESEARCH WE BUILD 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8DA9E4-ABD5-99C8-591B-40966A265E1E}"/>
              </a:ext>
            </a:extLst>
          </p:cNvPr>
          <p:cNvSpPr txBox="1"/>
          <p:nvPr/>
        </p:nvSpPr>
        <p:spPr>
          <a:xfrm>
            <a:off x="6327648" y="1481328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1  R. Oneto et al., Train delay prediction systems: a big data analytics perspective, Big Data Research, vol. 11, 2018.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13275E-B8D9-D2A5-04BA-83673F425CD8}"/>
              </a:ext>
            </a:extLst>
          </p:cNvPr>
          <p:cNvSpPr txBox="1"/>
          <p:nvPr/>
        </p:nvSpPr>
        <p:spPr>
          <a:xfrm>
            <a:off x="6327648" y="1847088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2  P. Kecman and R. M. P. Goverde, Predictive modelling of running and dwell times in railway traffic, Public Transport, vol. 7, 2015.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457DE3-1EE8-0A1B-35B2-8FA4D705754F}"/>
              </a:ext>
            </a:extLst>
          </p:cNvPr>
          <p:cNvSpPr txBox="1"/>
          <p:nvPr/>
        </p:nvSpPr>
        <p:spPr>
          <a:xfrm>
            <a:off x="6327648" y="2212848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3  F. Corman and P. Kecman, Stochastic prediction of train delays in real time using Bayesian networks, Transportation Research Part C, 2018.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C16FDE-5E1E-2F6B-CFD1-A4D612E9B9A7}"/>
              </a:ext>
            </a:extLst>
          </p:cNvPr>
          <p:cNvSpPr txBox="1"/>
          <p:nvPr/>
        </p:nvSpPr>
        <p:spPr>
          <a:xfrm>
            <a:off x="6327648" y="2578608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4  T. Buker and B. Seybold, Stochastic modelling of delay propagation in large networks, J. Rail Transport Planning and Management, 2012.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C6570C-F193-FD9D-B3BB-91AC1279D379}"/>
              </a:ext>
            </a:extLst>
          </p:cNvPr>
          <p:cNvSpPr txBox="1"/>
          <p:nvPr/>
        </p:nvSpPr>
        <p:spPr>
          <a:xfrm>
            <a:off x="6327648" y="2944368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5  Y. Romano, E. Patterson and E. Candes, Conformalized quantile regression, NeurIPS 32, 2019.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BCB5FD-4B00-0CFD-2B24-20F2183D463B}"/>
              </a:ext>
            </a:extLst>
          </p:cNvPr>
          <p:cNvSpPr txBox="1"/>
          <p:nvPr/>
        </p:nvSpPr>
        <p:spPr>
          <a:xfrm>
            <a:off x="6327648" y="3310127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6  V. Vovk, A. Gammerman and G. Shafer, Algorithmic Learning in a Random World, Springer, 2005 - Mondrian and conditional validity.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D75427-7E8A-84B9-8E4F-53FD48E5D152}"/>
              </a:ext>
            </a:extLst>
          </p:cNvPr>
          <p:cNvSpPr txBox="1"/>
          <p:nvPr/>
        </p:nvSpPr>
        <p:spPr>
          <a:xfrm>
            <a:off x="6327648" y="3675887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7  G. Ke et al., LightGBM: a highly efficient gradient boosting decision tree, NeurIPS 30, 2017.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CC3602-D393-1949-9AE1-BAB0B54C4E12}"/>
              </a:ext>
            </a:extLst>
          </p:cNvPr>
          <p:cNvSpPr txBox="1"/>
          <p:nvPr/>
        </p:nvSpPr>
        <p:spPr>
          <a:xfrm>
            <a:off x="6327648" y="4041648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8  The Digital Personal Data Protection Act, 2023 (India).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C295C32-0AF3-F51A-4E3D-286EDEC27610}"/>
              </a:ext>
            </a:extLst>
          </p:cNvPr>
          <p:cNvSpPr/>
          <p:nvPr/>
        </p:nvSpPr>
        <p:spPr>
          <a:xfrm>
            <a:off x="6327648" y="4517136"/>
            <a:ext cx="5358384" cy="950976"/>
          </a:xfrm>
          <a:prstGeom prst="rect">
            <a:avLst/>
          </a:prstGeom>
          <a:solidFill>
            <a:srgbClr val="FDF6EC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8EBCDA-3CB1-D837-01C6-D4808B684BD4}"/>
              </a:ext>
            </a:extLst>
          </p:cNvPr>
          <p:cNvSpPr txBox="1"/>
          <p:nvPr/>
        </p:nvSpPr>
        <p:spPr>
          <a:xfrm>
            <a:off x="6473952" y="4626864"/>
            <a:ext cx="50657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Consolas"/>
              </a:rPr>
              <a:t>WHERE WE ADD TO THIS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8A7C92-C4F9-B8A9-6495-ABD1D45A694A}"/>
              </a:ext>
            </a:extLst>
          </p:cNvPr>
          <p:cNvSpPr txBox="1"/>
          <p:nvPr/>
        </p:nvSpPr>
        <p:spPr>
          <a:xfrm>
            <a:off x="6473952" y="4846320"/>
            <a:ext cx="50657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dirty="0">
                <a:solidFill>
                  <a:srgbClr val="12161F"/>
                </a:solidFill>
                <a:latin typeface="Segoe UI"/>
              </a:rPr>
              <a:t>None of the above combines a conflict-resolution simulator over the real block-section graph, a direct multi-horizon learned residual, and conditionally calibrated intervals on Indian Railways operating data.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EF8629-506C-263C-094E-83FD8C63881E}"/>
              </a:ext>
            </a:extLst>
          </p:cNvPr>
          <p:cNvSpPr txBox="1"/>
          <p:nvPr/>
        </p:nvSpPr>
        <p:spPr>
          <a:xfrm>
            <a:off x="6327648" y="5632704"/>
            <a:ext cx="5358384" cy="1508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900" b="1" dirty="0">
                <a:solidFill>
                  <a:srgbClr val="12161F"/>
                </a:solidFill>
                <a:latin typeface="Segoe UI"/>
              </a:rPr>
              <a:t>Project links =&gt; https://github.com/TypeError-4-ever/Railcast</a:t>
            </a:r>
            <a:endParaRPr sz="900" b="0" dirty="0">
              <a:solidFill>
                <a:srgbClr val="5B6472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7728</TotalTime>
  <Words>1237</Words>
  <Application>Microsoft Office PowerPoint</Application>
  <PresentationFormat>Widescreen</PresentationFormat>
  <Paragraphs>231</Paragraphs>
  <Slides>6</Slides>
  <Notes>5</Notes>
  <HiddenSlides>0</HiddenSlides>
  <MMClips>2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Consolas</vt:lpstr>
      <vt:lpstr>Garamond</vt:lpstr>
      <vt:lpstr>Segoe UI</vt:lpstr>
      <vt:lpstr>Times New Roman</vt:lpstr>
      <vt:lpstr>TradeGothic</vt:lpstr>
      <vt:lpstr>Wingdings</vt:lpstr>
      <vt:lpstr>Office Theme</vt:lpstr>
      <vt:lpstr>SMART INDIA HACKATHON 2026</vt:lpstr>
      <vt:lpstr> Dynamic Forecast of Expected Time of Arrival (ETA) for Coaching Trains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Karan Gupta</cp:lastModifiedBy>
  <cp:revision>157</cp:revision>
  <dcterms:created xsi:type="dcterms:W3CDTF">2013-12-12T18:46:50Z</dcterms:created>
  <dcterms:modified xsi:type="dcterms:W3CDTF">2026-09-14T17:11:49Z</dcterms:modified>
  <cp:category/>
</cp:coreProperties>
</file>